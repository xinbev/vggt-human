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344400" cy="8229600"/>
  <p:notesSz cx="8229600" cy="12344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labels, panels, tokens, masks, arrows, and formulas are editable PowerPoint shapes. Embedded raster crops are limited to SMPL/depth/probe thumbnails.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reconstruction of the detailed TRSTR and track-wise temporal refinement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reconstruction of the overall RGB–VGGT–NLF–HSI–TRSTR–temporal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3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Prior-Guided Metric Scale Calibration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05840" y="5486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F59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parameter-free metric prior + human-conditioned residual refinement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64592" y="868680"/>
            <a:ext cx="12015216" cy="2331720"/>
          </a:xfrm>
          <a:prstGeom prst="roundRect">
            <a:avLst>
              <a:gd name="adj" fmla="val 3137"/>
            </a:avLst>
          </a:prstGeom>
          <a:solidFill>
            <a:srgbClr val="E7DAAC">
              <a:alpha val="2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5097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Validity-Aware Metric Prior Tokenizer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93592" y="932688"/>
            <a:ext cx="1700784" cy="274320"/>
          </a:xfrm>
          <a:prstGeom prst="roundRect">
            <a:avLst>
              <a:gd name="adj" fmla="val 20000"/>
            </a:avLst>
          </a:prstGeom>
          <a:solidFill>
            <a:srgbClr val="E9D36E">
              <a:alpha val="82000"/>
            </a:srgbClr>
          </a:solidFill>
          <a:ln w="10160">
            <a:solidFill>
              <a:srgbClr val="B49B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85032" y="950976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 · parameter-free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960120" cy="1234440"/>
          </a:xfrm>
          <a:prstGeom prst="roundRect">
            <a:avLst>
              <a:gd name="adj" fmla="val 5714"/>
            </a:avLst>
          </a:prstGeom>
          <a:solidFill>
            <a:srgbClr val="EAF4F5">
              <a:alpha val="8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3502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SMPL</a:t>
            </a:r>
            <a:endParaRPr lang="en-US" sz="1000" dirty="0"/>
          </a:p>
        </p:txBody>
      </p:sp>
      <p:pic>
        <p:nvPicPr>
          <p:cNvPr id="10" name="Image 0" descr="C:\Users\ROG\PycharmProjects\vggt-omega\outputs\vis\iclr_metric_prior_packaging\pptx_assets\metric_smp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673352"/>
            <a:ext cx="758952" cy="7498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99032" y="17465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664208" y="1280160"/>
            <a:ext cx="960120" cy="1234440"/>
          </a:xfrm>
          <a:prstGeom prst="roundRect">
            <a:avLst>
              <a:gd name="adj" fmla="val 5714"/>
            </a:avLst>
          </a:prstGeom>
          <a:solidFill>
            <a:srgbClr val="EAF4F5">
              <a:alpha val="8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37360" y="133502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depth</a:t>
            </a:r>
            <a:endParaRPr lang="en-US" sz="1000" dirty="0"/>
          </a:p>
        </p:txBody>
      </p:sp>
      <p:pic>
        <p:nvPicPr>
          <p:cNvPr id="14" name="Image 1" descr="C:\Users\ROG\PycharmProjects\vggt-omega\outputs\vis\iclr_metric_prior_packaging\pptx_assets\raw_dep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1673352"/>
            <a:ext cx="758952" cy="7498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660904" y="1901952"/>
            <a:ext cx="246888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2926080" y="1243584"/>
            <a:ext cx="6355080" cy="1417320"/>
          </a:xfrm>
          <a:prstGeom prst="roundRect">
            <a:avLst>
              <a:gd name="adj" fmla="val 3871"/>
            </a:avLst>
          </a:prstGeom>
          <a:solidFill>
            <a:srgbClr val="FFFFFF">
              <a:alpha val="68000"/>
            </a:srgbClr>
          </a:solidFill>
          <a:ln w="10160">
            <a:solidFill>
              <a:srgbClr val="8A96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54096" y="1307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geometry tokens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072384" y="155448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081528" y="1563624"/>
            <a:ext cx="402336" cy="292608"/>
          </a:xfrm>
          <a:prstGeom prst="rect">
            <a:avLst/>
          </a:prstGeom>
          <a:solidFill>
            <a:srgbClr val="E7DAAC">
              <a:alpha val="90000"/>
            </a:srgbClr>
          </a:solidFill>
          <a:ln w="8255">
            <a:solidFill>
              <a:srgbClr val="E7DAA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493008" y="1563624"/>
            <a:ext cx="411480" cy="292608"/>
          </a:xfrm>
          <a:prstGeom prst="rect">
            <a:avLst/>
          </a:prstGeom>
          <a:solidFill>
            <a:srgbClr val="EAF4F5">
              <a:alpha val="92000"/>
            </a:srgbClr>
          </a:solidFill>
          <a:ln w="8255">
            <a:solidFill>
              <a:srgbClr val="EAF4F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108960" y="1600200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zₛₘₚₗ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529584" y="16002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zdepth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4032504" y="155448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041648" y="1563624"/>
            <a:ext cx="402336" cy="292608"/>
          </a:xfrm>
          <a:prstGeom prst="rect">
            <a:avLst/>
          </a:prstGeom>
          <a:solidFill>
            <a:srgbClr val="A9CFD8">
              <a:alpha val="90000"/>
            </a:srgbClr>
          </a:solidFill>
          <a:ln w="8255">
            <a:solidFill>
              <a:srgbClr val="A9CFD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453128" y="1563624"/>
            <a:ext cx="411480" cy="292608"/>
          </a:xfrm>
          <a:prstGeom prst="rect">
            <a:avLst/>
          </a:prstGeom>
          <a:solidFill>
            <a:srgbClr val="CBBAD8">
              <a:alpha val="92000"/>
            </a:srgbClr>
          </a:solidFill>
          <a:ln w="8255">
            <a:solidFill>
              <a:srgbClr val="CBBA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069080" y="1600200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zₛₘₚₗ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489704" y="16002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zdepth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4992624" y="155448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001768" y="1563624"/>
            <a:ext cx="402336" cy="292608"/>
          </a:xfrm>
          <a:prstGeom prst="rect">
            <a:avLst/>
          </a:prstGeom>
          <a:solidFill>
            <a:srgbClr val="E9D36E">
              <a:alpha val="90000"/>
            </a:srgbClr>
          </a:solidFill>
          <a:ln w="8255">
            <a:solidFill>
              <a:srgbClr val="E9D36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413248" y="1563624"/>
            <a:ext cx="411480" cy="292608"/>
          </a:xfrm>
          <a:prstGeom prst="rect">
            <a:avLst/>
          </a:prstGeom>
          <a:solidFill>
            <a:srgbClr val="EAF4F5">
              <a:alpha val="92000"/>
            </a:srgbClr>
          </a:solidFill>
          <a:ln w="8255">
            <a:solidFill>
              <a:srgbClr val="EAF4F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29200" y="1600200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zₛₘₚₗ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449824" y="16002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zdepth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5952744" y="155448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961888" y="1563624"/>
            <a:ext cx="402336" cy="292608"/>
          </a:xfrm>
          <a:prstGeom prst="rect">
            <a:avLst/>
          </a:prstGeom>
          <a:solidFill>
            <a:srgbClr val="99ADD4">
              <a:alpha val="90000"/>
            </a:srgbClr>
          </a:solidFill>
          <a:ln w="8255">
            <a:solidFill>
              <a:srgbClr val="99ADD4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373368" y="1563624"/>
            <a:ext cx="411480" cy="292608"/>
          </a:xfrm>
          <a:prstGeom prst="rect">
            <a:avLst/>
          </a:prstGeom>
          <a:solidFill>
            <a:srgbClr val="CBBAD8">
              <a:alpha val="92000"/>
            </a:srgbClr>
          </a:solidFill>
          <a:ln w="8255">
            <a:solidFill>
              <a:srgbClr val="CBBAD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989320" y="1600200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zₛₘₚₗ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6409944" y="16002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zdepth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6912864" y="155448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922008" y="1563624"/>
            <a:ext cx="402336" cy="292608"/>
          </a:xfrm>
          <a:prstGeom prst="rect">
            <a:avLst/>
          </a:prstGeom>
          <a:solidFill>
            <a:srgbClr val="D9ACA6">
              <a:alpha val="90000"/>
            </a:srgbClr>
          </a:solidFill>
          <a:ln w="8255">
            <a:solidFill>
              <a:srgbClr val="D9ACA6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333488" y="1563624"/>
            <a:ext cx="411480" cy="292608"/>
          </a:xfrm>
          <a:prstGeom prst="rect">
            <a:avLst/>
          </a:prstGeom>
          <a:solidFill>
            <a:srgbClr val="EAF4F5">
              <a:alpha val="92000"/>
            </a:srgbClr>
          </a:solidFill>
          <a:ln w="8255">
            <a:solidFill>
              <a:srgbClr val="EAF4F5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49440" y="1600200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zₛₘₚₗ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7370064" y="16002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zdepth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7872984" y="155448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882128" y="1563624"/>
            <a:ext cx="402336" cy="292608"/>
          </a:xfrm>
          <a:prstGeom prst="rect">
            <a:avLst/>
          </a:prstGeom>
          <a:solidFill>
            <a:srgbClr val="E7DAAC">
              <a:alpha val="90000"/>
            </a:srgbClr>
          </a:solidFill>
          <a:ln w="8255">
            <a:solidFill>
              <a:srgbClr val="E7DAAC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293608" y="1563624"/>
            <a:ext cx="411480" cy="292608"/>
          </a:xfrm>
          <a:prstGeom prst="rect">
            <a:avLst/>
          </a:prstGeom>
          <a:solidFill>
            <a:srgbClr val="CBBAD8">
              <a:alpha val="92000"/>
            </a:srgbClr>
          </a:solidFill>
          <a:ln w="8255">
            <a:solidFill>
              <a:srgbClr val="CBBAD8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909560" y="1600200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zₛₘₚₗ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8330184" y="16002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zdepth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3054096" y="19202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Validity mask</a:t>
            </a:r>
            <a:endParaRPr lang="en-US" sz="1050" dirty="0"/>
          </a:p>
        </p:txBody>
      </p:sp>
      <p:sp>
        <p:nvSpPr>
          <p:cNvPr id="49" name="Shape 45"/>
          <p:cNvSpPr/>
          <p:nvPr/>
        </p:nvSpPr>
        <p:spPr>
          <a:xfrm>
            <a:off x="4160520" y="1920240"/>
            <a:ext cx="621792" cy="274320"/>
          </a:xfrm>
          <a:prstGeom prst="rect">
            <a:avLst/>
          </a:prstGeom>
          <a:solidFill>
            <a:srgbClr val="AFCAB2">
              <a:alpha val="75000"/>
            </a:srgbClr>
          </a:solidFill>
          <a:ln w="8255">
            <a:solidFill>
              <a:srgbClr val="AAB0A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160520" y="193852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4818888" y="1920240"/>
            <a:ext cx="621792" cy="274320"/>
          </a:xfrm>
          <a:prstGeom prst="rect">
            <a:avLst/>
          </a:prstGeom>
          <a:solidFill>
            <a:srgbClr val="E7DAAC">
              <a:alpha val="75000"/>
            </a:srgbClr>
          </a:solidFill>
          <a:ln w="8255">
            <a:solidFill>
              <a:srgbClr val="AAB0AD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4818888" y="193852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5477256" y="1920240"/>
            <a:ext cx="621792" cy="274320"/>
          </a:xfrm>
          <a:prstGeom prst="rect">
            <a:avLst/>
          </a:prstGeom>
          <a:solidFill>
            <a:srgbClr val="E8E8E2">
              <a:alpha val="48000"/>
            </a:srgbClr>
          </a:solidFill>
          <a:ln w="8255">
            <a:solidFill>
              <a:srgbClr val="AAB0AD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5477256" y="193852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EA4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6135624" y="1920240"/>
            <a:ext cx="621792" cy="274320"/>
          </a:xfrm>
          <a:prstGeom prst="rect">
            <a:avLst/>
          </a:prstGeom>
          <a:solidFill>
            <a:srgbClr val="E7DAAC">
              <a:alpha val="75000"/>
            </a:srgbClr>
          </a:solidFill>
          <a:ln w="8255">
            <a:solidFill>
              <a:srgbClr val="AAB0AD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135624" y="193852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6793992" y="1920240"/>
            <a:ext cx="621792" cy="274320"/>
          </a:xfrm>
          <a:prstGeom prst="rect">
            <a:avLst/>
          </a:prstGeom>
          <a:solidFill>
            <a:srgbClr val="AFCAB2">
              <a:alpha val="75000"/>
            </a:srgbClr>
          </a:solidFill>
          <a:ln w="8255">
            <a:solidFill>
              <a:srgbClr val="AAB0AD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6793992" y="193852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7452360" y="1920240"/>
            <a:ext cx="621792" cy="274320"/>
          </a:xfrm>
          <a:prstGeom prst="rect">
            <a:avLst/>
          </a:prstGeom>
          <a:solidFill>
            <a:srgbClr val="E8E8E2">
              <a:alpha val="48000"/>
            </a:srgbClr>
          </a:solidFill>
          <a:ln w="8255">
            <a:solidFill>
              <a:srgbClr val="AAB0AD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7452360" y="193852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EA4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 dirty="0"/>
          </a:p>
        </p:txBody>
      </p:sp>
      <p:sp>
        <p:nvSpPr>
          <p:cNvPr id="61" name="Text 57"/>
          <p:cNvSpPr/>
          <p:nvPr/>
        </p:nvSpPr>
        <p:spPr>
          <a:xfrm>
            <a:off x="3054096" y="2304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hypothesis tokens {sᵢ}</a:t>
            </a:r>
            <a:endParaRPr lang="en-US" sz="1000" dirty="0"/>
          </a:p>
        </p:txBody>
      </p:sp>
      <p:sp>
        <p:nvSpPr>
          <p:cNvPr id="62" name="Shape 58"/>
          <p:cNvSpPr/>
          <p:nvPr/>
        </p:nvSpPr>
        <p:spPr>
          <a:xfrm>
            <a:off x="4251960" y="2276856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157216" y="2276856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6492240" y="2276856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7406640" y="2276856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4471416" y="2194560"/>
            <a:ext cx="0" cy="73152"/>
          </a:xfrm>
          <a:prstGeom prst="line">
            <a:avLst/>
          </a:prstGeom>
          <a:noFill/>
          <a:ln w="10160">
            <a:solidFill>
              <a:srgbClr val="6E7C80"/>
            </a:solidFill>
            <a:prstDash val="solid"/>
            <a:tailEnd type="triangle"/>
          </a:ln>
        </p:spPr>
      </p:sp>
      <p:sp>
        <p:nvSpPr>
          <p:cNvPr id="67" name="Shape 63"/>
          <p:cNvSpPr/>
          <p:nvPr/>
        </p:nvSpPr>
        <p:spPr>
          <a:xfrm>
            <a:off x="5376672" y="2194560"/>
            <a:ext cx="0" cy="73152"/>
          </a:xfrm>
          <a:prstGeom prst="line">
            <a:avLst/>
          </a:prstGeom>
          <a:noFill/>
          <a:ln w="10160">
            <a:solidFill>
              <a:srgbClr val="6E7C80"/>
            </a:solidFill>
            <a:prstDash val="solid"/>
            <a:tailEnd type="triangle"/>
          </a:ln>
        </p:spPr>
      </p:sp>
      <p:sp>
        <p:nvSpPr>
          <p:cNvPr id="68" name="Shape 64"/>
          <p:cNvSpPr/>
          <p:nvPr/>
        </p:nvSpPr>
        <p:spPr>
          <a:xfrm>
            <a:off x="6711696" y="2194560"/>
            <a:ext cx="0" cy="73152"/>
          </a:xfrm>
          <a:prstGeom prst="line">
            <a:avLst/>
          </a:prstGeom>
          <a:noFill/>
          <a:ln w="10160">
            <a:solidFill>
              <a:srgbClr val="6E7C80"/>
            </a:solidFill>
            <a:prstDash val="solid"/>
            <a:tailEnd type="triangle"/>
          </a:ln>
        </p:spPr>
      </p:sp>
      <p:sp>
        <p:nvSpPr>
          <p:cNvPr id="69" name="Shape 65"/>
          <p:cNvSpPr/>
          <p:nvPr/>
        </p:nvSpPr>
        <p:spPr>
          <a:xfrm>
            <a:off x="7626096" y="2194560"/>
            <a:ext cx="0" cy="73152"/>
          </a:xfrm>
          <a:prstGeom prst="line">
            <a:avLst/>
          </a:prstGeom>
          <a:noFill/>
          <a:ln w="10160">
            <a:solidFill>
              <a:srgbClr val="6E7C80"/>
            </a:solidFill>
            <a:prstDash val="solid"/>
            <a:tailEnd type="triangle"/>
          </a:ln>
        </p:spPr>
      </p:sp>
      <p:sp>
        <p:nvSpPr>
          <p:cNvPr id="70" name="Shape 66"/>
          <p:cNvSpPr/>
          <p:nvPr/>
        </p:nvSpPr>
        <p:spPr>
          <a:xfrm>
            <a:off x="8156448" y="2423160"/>
            <a:ext cx="329184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71" name="Shape 67"/>
          <p:cNvSpPr/>
          <p:nvPr/>
        </p:nvSpPr>
        <p:spPr>
          <a:xfrm>
            <a:off x="8503920" y="2176272"/>
            <a:ext cx="1417320" cy="512064"/>
          </a:xfrm>
          <a:prstGeom prst="roundRect">
            <a:avLst>
              <a:gd name="adj" fmla="val 12500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8613648" y="2231136"/>
            <a:ext cx="1197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median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</a:t>
            </a:r>
            <a:endParaRPr lang="en-US" sz="1100" dirty="0"/>
          </a:p>
        </p:txBody>
      </p:sp>
      <p:sp>
        <p:nvSpPr>
          <p:cNvPr id="73" name="Shape 69"/>
          <p:cNvSpPr/>
          <p:nvPr/>
        </p:nvSpPr>
        <p:spPr>
          <a:xfrm>
            <a:off x="9966960" y="2423160"/>
            <a:ext cx="27432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74" name="Shape 70"/>
          <p:cNvSpPr/>
          <p:nvPr/>
        </p:nvSpPr>
        <p:spPr>
          <a:xfrm>
            <a:off x="10277856" y="2039112"/>
            <a:ext cx="987552" cy="987552"/>
          </a:xfrm>
          <a:prstGeom prst="ellipse">
            <a:avLst/>
          </a:prstGeom>
          <a:solidFill>
            <a:srgbClr val="E9D36E">
              <a:alpha val="95000"/>
            </a:srgbClr>
          </a:solidFill>
          <a:ln w="11430">
            <a:solidFill>
              <a:srgbClr val="A68C3C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10387584" y="2221992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prior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coarse</a:t>
            </a:r>
            <a:endParaRPr lang="en-US" sz="1150" dirty="0"/>
          </a:p>
        </p:txBody>
      </p:sp>
      <p:sp>
        <p:nvSpPr>
          <p:cNvPr id="76" name="Shape 72"/>
          <p:cNvSpPr/>
          <p:nvPr/>
        </p:nvSpPr>
        <p:spPr>
          <a:xfrm>
            <a:off x="164592" y="3401568"/>
            <a:ext cx="12015216" cy="3685032"/>
          </a:xfrm>
          <a:prstGeom prst="roundRect">
            <a:avLst>
              <a:gd name="adj" fmla="val 1985"/>
            </a:avLst>
          </a:prstGeom>
          <a:solidFill>
            <a:srgbClr val="EEF5EE">
              <a:alpha val="68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310896" y="3502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Human-Conditioned Residual Calibration</a:t>
            </a:r>
            <a:endParaRPr lang="en-US" sz="1500" dirty="0"/>
          </a:p>
        </p:txBody>
      </p:sp>
      <p:sp>
        <p:nvSpPr>
          <p:cNvPr id="78" name="Shape 74"/>
          <p:cNvSpPr/>
          <p:nvPr/>
        </p:nvSpPr>
        <p:spPr>
          <a:xfrm>
            <a:off x="347472" y="4480560"/>
            <a:ext cx="960120" cy="1508760"/>
          </a:xfrm>
          <a:prstGeom prst="roundRect">
            <a:avLst>
              <a:gd name="adj" fmla="val 5714"/>
            </a:avLst>
          </a:prstGeom>
          <a:solidFill>
            <a:srgbClr val="EAF4F5">
              <a:alpha val="8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420624" y="453542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VGGT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Dᵥggt</a:t>
            </a:r>
            <a:endParaRPr lang="en-US" sz="1000" dirty="0"/>
          </a:p>
        </p:txBody>
      </p:sp>
      <p:pic>
        <p:nvPicPr>
          <p:cNvPr id="80" name="Image 2" descr="C:\Users\ROG\PycharmProjects\vggt-omega\outputs\vis\iclr_metric_prior_packaging\pptx_assets\raw_depth_low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4873752"/>
            <a:ext cx="758952" cy="1024128"/>
          </a:xfrm>
          <a:prstGeom prst="rect">
            <a:avLst/>
          </a:prstGeom>
        </p:spPr>
      </p:pic>
      <p:sp>
        <p:nvSpPr>
          <p:cNvPr id="81" name="Shape 76"/>
          <p:cNvSpPr/>
          <p:nvPr/>
        </p:nvSpPr>
        <p:spPr>
          <a:xfrm>
            <a:off x="1316736" y="5239512"/>
            <a:ext cx="237744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82" name="Shape 77"/>
          <p:cNvSpPr/>
          <p:nvPr/>
        </p:nvSpPr>
        <p:spPr>
          <a:xfrm>
            <a:off x="1572768" y="4782312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A9CFD8">
              <a:alpha val="8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3" name="Text 78"/>
          <p:cNvSpPr/>
          <p:nvPr/>
        </p:nvSpPr>
        <p:spPr>
          <a:xfrm>
            <a:off x="1682496" y="4946904"/>
            <a:ext cx="832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prior</a:t>
            </a:r>
            <a:endParaRPr lang="en-US" sz="1200" dirty="0"/>
          </a:p>
        </p:txBody>
      </p:sp>
      <p:sp>
        <p:nvSpPr>
          <p:cNvPr id="84" name="Shape 79"/>
          <p:cNvSpPr/>
          <p:nvPr/>
        </p:nvSpPr>
        <p:spPr>
          <a:xfrm>
            <a:off x="2633472" y="5239512"/>
            <a:ext cx="22860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85" name="Shape 80"/>
          <p:cNvSpPr/>
          <p:nvPr/>
        </p:nvSpPr>
        <p:spPr>
          <a:xfrm>
            <a:off x="2880360" y="4480560"/>
            <a:ext cx="1005840" cy="1508760"/>
          </a:xfrm>
          <a:prstGeom prst="roundRect">
            <a:avLst>
              <a:gd name="adj" fmla="val 5455"/>
            </a:avLst>
          </a:prstGeom>
          <a:solidFill>
            <a:srgbClr val="EAF4F5">
              <a:alpha val="8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6" name="Text 81"/>
          <p:cNvSpPr/>
          <p:nvPr/>
        </p:nvSpPr>
        <p:spPr>
          <a:xfrm>
            <a:off x="2953512" y="4535424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Coarse depth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Dcoarse</a:t>
            </a:r>
            <a:endParaRPr lang="en-US" sz="1000" dirty="0"/>
          </a:p>
        </p:txBody>
      </p:sp>
      <p:pic>
        <p:nvPicPr>
          <p:cNvPr id="87" name="Image 3" descr="C:\Users\ROG\PycharmProjects\vggt-omega\outputs\vis\iclr_metric_prior_packaging\pptx_assets\coarse_dep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944" y="4873752"/>
            <a:ext cx="804672" cy="1024128"/>
          </a:xfrm>
          <a:prstGeom prst="rect">
            <a:avLst/>
          </a:prstGeom>
        </p:spPr>
      </p:pic>
      <p:sp>
        <p:nvSpPr>
          <p:cNvPr id="88" name="Shape 82"/>
          <p:cNvSpPr/>
          <p:nvPr/>
        </p:nvSpPr>
        <p:spPr>
          <a:xfrm>
            <a:off x="3904488" y="5239512"/>
            <a:ext cx="21031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89" name="Shape 83"/>
          <p:cNvSpPr/>
          <p:nvPr/>
        </p:nvSpPr>
        <p:spPr>
          <a:xfrm>
            <a:off x="4133088" y="4069080"/>
            <a:ext cx="4389120" cy="2423160"/>
          </a:xfrm>
          <a:prstGeom prst="roundRect">
            <a:avLst>
              <a:gd name="adj" fmla="val 3019"/>
            </a:avLst>
          </a:prstGeom>
          <a:solidFill>
            <a:srgbClr val="EEF5EE">
              <a:alpha val="85000"/>
            </a:srgbClr>
          </a:solidFill>
          <a:ln w="10160">
            <a:solidFill>
              <a:srgbClr val="7C9586"/>
            </a:solidFill>
            <a:prstDash val="solid"/>
          </a:ln>
        </p:spPr>
      </p:sp>
      <p:sp>
        <p:nvSpPr>
          <p:cNvPr id="90" name="Text 84"/>
          <p:cNvSpPr/>
          <p:nvPr/>
        </p:nvSpPr>
        <p:spPr>
          <a:xfrm>
            <a:off x="4279392" y="41605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Anchor–Scene Interaction</a:t>
            </a:r>
            <a:endParaRPr lang="en-US" sz="1350" dirty="0"/>
          </a:p>
        </p:txBody>
      </p:sp>
      <p:sp>
        <p:nvSpPr>
          <p:cNvPr id="91" name="Text 85"/>
          <p:cNvSpPr/>
          <p:nvPr/>
        </p:nvSpPr>
        <p:spPr>
          <a:xfrm>
            <a:off x="4297680" y="44897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body-anchor tokens</a:t>
            </a:r>
            <a:endParaRPr lang="en-US" sz="950" dirty="0"/>
          </a:p>
        </p:txBody>
      </p:sp>
      <p:sp>
        <p:nvSpPr>
          <p:cNvPr id="92" name="Shape 86"/>
          <p:cNvSpPr/>
          <p:nvPr/>
        </p:nvSpPr>
        <p:spPr>
          <a:xfrm>
            <a:off x="4370832" y="47365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3" name="Shape 87"/>
          <p:cNvSpPr/>
          <p:nvPr/>
        </p:nvSpPr>
        <p:spPr>
          <a:xfrm>
            <a:off x="4626864" y="47365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4" name="Shape 88"/>
          <p:cNvSpPr/>
          <p:nvPr/>
        </p:nvSpPr>
        <p:spPr>
          <a:xfrm>
            <a:off x="4882896" y="47365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5" name="Shape 89"/>
          <p:cNvSpPr/>
          <p:nvPr/>
        </p:nvSpPr>
        <p:spPr>
          <a:xfrm>
            <a:off x="5138928" y="47365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6" name="Shape 90"/>
          <p:cNvSpPr/>
          <p:nvPr/>
        </p:nvSpPr>
        <p:spPr>
          <a:xfrm>
            <a:off x="5394960" y="47365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7" name="Shape 91"/>
          <p:cNvSpPr/>
          <p:nvPr/>
        </p:nvSpPr>
        <p:spPr>
          <a:xfrm>
            <a:off x="5650992" y="47365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8" name="Shape 92"/>
          <p:cNvSpPr/>
          <p:nvPr/>
        </p:nvSpPr>
        <p:spPr>
          <a:xfrm>
            <a:off x="4370832" y="49651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9" name="Shape 93"/>
          <p:cNvSpPr/>
          <p:nvPr/>
        </p:nvSpPr>
        <p:spPr>
          <a:xfrm>
            <a:off x="4626864" y="49651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0" name="Shape 94"/>
          <p:cNvSpPr/>
          <p:nvPr/>
        </p:nvSpPr>
        <p:spPr>
          <a:xfrm>
            <a:off x="4882896" y="49651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1" name="Shape 95"/>
          <p:cNvSpPr/>
          <p:nvPr/>
        </p:nvSpPr>
        <p:spPr>
          <a:xfrm>
            <a:off x="5138928" y="49651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2" name="Shape 96"/>
          <p:cNvSpPr/>
          <p:nvPr/>
        </p:nvSpPr>
        <p:spPr>
          <a:xfrm>
            <a:off x="5394960" y="49651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3" name="Shape 97"/>
          <p:cNvSpPr/>
          <p:nvPr/>
        </p:nvSpPr>
        <p:spPr>
          <a:xfrm>
            <a:off x="5650992" y="49651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4" name="Shape 98"/>
          <p:cNvSpPr/>
          <p:nvPr/>
        </p:nvSpPr>
        <p:spPr>
          <a:xfrm>
            <a:off x="4370832" y="51937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5" name="Shape 99"/>
          <p:cNvSpPr/>
          <p:nvPr/>
        </p:nvSpPr>
        <p:spPr>
          <a:xfrm>
            <a:off x="4626864" y="51937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6" name="Shape 100"/>
          <p:cNvSpPr/>
          <p:nvPr/>
        </p:nvSpPr>
        <p:spPr>
          <a:xfrm>
            <a:off x="4882896" y="51937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7" name="Shape 101"/>
          <p:cNvSpPr/>
          <p:nvPr/>
        </p:nvSpPr>
        <p:spPr>
          <a:xfrm>
            <a:off x="5138928" y="51937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8" name="Shape 102"/>
          <p:cNvSpPr/>
          <p:nvPr/>
        </p:nvSpPr>
        <p:spPr>
          <a:xfrm>
            <a:off x="5394960" y="51937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9" name="Shape 103"/>
          <p:cNvSpPr/>
          <p:nvPr/>
        </p:nvSpPr>
        <p:spPr>
          <a:xfrm>
            <a:off x="5650992" y="51937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0" name="Shape 104"/>
          <p:cNvSpPr/>
          <p:nvPr/>
        </p:nvSpPr>
        <p:spPr>
          <a:xfrm>
            <a:off x="4370832" y="54223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1" name="Shape 105"/>
          <p:cNvSpPr/>
          <p:nvPr/>
        </p:nvSpPr>
        <p:spPr>
          <a:xfrm>
            <a:off x="4626864" y="54223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2" name="Shape 106"/>
          <p:cNvSpPr/>
          <p:nvPr/>
        </p:nvSpPr>
        <p:spPr>
          <a:xfrm>
            <a:off x="4882896" y="54223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3" name="Shape 107"/>
          <p:cNvSpPr/>
          <p:nvPr/>
        </p:nvSpPr>
        <p:spPr>
          <a:xfrm>
            <a:off x="5138928" y="54223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4" name="Shape 108"/>
          <p:cNvSpPr/>
          <p:nvPr/>
        </p:nvSpPr>
        <p:spPr>
          <a:xfrm>
            <a:off x="5394960" y="54223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5" name="Shape 109"/>
          <p:cNvSpPr/>
          <p:nvPr/>
        </p:nvSpPr>
        <p:spPr>
          <a:xfrm>
            <a:off x="5650992" y="54223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6" name="Text 110"/>
          <p:cNvSpPr/>
          <p:nvPr/>
        </p:nvSpPr>
        <p:spPr>
          <a:xfrm>
            <a:off x="5687568" y="44897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scene probes</a:t>
            </a:r>
            <a:endParaRPr lang="en-US" sz="950" dirty="0"/>
          </a:p>
        </p:txBody>
      </p:sp>
      <p:pic>
        <p:nvPicPr>
          <p:cNvPr id="117" name="Image 4" descr="C:\Users\ROG\PycharmProjects\vggt-omega\outputs\vis\iclr_metric_prior_packaging\pptx_assets\probe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4745736"/>
            <a:ext cx="402336" cy="402336"/>
          </a:xfrm>
          <a:prstGeom prst="rect">
            <a:avLst/>
          </a:prstGeom>
        </p:spPr>
      </p:pic>
      <p:pic>
        <p:nvPicPr>
          <p:cNvPr id="118" name="Image 5" descr="C:\Users\ROG\PycharmProjects\vggt-omega\outputs\vis\iclr_metric_prior_packaging\pptx_assets\probe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4745736"/>
            <a:ext cx="402336" cy="402336"/>
          </a:xfrm>
          <a:prstGeom prst="rect">
            <a:avLst/>
          </a:prstGeom>
        </p:spPr>
      </p:pic>
      <p:pic>
        <p:nvPicPr>
          <p:cNvPr id="119" name="Image 6" descr="C:\Users\ROG\PycharmProjects\vggt-omega\outputs\vis\iclr_metric_prior_packaging\pptx_assets\probe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976" y="4745736"/>
            <a:ext cx="402336" cy="402336"/>
          </a:xfrm>
          <a:prstGeom prst="rect">
            <a:avLst/>
          </a:prstGeom>
        </p:spPr>
      </p:pic>
      <p:sp>
        <p:nvSpPr>
          <p:cNvPr id="120" name="Text 111"/>
          <p:cNvSpPr/>
          <p:nvPr/>
        </p:nvSpPr>
        <p:spPr>
          <a:xfrm>
            <a:off x="4297680" y="5733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state {θ, β, τ}</a:t>
            </a:r>
            <a:endParaRPr lang="en-US" sz="950" dirty="0"/>
          </a:p>
        </p:txBody>
      </p:sp>
      <p:sp>
        <p:nvSpPr>
          <p:cNvPr id="121" name="Shape 112"/>
          <p:cNvSpPr/>
          <p:nvPr/>
        </p:nvSpPr>
        <p:spPr>
          <a:xfrm>
            <a:off x="4389120" y="5980176"/>
            <a:ext cx="292608" cy="228600"/>
          </a:xfrm>
          <a:prstGeom prst="roundRect">
            <a:avLst>
              <a:gd name="adj" fmla="val 20000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2" name="Shape 113"/>
          <p:cNvSpPr/>
          <p:nvPr/>
        </p:nvSpPr>
        <p:spPr>
          <a:xfrm>
            <a:off x="4736592" y="5980176"/>
            <a:ext cx="292608" cy="228600"/>
          </a:xfrm>
          <a:prstGeom prst="roundRect">
            <a:avLst>
              <a:gd name="adj" fmla="val 20000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3" name="Shape 114"/>
          <p:cNvSpPr/>
          <p:nvPr/>
        </p:nvSpPr>
        <p:spPr>
          <a:xfrm>
            <a:off x="5084064" y="5980176"/>
            <a:ext cx="292608" cy="228600"/>
          </a:xfrm>
          <a:prstGeom prst="roundRect">
            <a:avLst>
              <a:gd name="adj" fmla="val 20000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4" name="Shape 115"/>
          <p:cNvSpPr/>
          <p:nvPr/>
        </p:nvSpPr>
        <p:spPr>
          <a:xfrm>
            <a:off x="5431536" y="5980176"/>
            <a:ext cx="292608" cy="228600"/>
          </a:xfrm>
          <a:prstGeom prst="roundRect">
            <a:avLst>
              <a:gd name="adj" fmla="val 20000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5" name="Shape 116"/>
          <p:cNvSpPr/>
          <p:nvPr/>
        </p:nvSpPr>
        <p:spPr>
          <a:xfrm>
            <a:off x="6355080" y="4590288"/>
            <a:ext cx="13716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</a:ln>
        </p:spPr>
      </p:sp>
      <p:sp>
        <p:nvSpPr>
          <p:cNvPr id="126" name="Shape 117"/>
          <p:cNvSpPr/>
          <p:nvPr/>
        </p:nvSpPr>
        <p:spPr>
          <a:xfrm>
            <a:off x="6492240" y="4590288"/>
            <a:ext cx="0" cy="155448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</a:ln>
        </p:spPr>
      </p:sp>
      <p:sp>
        <p:nvSpPr>
          <p:cNvPr id="127" name="Shape 118"/>
          <p:cNvSpPr/>
          <p:nvPr/>
        </p:nvSpPr>
        <p:spPr>
          <a:xfrm>
            <a:off x="6355080" y="6144768"/>
            <a:ext cx="13716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</a:ln>
        </p:spPr>
      </p:sp>
      <p:sp>
        <p:nvSpPr>
          <p:cNvPr id="128" name="Shape 119"/>
          <p:cNvSpPr/>
          <p:nvPr/>
        </p:nvSpPr>
        <p:spPr>
          <a:xfrm>
            <a:off x="6492240" y="5358384"/>
            <a:ext cx="22860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29" name="Shape 120"/>
          <p:cNvSpPr/>
          <p:nvPr/>
        </p:nvSpPr>
        <p:spPr>
          <a:xfrm>
            <a:off x="6748272" y="4828032"/>
            <a:ext cx="868680" cy="1005840"/>
          </a:xfrm>
          <a:prstGeom prst="roundRect">
            <a:avLst>
              <a:gd name="adj" fmla="val 8421"/>
            </a:avLst>
          </a:prstGeom>
          <a:solidFill>
            <a:srgbClr val="9BB8D8">
              <a:alpha val="82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0" name="Text 121"/>
          <p:cNvSpPr/>
          <p:nvPr/>
        </p:nvSpPr>
        <p:spPr>
          <a:xfrm>
            <a:off x="6821424" y="4919472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1050" dirty="0"/>
          </a:p>
        </p:txBody>
      </p:sp>
      <p:sp>
        <p:nvSpPr>
          <p:cNvPr id="131" name="Shape 122"/>
          <p:cNvSpPr/>
          <p:nvPr/>
        </p:nvSpPr>
        <p:spPr>
          <a:xfrm>
            <a:off x="6922008" y="523036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2" name="Shape 123"/>
          <p:cNvSpPr/>
          <p:nvPr/>
        </p:nvSpPr>
        <p:spPr>
          <a:xfrm>
            <a:off x="7123176" y="523036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3" name="Shape 124"/>
          <p:cNvSpPr/>
          <p:nvPr/>
        </p:nvSpPr>
        <p:spPr>
          <a:xfrm>
            <a:off x="7324344" y="523036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4" name="Shape 125"/>
          <p:cNvSpPr/>
          <p:nvPr/>
        </p:nvSpPr>
        <p:spPr>
          <a:xfrm>
            <a:off x="6922008" y="543153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5" name="Shape 126"/>
          <p:cNvSpPr/>
          <p:nvPr/>
        </p:nvSpPr>
        <p:spPr>
          <a:xfrm>
            <a:off x="7123176" y="543153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6" name="Shape 127"/>
          <p:cNvSpPr/>
          <p:nvPr/>
        </p:nvSpPr>
        <p:spPr>
          <a:xfrm>
            <a:off x="7324344" y="543153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7" name="Shape 128"/>
          <p:cNvSpPr/>
          <p:nvPr/>
        </p:nvSpPr>
        <p:spPr>
          <a:xfrm>
            <a:off x="6922008" y="563270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8" name="Shape 129"/>
          <p:cNvSpPr/>
          <p:nvPr/>
        </p:nvSpPr>
        <p:spPr>
          <a:xfrm>
            <a:off x="7123176" y="563270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9" name="Shape 130"/>
          <p:cNvSpPr/>
          <p:nvPr/>
        </p:nvSpPr>
        <p:spPr>
          <a:xfrm>
            <a:off x="7324344" y="563270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0" name="Shape 131"/>
          <p:cNvSpPr/>
          <p:nvPr/>
        </p:nvSpPr>
        <p:spPr>
          <a:xfrm>
            <a:off x="7616952" y="5330952"/>
            <a:ext cx="173736" cy="0"/>
          </a:xfrm>
          <a:prstGeom prst="line">
            <a:avLst/>
          </a:prstGeom>
          <a:noFill/>
          <a:ln w="12700">
            <a:solidFill>
              <a:srgbClr val="2F3438"/>
            </a:solidFill>
            <a:prstDash val="solid"/>
          </a:ln>
        </p:spPr>
      </p:sp>
      <p:sp>
        <p:nvSpPr>
          <p:cNvPr id="141" name="Shape 132"/>
          <p:cNvSpPr/>
          <p:nvPr/>
        </p:nvSpPr>
        <p:spPr>
          <a:xfrm>
            <a:off x="7790688" y="4818888"/>
            <a:ext cx="0" cy="1060704"/>
          </a:xfrm>
          <a:prstGeom prst="line">
            <a:avLst/>
          </a:prstGeom>
          <a:noFill/>
          <a:ln w="12700">
            <a:solidFill>
              <a:srgbClr val="2F3438"/>
            </a:solidFill>
            <a:prstDash val="solid"/>
          </a:ln>
        </p:spPr>
      </p:sp>
      <p:sp>
        <p:nvSpPr>
          <p:cNvPr id="142" name="Shape 133"/>
          <p:cNvSpPr/>
          <p:nvPr/>
        </p:nvSpPr>
        <p:spPr>
          <a:xfrm>
            <a:off x="7790688" y="4882896"/>
            <a:ext cx="11887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43" name="Shape 134"/>
          <p:cNvSpPr/>
          <p:nvPr/>
        </p:nvSpPr>
        <p:spPr>
          <a:xfrm>
            <a:off x="7790688" y="5788152"/>
            <a:ext cx="11887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44" name="Shape 135"/>
          <p:cNvSpPr/>
          <p:nvPr/>
        </p:nvSpPr>
        <p:spPr>
          <a:xfrm>
            <a:off x="7918704" y="4553712"/>
            <a:ext cx="475488" cy="694944"/>
          </a:xfrm>
          <a:prstGeom prst="roundRect">
            <a:avLst>
              <a:gd name="adj" fmla="val 13462"/>
            </a:avLst>
          </a:prstGeom>
          <a:solidFill>
            <a:srgbClr val="AFCAB2">
              <a:alpha val="85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5" name="Text 136"/>
          <p:cNvSpPr/>
          <p:nvPr/>
        </p:nvSpPr>
        <p:spPr>
          <a:xfrm>
            <a:off x="7955280" y="461772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Rₕₛᵢ</a:t>
            </a:r>
            <a:endParaRPr lang="en-US" sz="900" dirty="0"/>
          </a:p>
        </p:txBody>
      </p:sp>
      <p:sp>
        <p:nvSpPr>
          <p:cNvPr id="146" name="Shape 137"/>
          <p:cNvSpPr/>
          <p:nvPr/>
        </p:nvSpPr>
        <p:spPr>
          <a:xfrm>
            <a:off x="7918704" y="5449824"/>
            <a:ext cx="475488" cy="694944"/>
          </a:xfrm>
          <a:prstGeom prst="roundRect">
            <a:avLst>
              <a:gd name="adj" fmla="val 13462"/>
            </a:avLst>
          </a:prstGeom>
          <a:solidFill>
            <a:srgbClr val="AFCAB2">
              <a:alpha val="85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7" name="Text 138"/>
          <p:cNvSpPr/>
          <p:nvPr/>
        </p:nvSpPr>
        <p:spPr>
          <a:xfrm>
            <a:off x="7955280" y="5513832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bₕₛᵢ</a:t>
            </a:r>
            <a:endParaRPr lang="en-US" sz="900" dirty="0"/>
          </a:p>
        </p:txBody>
      </p:sp>
      <p:sp>
        <p:nvSpPr>
          <p:cNvPr id="148" name="Shape 139"/>
          <p:cNvSpPr/>
          <p:nvPr/>
        </p:nvSpPr>
        <p:spPr>
          <a:xfrm>
            <a:off x="8531352" y="5239512"/>
            <a:ext cx="32004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49" name="Shape 140"/>
          <p:cNvSpPr/>
          <p:nvPr/>
        </p:nvSpPr>
        <p:spPr>
          <a:xfrm>
            <a:off x="8869680" y="4745736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CBBAD8">
              <a:alpha val="82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50" name="Text 141"/>
          <p:cNvSpPr/>
          <p:nvPr/>
        </p:nvSpPr>
        <p:spPr>
          <a:xfrm>
            <a:off x="9006840" y="48554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Composition</a:t>
            </a:r>
            <a:endParaRPr lang="en-US" sz="1200" dirty="0"/>
          </a:p>
        </p:txBody>
      </p:sp>
      <p:sp>
        <p:nvSpPr>
          <p:cNvPr id="151" name="Text 142"/>
          <p:cNvSpPr/>
          <p:nvPr/>
        </p:nvSpPr>
        <p:spPr>
          <a:xfrm>
            <a:off x="9070848" y="5184648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Dmetric = Rhsi · Dcoarse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bhsi</a:t>
            </a:r>
            <a:endParaRPr lang="en-US" sz="1100" dirty="0"/>
          </a:p>
        </p:txBody>
      </p:sp>
      <p:sp>
        <p:nvSpPr>
          <p:cNvPr id="152" name="Shape 143"/>
          <p:cNvSpPr/>
          <p:nvPr/>
        </p:nvSpPr>
        <p:spPr>
          <a:xfrm>
            <a:off x="10808208" y="5239512"/>
            <a:ext cx="21031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53" name="Shape 144"/>
          <p:cNvSpPr/>
          <p:nvPr/>
        </p:nvSpPr>
        <p:spPr>
          <a:xfrm>
            <a:off x="11036808" y="4480560"/>
            <a:ext cx="941832" cy="1508760"/>
          </a:xfrm>
          <a:prstGeom prst="roundRect">
            <a:avLst>
              <a:gd name="adj" fmla="val 5825"/>
            </a:avLst>
          </a:prstGeom>
          <a:solidFill>
            <a:srgbClr val="EAF4F5">
              <a:alpha val="8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54" name="Text 145"/>
          <p:cNvSpPr/>
          <p:nvPr/>
        </p:nvSpPr>
        <p:spPr>
          <a:xfrm>
            <a:off x="11109960" y="4535424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depth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Dmetric</a:t>
            </a:r>
            <a:endParaRPr lang="en-US" sz="1000" dirty="0"/>
          </a:p>
        </p:txBody>
      </p:sp>
      <p:pic>
        <p:nvPicPr>
          <p:cNvPr id="155" name="Image 7" descr="C:\Users\ROG\PycharmProjects\vggt-omega\outputs\vis\iclr_metric_prior_packaging\pptx_assets\metric_dept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7392" y="4873752"/>
            <a:ext cx="740664" cy="1024128"/>
          </a:xfrm>
          <a:prstGeom prst="rect">
            <a:avLst/>
          </a:prstGeom>
        </p:spPr>
      </p:pic>
      <p:sp>
        <p:nvSpPr>
          <p:cNvPr id="156" name="Shape 146"/>
          <p:cNvSpPr/>
          <p:nvPr/>
        </p:nvSpPr>
        <p:spPr>
          <a:xfrm>
            <a:off x="10771632" y="3017520"/>
            <a:ext cx="0" cy="841248"/>
          </a:xfrm>
          <a:prstGeom prst="line">
            <a:avLst/>
          </a:prstGeom>
          <a:noFill/>
          <a:ln w="12700">
            <a:solidFill>
              <a:srgbClr val="2F3438"/>
            </a:solidFill>
            <a:prstDash val="solid"/>
          </a:ln>
        </p:spPr>
      </p:sp>
      <p:sp>
        <p:nvSpPr>
          <p:cNvPr id="157" name="Shape 147"/>
          <p:cNvSpPr/>
          <p:nvPr/>
        </p:nvSpPr>
        <p:spPr>
          <a:xfrm>
            <a:off x="10771632" y="3858768"/>
            <a:ext cx="-8668512" cy="0"/>
          </a:xfrm>
          <a:prstGeom prst="line">
            <a:avLst/>
          </a:prstGeom>
          <a:noFill/>
          <a:ln w="12700">
            <a:solidFill>
              <a:srgbClr val="2F3438"/>
            </a:solidFill>
            <a:prstDash val="solid"/>
          </a:ln>
        </p:spPr>
      </p:sp>
      <p:sp>
        <p:nvSpPr>
          <p:cNvPr id="158" name="Shape 148"/>
          <p:cNvSpPr/>
          <p:nvPr/>
        </p:nvSpPr>
        <p:spPr>
          <a:xfrm>
            <a:off x="2103120" y="3858768"/>
            <a:ext cx="0" cy="914400"/>
          </a:xfrm>
          <a:prstGeom prst="line">
            <a:avLst/>
          </a:prstGeom>
          <a:noFill/>
          <a:ln w="1270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59" name="Shape 149"/>
          <p:cNvSpPr/>
          <p:nvPr/>
        </p:nvSpPr>
        <p:spPr>
          <a:xfrm>
            <a:off x="9893808" y="3639312"/>
            <a:ext cx="786384" cy="228600"/>
          </a:xfrm>
          <a:prstGeom prst="roundRect">
            <a:avLst>
              <a:gd name="adj" fmla="val 12000"/>
            </a:avLst>
          </a:prstGeom>
          <a:solidFill>
            <a:srgbClr val="F7F6F2"/>
          </a:solidFill>
          <a:ln w="10160">
            <a:solidFill>
              <a:srgbClr val="F7F6F2"/>
            </a:solidFill>
            <a:prstDash val="solid"/>
          </a:ln>
        </p:spPr>
      </p:sp>
      <p:sp>
        <p:nvSpPr>
          <p:cNvPr id="160" name="Text 150"/>
          <p:cNvSpPr/>
          <p:nvPr/>
        </p:nvSpPr>
        <p:spPr>
          <a:xfrm>
            <a:off x="9930384" y="365760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initializes</a:t>
            </a:r>
            <a:endParaRPr lang="en-US" sz="950" dirty="0"/>
          </a:p>
        </p:txBody>
      </p:sp>
      <p:sp>
        <p:nvSpPr>
          <p:cNvPr id="161" name="Shape 151"/>
          <p:cNvSpPr/>
          <p:nvPr/>
        </p:nvSpPr>
        <p:spPr>
          <a:xfrm>
            <a:off x="1298448" y="6510528"/>
            <a:ext cx="0" cy="137160"/>
          </a:xfrm>
          <a:prstGeom prst="line">
            <a:avLst/>
          </a:prstGeom>
          <a:noFill/>
          <a:ln w="10160">
            <a:solidFill>
              <a:srgbClr val="2F3438"/>
            </a:solidFill>
            <a:prstDash val="solid"/>
          </a:ln>
        </p:spPr>
      </p:sp>
      <p:sp>
        <p:nvSpPr>
          <p:cNvPr id="162" name="Shape 152"/>
          <p:cNvSpPr/>
          <p:nvPr/>
        </p:nvSpPr>
        <p:spPr>
          <a:xfrm>
            <a:off x="1298448" y="6647688"/>
            <a:ext cx="9509760" cy="0"/>
          </a:xfrm>
          <a:prstGeom prst="line">
            <a:avLst/>
          </a:prstGeom>
          <a:noFill/>
          <a:ln w="10160">
            <a:solidFill>
              <a:srgbClr val="2F3438"/>
            </a:solidFill>
            <a:prstDash val="solid"/>
          </a:ln>
        </p:spPr>
      </p:sp>
      <p:sp>
        <p:nvSpPr>
          <p:cNvPr id="163" name="Shape 153"/>
          <p:cNvSpPr/>
          <p:nvPr/>
        </p:nvSpPr>
        <p:spPr>
          <a:xfrm>
            <a:off x="10808208" y="6647688"/>
            <a:ext cx="0" cy="-137160"/>
          </a:xfrm>
          <a:prstGeom prst="line">
            <a:avLst/>
          </a:prstGeom>
          <a:noFill/>
          <a:ln w="10160">
            <a:solidFill>
              <a:srgbClr val="2F3438"/>
            </a:solidFill>
            <a:prstDash val="solid"/>
          </a:ln>
        </p:spPr>
      </p:sp>
      <p:sp>
        <p:nvSpPr>
          <p:cNvPr id="164" name="Text 154"/>
          <p:cNvSpPr/>
          <p:nvPr/>
        </p:nvSpPr>
        <p:spPr>
          <a:xfrm>
            <a:off x="4526280" y="6702552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coarse-to-fine residual correction</a:t>
            </a:r>
            <a:endParaRPr lang="en-US" sz="1050" dirty="0"/>
          </a:p>
        </p:txBody>
      </p:sp>
      <p:sp>
        <p:nvSpPr>
          <p:cNvPr id="165" name="Shape 155"/>
          <p:cNvSpPr/>
          <p:nvPr/>
        </p:nvSpPr>
        <p:spPr>
          <a:xfrm>
            <a:off x="164592" y="7269480"/>
            <a:ext cx="12015216" cy="768096"/>
          </a:xfrm>
          <a:prstGeom prst="roundRect">
            <a:avLst>
              <a:gd name="adj" fmla="val 7143"/>
            </a:avLst>
          </a:prstGeom>
          <a:solidFill>
            <a:srgbClr val="FFFFFF">
              <a:alpha val="55000"/>
            </a:srgbClr>
          </a:solidFill>
          <a:ln w="10160">
            <a:solidFill>
              <a:srgbClr val="B6BAB8"/>
            </a:solidFill>
            <a:prstDash val="solid"/>
          </a:ln>
        </p:spPr>
      </p:sp>
      <p:sp>
        <p:nvSpPr>
          <p:cNvPr id="166" name="Text 156"/>
          <p:cNvSpPr/>
          <p:nvPr/>
        </p:nvSpPr>
        <p:spPr>
          <a:xfrm>
            <a:off x="393192" y="74797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palette</a:t>
            </a:r>
            <a:endParaRPr lang="en-US" sz="1200" dirty="0"/>
          </a:p>
        </p:txBody>
      </p:sp>
      <p:sp>
        <p:nvSpPr>
          <p:cNvPr id="167" name="Shape 157"/>
          <p:cNvSpPr/>
          <p:nvPr/>
        </p:nvSpPr>
        <p:spPr>
          <a:xfrm>
            <a:off x="1965960" y="7415784"/>
            <a:ext cx="347472" cy="292608"/>
          </a:xfrm>
          <a:prstGeom prst="roundRect">
            <a:avLst>
              <a:gd name="adj" fmla="val 15625"/>
            </a:avLst>
          </a:prstGeom>
          <a:solidFill>
            <a:srgbClr val="E7DAAC"/>
          </a:solidFill>
          <a:ln w="10160">
            <a:solidFill>
              <a:srgbClr val="E7DAAC"/>
            </a:solidFill>
            <a:prstDash val="solid"/>
          </a:ln>
        </p:spPr>
      </p:sp>
      <p:sp>
        <p:nvSpPr>
          <p:cNvPr id="168" name="Text 158"/>
          <p:cNvSpPr/>
          <p:nvPr/>
        </p:nvSpPr>
        <p:spPr>
          <a:xfrm>
            <a:off x="1810512" y="7754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#E7DAAC</a:t>
            </a:r>
            <a:endParaRPr lang="en-US" sz="850" dirty="0"/>
          </a:p>
        </p:txBody>
      </p:sp>
      <p:sp>
        <p:nvSpPr>
          <p:cNvPr id="169" name="Shape 159"/>
          <p:cNvSpPr/>
          <p:nvPr/>
        </p:nvSpPr>
        <p:spPr>
          <a:xfrm>
            <a:off x="3209544" y="7415784"/>
            <a:ext cx="347472" cy="292608"/>
          </a:xfrm>
          <a:prstGeom prst="roundRect">
            <a:avLst>
              <a:gd name="adj" fmla="val 15625"/>
            </a:avLst>
          </a:prstGeom>
          <a:solidFill>
            <a:srgbClr val="E9D36E"/>
          </a:solidFill>
          <a:ln w="10160">
            <a:solidFill>
              <a:srgbClr val="E9D36E"/>
            </a:solidFill>
            <a:prstDash val="solid"/>
          </a:ln>
        </p:spPr>
      </p:sp>
      <p:sp>
        <p:nvSpPr>
          <p:cNvPr id="170" name="Text 160"/>
          <p:cNvSpPr/>
          <p:nvPr/>
        </p:nvSpPr>
        <p:spPr>
          <a:xfrm>
            <a:off x="3054096" y="7754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#E9D36E</a:t>
            </a:r>
            <a:endParaRPr lang="en-US" sz="850" dirty="0"/>
          </a:p>
        </p:txBody>
      </p:sp>
      <p:sp>
        <p:nvSpPr>
          <p:cNvPr id="171" name="Shape 161"/>
          <p:cNvSpPr/>
          <p:nvPr/>
        </p:nvSpPr>
        <p:spPr>
          <a:xfrm>
            <a:off x="4453128" y="7415784"/>
            <a:ext cx="347472" cy="292608"/>
          </a:xfrm>
          <a:prstGeom prst="roundRect">
            <a:avLst>
              <a:gd name="adj" fmla="val 15625"/>
            </a:avLst>
          </a:prstGeom>
          <a:solidFill>
            <a:srgbClr val="AFCAB2"/>
          </a:solidFill>
          <a:ln w="10160">
            <a:solidFill>
              <a:srgbClr val="AFCAB2"/>
            </a:solidFill>
            <a:prstDash val="solid"/>
          </a:ln>
        </p:spPr>
      </p:sp>
      <p:sp>
        <p:nvSpPr>
          <p:cNvPr id="172" name="Text 162"/>
          <p:cNvSpPr/>
          <p:nvPr/>
        </p:nvSpPr>
        <p:spPr>
          <a:xfrm>
            <a:off x="4297680" y="7754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#AFCAB2</a:t>
            </a:r>
            <a:endParaRPr lang="en-US" sz="850" dirty="0"/>
          </a:p>
        </p:txBody>
      </p:sp>
      <p:sp>
        <p:nvSpPr>
          <p:cNvPr id="173" name="Shape 163"/>
          <p:cNvSpPr/>
          <p:nvPr/>
        </p:nvSpPr>
        <p:spPr>
          <a:xfrm>
            <a:off x="5696712" y="7415784"/>
            <a:ext cx="347472" cy="292608"/>
          </a:xfrm>
          <a:prstGeom prst="roundRect">
            <a:avLst>
              <a:gd name="adj" fmla="val 15625"/>
            </a:avLst>
          </a:prstGeom>
          <a:solidFill>
            <a:srgbClr val="A9CFD8"/>
          </a:solidFill>
          <a:ln w="10160">
            <a:solidFill>
              <a:srgbClr val="A9CFD8"/>
            </a:solidFill>
            <a:prstDash val="solid"/>
          </a:ln>
        </p:spPr>
      </p:sp>
      <p:sp>
        <p:nvSpPr>
          <p:cNvPr id="174" name="Text 164"/>
          <p:cNvSpPr/>
          <p:nvPr/>
        </p:nvSpPr>
        <p:spPr>
          <a:xfrm>
            <a:off x="5541264" y="7754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#A9CFD8</a:t>
            </a:r>
            <a:endParaRPr lang="en-US" sz="850" dirty="0"/>
          </a:p>
        </p:txBody>
      </p:sp>
      <p:sp>
        <p:nvSpPr>
          <p:cNvPr id="175" name="Shape 165"/>
          <p:cNvSpPr/>
          <p:nvPr/>
        </p:nvSpPr>
        <p:spPr>
          <a:xfrm>
            <a:off x="6940296" y="7415784"/>
            <a:ext cx="347472" cy="292608"/>
          </a:xfrm>
          <a:prstGeom prst="roundRect">
            <a:avLst>
              <a:gd name="adj" fmla="val 15625"/>
            </a:avLst>
          </a:prstGeom>
          <a:solidFill>
            <a:srgbClr val="99ADD4"/>
          </a:solidFill>
          <a:ln w="10160">
            <a:solidFill>
              <a:srgbClr val="99ADD4"/>
            </a:solidFill>
            <a:prstDash val="solid"/>
          </a:ln>
        </p:spPr>
      </p:sp>
      <p:sp>
        <p:nvSpPr>
          <p:cNvPr id="176" name="Text 166"/>
          <p:cNvSpPr/>
          <p:nvPr/>
        </p:nvSpPr>
        <p:spPr>
          <a:xfrm>
            <a:off x="6784848" y="7754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#99ADD4</a:t>
            </a:r>
            <a:endParaRPr lang="en-US" sz="850" dirty="0"/>
          </a:p>
        </p:txBody>
      </p:sp>
      <p:sp>
        <p:nvSpPr>
          <p:cNvPr id="177" name="Shape 167"/>
          <p:cNvSpPr/>
          <p:nvPr/>
        </p:nvSpPr>
        <p:spPr>
          <a:xfrm>
            <a:off x="8183880" y="7415784"/>
            <a:ext cx="347472" cy="292608"/>
          </a:xfrm>
          <a:prstGeom prst="roundRect">
            <a:avLst>
              <a:gd name="adj" fmla="val 15625"/>
            </a:avLst>
          </a:prstGeom>
          <a:solidFill>
            <a:srgbClr val="CBBAD8"/>
          </a:solidFill>
          <a:ln w="10160">
            <a:solidFill>
              <a:srgbClr val="CBBAD8"/>
            </a:solidFill>
            <a:prstDash val="solid"/>
          </a:ln>
        </p:spPr>
      </p:sp>
      <p:sp>
        <p:nvSpPr>
          <p:cNvPr id="178" name="Text 168"/>
          <p:cNvSpPr/>
          <p:nvPr/>
        </p:nvSpPr>
        <p:spPr>
          <a:xfrm>
            <a:off x="8028432" y="7754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#CBBAD8</a:t>
            </a:r>
            <a:endParaRPr lang="en-US" sz="850" dirty="0"/>
          </a:p>
        </p:txBody>
      </p:sp>
      <p:sp>
        <p:nvSpPr>
          <p:cNvPr id="179" name="Shape 169"/>
          <p:cNvSpPr/>
          <p:nvPr/>
        </p:nvSpPr>
        <p:spPr>
          <a:xfrm>
            <a:off x="9427464" y="7415784"/>
            <a:ext cx="347472" cy="292608"/>
          </a:xfrm>
          <a:prstGeom prst="roundRect">
            <a:avLst>
              <a:gd name="adj" fmla="val 15625"/>
            </a:avLst>
          </a:prstGeom>
          <a:solidFill>
            <a:srgbClr val="D9ACA6"/>
          </a:solidFill>
          <a:ln w="10160">
            <a:solidFill>
              <a:srgbClr val="D9ACA6"/>
            </a:solidFill>
            <a:prstDash val="solid"/>
          </a:ln>
        </p:spPr>
      </p:sp>
      <p:sp>
        <p:nvSpPr>
          <p:cNvPr id="180" name="Text 170"/>
          <p:cNvSpPr/>
          <p:nvPr/>
        </p:nvSpPr>
        <p:spPr>
          <a:xfrm>
            <a:off x="9272016" y="7754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#D9ACA6</a:t>
            </a:r>
            <a:endParaRPr lang="en-US" sz="850" dirty="0"/>
          </a:p>
        </p:txBody>
      </p:sp>
      <p:sp>
        <p:nvSpPr>
          <p:cNvPr id="181" name="Shape 171"/>
          <p:cNvSpPr/>
          <p:nvPr/>
        </p:nvSpPr>
        <p:spPr>
          <a:xfrm>
            <a:off x="10671048" y="7415784"/>
            <a:ext cx="347472" cy="292608"/>
          </a:xfrm>
          <a:prstGeom prst="roundRect">
            <a:avLst>
              <a:gd name="adj" fmla="val 15625"/>
            </a:avLst>
          </a:prstGeom>
          <a:solidFill>
            <a:srgbClr val="2F3438"/>
          </a:solidFill>
          <a:ln w="10160">
            <a:solidFill>
              <a:srgbClr val="2F3438"/>
            </a:solidFill>
            <a:prstDash val="solid"/>
          </a:ln>
        </p:spPr>
      </p:sp>
      <p:sp>
        <p:nvSpPr>
          <p:cNvPr id="182" name="Text 172"/>
          <p:cNvSpPr/>
          <p:nvPr/>
        </p:nvSpPr>
        <p:spPr>
          <a:xfrm>
            <a:off x="10515600" y="7754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#2F3438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architecture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64592" y="566928"/>
            <a:ext cx="841248" cy="310896"/>
          </a:xfrm>
          <a:prstGeom prst="roundRect">
            <a:avLst>
              <a:gd name="adj" fmla="val 35294"/>
            </a:avLst>
          </a:prstGeom>
          <a:solidFill>
            <a:srgbClr val="DCECF8"/>
          </a:solidFill>
          <a:ln w="10160">
            <a:solidFill>
              <a:srgbClr val="77A8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1264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TRSTR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" y="722376"/>
            <a:ext cx="411480" cy="0"/>
          </a:xfrm>
          <a:prstGeom prst="line">
            <a:avLst/>
          </a:prstGeom>
          <a:noFill/>
          <a:ln w="11430">
            <a:solidFill>
              <a:srgbClr val="77A8CE"/>
            </a:solidFill>
            <a:prstDash val="dash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307592" y="713232"/>
            <a:ext cx="10835640" cy="3547872"/>
          </a:xfrm>
          <a:prstGeom prst="roundRect">
            <a:avLst>
              <a:gd name="adj" fmla="val 2062"/>
            </a:avLst>
          </a:prstGeom>
          <a:solidFill>
            <a:srgbClr val="EDF5FB">
              <a:alpha val="80000"/>
            </a:srgbClr>
          </a:solidFill>
          <a:ln w="10160">
            <a:solidFill>
              <a:srgbClr val="6FA4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TRSTR Regional Translator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4592" y="1307592"/>
            <a:ext cx="1389888" cy="2258568"/>
          </a:xfrm>
          <a:prstGeom prst="roundRect">
            <a:avLst>
              <a:gd name="adj" fmla="val 4605"/>
            </a:avLst>
          </a:prstGeom>
          <a:solidFill>
            <a:srgbClr val="FFFFFF">
              <a:alpha val="78000"/>
            </a:srgbClr>
          </a:solidFill>
          <a:ln w="10160">
            <a:solidFill>
              <a:srgbClr val="96B8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26464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SMPL</a:t>
            </a:r>
            <a:endParaRPr lang="en-US" sz="1200" dirty="0"/>
          </a:p>
        </p:txBody>
      </p:sp>
      <p:pic>
        <p:nvPicPr>
          <p:cNvPr id="10" name="Image 0" descr="C:\Users\ROG\PycharmProjects\vggt-omega\outputs\vis\iclr_metric_prior_packaging\pptx_assets\detail_smp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709928"/>
            <a:ext cx="685800" cy="1143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1752" y="283464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scene depth</a:t>
            </a:r>
            <a:endParaRPr lang="en-US" sz="1050" dirty="0"/>
          </a:p>
        </p:txBody>
      </p:sp>
      <p:pic>
        <p:nvPicPr>
          <p:cNvPr id="12" name="Image 1" descr="C:\Users\ROG\PycharmProjects\vggt-omega\outputs\vis\iclr_metric_prior_packaging\pptx_assets\detail_dep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090672"/>
            <a:ext cx="822960" cy="3840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563624" y="2423160"/>
            <a:ext cx="17373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1755648" y="1307592"/>
            <a:ext cx="2340864" cy="2258568"/>
          </a:xfrm>
          <a:prstGeom prst="roundRect">
            <a:avLst>
              <a:gd name="adj" fmla="val 2834"/>
            </a:avLst>
          </a:prstGeom>
          <a:solidFill>
            <a:srgbClr val="FFFFFF">
              <a:alpha val="84000"/>
            </a:srgbClr>
          </a:solidFill>
          <a:ln w="10160">
            <a:solidFill>
              <a:srgbClr val="78A6C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947672" y="1426464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Construction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920240" y="174650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 body regions</a:t>
            </a:r>
            <a:endParaRPr lang="en-US" sz="1000" dirty="0"/>
          </a:p>
        </p:txBody>
      </p:sp>
      <p:pic>
        <p:nvPicPr>
          <p:cNvPr id="17" name="Image 2" descr="C:\Users\ROG\PycharmProjects\vggt-omega\outputs\vis\iclr_metric_prior_packaging\pptx_assets\detail_segmen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1920240"/>
            <a:ext cx="676656" cy="12344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962656" y="174650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multi-scale probes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026664" y="19751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140964" y="19751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255264" y="19751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026664" y="20894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140964" y="20894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255264" y="20894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026664" y="22037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40964" y="22037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255264" y="22037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374136" y="2002536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3×3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3026664" y="23408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140964" y="23408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255264" y="23408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026664" y="24551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140964" y="24551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255264" y="24551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026664" y="25694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3140964" y="25694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3255264" y="25694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3374136" y="2368296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7×7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3026664" y="27066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3140964" y="27066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255264" y="27066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3026664" y="28209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140964" y="28209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3255264" y="28209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026664" y="29352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3140964" y="29352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3255264" y="29352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3374136" y="2734056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3026664" y="30723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3026664" y="3072384"/>
            <a:ext cx="274320" cy="274320"/>
          </a:xfrm>
          <a:prstGeom prst="ellipse">
            <a:avLst/>
          </a:prstGeom>
          <a:solidFill>
            <a:srgbClr val="E7DAAC">
              <a:alpha val="75000"/>
            </a:srgbClr>
          </a:solidFill>
          <a:ln w="10160">
            <a:solidFill>
              <a:srgbClr val="B8A454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099816" y="3145536"/>
            <a:ext cx="128016" cy="128016"/>
          </a:xfrm>
          <a:prstGeom prst="ellipse">
            <a:avLst/>
          </a:prstGeom>
          <a:solidFill>
            <a:srgbClr val="FFFFFF">
              <a:alpha val="90000"/>
            </a:srgbClr>
          </a:solidFill>
          <a:ln w="7620">
            <a:solidFill>
              <a:srgbClr val="B8A454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3374136" y="3099816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annulus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4105656" y="2423160"/>
            <a:ext cx="155448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54" name="Shape 49"/>
          <p:cNvSpPr/>
          <p:nvPr/>
        </p:nvSpPr>
        <p:spPr>
          <a:xfrm>
            <a:off x="4279392" y="1307592"/>
            <a:ext cx="2560320" cy="2258568"/>
          </a:xfrm>
          <a:prstGeom prst="roundRect">
            <a:avLst>
              <a:gd name="adj" fmla="val 2834"/>
            </a:avLst>
          </a:prstGeom>
          <a:solidFill>
            <a:srgbClr val="EEFAF7">
              <a:alpha val="83000"/>
            </a:srgbClr>
          </a:solidFill>
          <a:ln w="10160">
            <a:solidFill>
              <a:srgbClr val="6EB6B6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4453128" y="14264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Human–Scene Interaction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</a:t>
            </a:r>
            <a:endParaRPr lang="en-US" sz="1150" dirty="0"/>
          </a:p>
        </p:txBody>
      </p:sp>
      <p:sp>
        <p:nvSpPr>
          <p:cNvPr id="56" name="Text 51"/>
          <p:cNvSpPr/>
          <p:nvPr/>
        </p:nvSpPr>
        <p:spPr>
          <a:xfrm>
            <a:off x="4462272" y="1920240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36A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geometry</a:t>
            </a:r>
            <a:endParaRPr lang="en-US" sz="850" dirty="0"/>
          </a:p>
        </p:txBody>
      </p:sp>
      <p:sp>
        <p:nvSpPr>
          <p:cNvPr id="57" name="Shape 52"/>
          <p:cNvSpPr/>
          <p:nvPr/>
        </p:nvSpPr>
        <p:spPr>
          <a:xfrm>
            <a:off x="4553712" y="2139696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837176" y="2139696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5120640" y="2139696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5404104" y="2139696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4462272" y="23957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36A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scene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4553712" y="2615184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4837176" y="2615184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5120640" y="2615184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5404104" y="2615184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4462272" y="28620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36A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mask</a:t>
            </a:r>
            <a:endParaRPr lang="en-US" sz="850" dirty="0"/>
          </a:p>
        </p:txBody>
      </p:sp>
      <p:sp>
        <p:nvSpPr>
          <p:cNvPr id="67" name="Shape 62"/>
          <p:cNvSpPr/>
          <p:nvPr/>
        </p:nvSpPr>
        <p:spPr>
          <a:xfrm>
            <a:off x="4553712" y="3081528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4837176" y="3081528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5120640" y="3081528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5404104" y="3081528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5641848" y="2697480"/>
            <a:ext cx="17373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72" name="Shape 67"/>
          <p:cNvSpPr/>
          <p:nvPr/>
        </p:nvSpPr>
        <p:spPr>
          <a:xfrm>
            <a:off x="5833872" y="1965960"/>
            <a:ext cx="365760" cy="1417320"/>
          </a:xfrm>
          <a:prstGeom prst="roundRect">
            <a:avLst>
              <a:gd name="adj" fmla="val 12500"/>
            </a:avLst>
          </a:prstGeom>
          <a:solidFill>
            <a:srgbClr val="EAF4F5">
              <a:alpha val="8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 rot="5400000">
            <a:off x="5888736" y="2313432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concat</a:t>
            </a:r>
            <a:endParaRPr lang="en-US" sz="900" dirty="0"/>
          </a:p>
        </p:txBody>
      </p:sp>
      <p:sp>
        <p:nvSpPr>
          <p:cNvPr id="74" name="Shape 69"/>
          <p:cNvSpPr/>
          <p:nvPr/>
        </p:nvSpPr>
        <p:spPr>
          <a:xfrm>
            <a:off x="6208776" y="2697480"/>
            <a:ext cx="146304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75" name="Shape 70"/>
          <p:cNvSpPr/>
          <p:nvPr/>
        </p:nvSpPr>
        <p:spPr>
          <a:xfrm>
            <a:off x="6364224" y="21762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BBAD8">
              <a:alpha val="9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6400800" y="22677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</a:t>
            </a:r>
            <a:endParaRPr lang="en-US" sz="850" dirty="0"/>
          </a:p>
        </p:txBody>
      </p:sp>
      <p:sp>
        <p:nvSpPr>
          <p:cNvPr id="77" name="Shape 72"/>
          <p:cNvSpPr/>
          <p:nvPr/>
        </p:nvSpPr>
        <p:spPr>
          <a:xfrm>
            <a:off x="6300216" y="2660904"/>
            <a:ext cx="484632" cy="457200"/>
          </a:xfrm>
          <a:prstGeom prst="roundRect">
            <a:avLst>
              <a:gd name="adj" fmla="val 12000"/>
            </a:avLst>
          </a:prstGeom>
          <a:solidFill>
            <a:srgbClr val="99ADD4">
              <a:alpha val="82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6345936" y="2743200"/>
            <a:ext cx="393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</a:t>
            </a:r>
            <a:endParaRPr lang="en-US" sz="850" dirty="0"/>
          </a:p>
        </p:txBody>
      </p:sp>
      <p:sp>
        <p:nvSpPr>
          <p:cNvPr id="79" name="Shape 74"/>
          <p:cNvSpPr/>
          <p:nvPr/>
        </p:nvSpPr>
        <p:spPr>
          <a:xfrm>
            <a:off x="6848856" y="2423160"/>
            <a:ext cx="16459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80" name="Shape 75"/>
          <p:cNvSpPr/>
          <p:nvPr/>
        </p:nvSpPr>
        <p:spPr>
          <a:xfrm>
            <a:off x="7031736" y="1307592"/>
            <a:ext cx="2048256" cy="2258568"/>
          </a:xfrm>
          <a:prstGeom prst="roundRect">
            <a:avLst>
              <a:gd name="adj" fmla="val 3125"/>
            </a:avLst>
          </a:prstGeom>
          <a:solidFill>
            <a:srgbClr val="FFFFFF">
              <a:alpha val="80000"/>
            </a:srgbClr>
          </a:solidFill>
          <a:ln w="10160">
            <a:solidFill>
              <a:srgbClr val="91A9C9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7187184" y="1426464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Correction Heads</a:t>
            </a:r>
            <a:endParaRPr lang="en-US" sz="1100" dirty="0"/>
          </a:p>
        </p:txBody>
      </p:sp>
      <p:sp>
        <p:nvSpPr>
          <p:cNvPr id="82" name="Text 77"/>
          <p:cNvSpPr/>
          <p:nvPr/>
        </p:nvSpPr>
        <p:spPr>
          <a:xfrm>
            <a:off x="7150608" y="21762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 token</a:t>
            </a:r>
            <a:endParaRPr lang="en-US" sz="850" dirty="0"/>
          </a:p>
        </p:txBody>
      </p:sp>
      <p:sp>
        <p:nvSpPr>
          <p:cNvPr id="83" name="Shape 78"/>
          <p:cNvSpPr/>
          <p:nvPr/>
        </p:nvSpPr>
        <p:spPr>
          <a:xfrm>
            <a:off x="7607808" y="2167128"/>
            <a:ext cx="155448" cy="146304"/>
          </a:xfrm>
          <a:prstGeom prst="roundRect">
            <a:avLst>
              <a:gd name="adj" fmla="val 3125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7808976" y="2167128"/>
            <a:ext cx="155448" cy="146304"/>
          </a:xfrm>
          <a:prstGeom prst="roundRect">
            <a:avLst>
              <a:gd name="adj" fmla="val 3125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8010144" y="2167128"/>
            <a:ext cx="155448" cy="146304"/>
          </a:xfrm>
          <a:prstGeom prst="roundRect">
            <a:avLst>
              <a:gd name="adj" fmla="val 3125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8174736" y="2240280"/>
            <a:ext cx="73152" cy="0"/>
          </a:xfrm>
          <a:prstGeom prst="line">
            <a:avLst/>
          </a:prstGeom>
          <a:noFill/>
          <a:ln w="11430">
            <a:solidFill>
              <a:srgbClr val="2F3438"/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8247888" y="1856232"/>
            <a:ext cx="0" cy="1216152"/>
          </a:xfrm>
          <a:prstGeom prst="line">
            <a:avLst/>
          </a:prstGeom>
          <a:noFill/>
          <a:ln w="11430">
            <a:solidFill>
              <a:srgbClr val="2F3438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8247888" y="1993392"/>
            <a:ext cx="64008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89" name="Shape 84"/>
          <p:cNvSpPr/>
          <p:nvPr/>
        </p:nvSpPr>
        <p:spPr>
          <a:xfrm>
            <a:off x="8321040" y="1792224"/>
            <a:ext cx="658368" cy="393192"/>
          </a:xfrm>
          <a:prstGeom prst="roundRect">
            <a:avLst>
              <a:gd name="adj" fmla="val 16279"/>
            </a:avLst>
          </a:prstGeom>
          <a:solidFill>
            <a:srgbClr val="D9ACA6">
              <a:alpha val="9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0" name="Text 85"/>
          <p:cNvSpPr/>
          <p:nvPr/>
        </p:nvSpPr>
        <p:spPr>
          <a:xfrm>
            <a:off x="8357616" y="186537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Δτᵣ</a:t>
            </a:r>
            <a:endParaRPr lang="en-US" sz="830" dirty="0"/>
          </a:p>
        </p:txBody>
      </p:sp>
      <p:sp>
        <p:nvSpPr>
          <p:cNvPr id="91" name="Shape 86"/>
          <p:cNvSpPr/>
          <p:nvPr/>
        </p:nvSpPr>
        <p:spPr>
          <a:xfrm>
            <a:off x="8247888" y="2542032"/>
            <a:ext cx="64008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92" name="Shape 87"/>
          <p:cNvSpPr/>
          <p:nvPr/>
        </p:nvSpPr>
        <p:spPr>
          <a:xfrm>
            <a:off x="8321040" y="2340864"/>
            <a:ext cx="658368" cy="393192"/>
          </a:xfrm>
          <a:prstGeom prst="roundRect">
            <a:avLst>
              <a:gd name="adj" fmla="val 16279"/>
            </a:avLst>
          </a:prstGeom>
          <a:solidFill>
            <a:srgbClr val="AFCAB2">
              <a:alpha val="9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3" name="Text 88"/>
          <p:cNvSpPr/>
          <p:nvPr/>
        </p:nvSpPr>
        <p:spPr>
          <a:xfrm>
            <a:off x="8357616" y="241401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gᵣ</a:t>
            </a:r>
            <a:endParaRPr lang="en-US" sz="830" dirty="0"/>
          </a:p>
        </p:txBody>
      </p:sp>
      <p:sp>
        <p:nvSpPr>
          <p:cNvPr id="94" name="Shape 89"/>
          <p:cNvSpPr/>
          <p:nvPr/>
        </p:nvSpPr>
        <p:spPr>
          <a:xfrm>
            <a:off x="8247888" y="3090672"/>
            <a:ext cx="64008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95" name="Shape 90"/>
          <p:cNvSpPr/>
          <p:nvPr/>
        </p:nvSpPr>
        <p:spPr>
          <a:xfrm>
            <a:off x="8321040" y="2889504"/>
            <a:ext cx="658368" cy="393192"/>
          </a:xfrm>
          <a:prstGeom prst="roundRect">
            <a:avLst>
              <a:gd name="adj" fmla="val 16279"/>
            </a:avLst>
          </a:prstGeom>
          <a:solidFill>
            <a:srgbClr val="99ADD4">
              <a:alpha val="9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6" name="Text 91"/>
          <p:cNvSpPr/>
          <p:nvPr/>
        </p:nvSpPr>
        <p:spPr>
          <a:xfrm>
            <a:off x="8357616" y="296265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σᵣ</a:t>
            </a:r>
            <a:endParaRPr lang="en-US" sz="830" dirty="0"/>
          </a:p>
        </p:txBody>
      </p:sp>
      <p:sp>
        <p:nvSpPr>
          <p:cNvPr id="97" name="Shape 92"/>
          <p:cNvSpPr/>
          <p:nvPr/>
        </p:nvSpPr>
        <p:spPr>
          <a:xfrm>
            <a:off x="8988552" y="2423160"/>
            <a:ext cx="146304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98" name="Shape 93"/>
          <p:cNvSpPr/>
          <p:nvPr/>
        </p:nvSpPr>
        <p:spPr>
          <a:xfrm>
            <a:off x="9134856" y="1307592"/>
            <a:ext cx="2084832" cy="2258568"/>
          </a:xfrm>
          <a:prstGeom prst="roundRect">
            <a:avLst>
              <a:gd name="adj" fmla="val 3070"/>
            </a:avLst>
          </a:prstGeom>
          <a:solidFill>
            <a:srgbClr val="FFFFFF">
              <a:alpha val="80000"/>
            </a:srgbClr>
          </a:solidFill>
          <a:ln w="10160">
            <a:solidFill>
              <a:srgbClr val="91A9C9"/>
            </a:solidFill>
            <a:prstDash val="solid"/>
          </a:ln>
        </p:spPr>
      </p:sp>
      <p:sp>
        <p:nvSpPr>
          <p:cNvPr id="99" name="Text 94"/>
          <p:cNvSpPr/>
          <p:nvPr/>
        </p:nvSpPr>
        <p:spPr>
          <a:xfrm>
            <a:off x="9281160" y="142646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Aggregation</a:t>
            </a:r>
            <a:endParaRPr lang="en-US" sz="1150" dirty="0"/>
          </a:p>
        </p:txBody>
      </p:sp>
      <p:sp>
        <p:nvSpPr>
          <p:cNvPr id="100" name="Shape 95"/>
          <p:cNvSpPr/>
          <p:nvPr/>
        </p:nvSpPr>
        <p:spPr>
          <a:xfrm>
            <a:off x="9272016" y="197510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9272016" y="2267712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272016" y="2560320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3" name="Text 98"/>
          <p:cNvSpPr/>
          <p:nvPr/>
        </p:nvSpPr>
        <p:spPr>
          <a:xfrm>
            <a:off x="9765792" y="201168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</a:t>
            </a:r>
            <a:endParaRPr lang="en-US" sz="950" dirty="0"/>
          </a:p>
        </p:txBody>
      </p:sp>
      <p:sp>
        <p:nvSpPr>
          <p:cNvPr id="104" name="Shape 99"/>
          <p:cNvSpPr/>
          <p:nvPr/>
        </p:nvSpPr>
        <p:spPr>
          <a:xfrm>
            <a:off x="9829800" y="2386584"/>
            <a:ext cx="530352" cy="612648"/>
          </a:xfrm>
          <a:prstGeom prst="funnel">
            <a:avLst/>
          </a:prstGeom>
          <a:solidFill>
            <a:srgbClr val="99ADD4">
              <a:alpha val="82000"/>
            </a:srgbClr>
          </a:solidFill>
          <a:ln w="11430">
            <a:solidFill>
              <a:srgbClr val="4B78A4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10369296" y="2679192"/>
            <a:ext cx="12801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06" name="Shape 101"/>
          <p:cNvSpPr/>
          <p:nvPr/>
        </p:nvSpPr>
        <p:spPr>
          <a:xfrm>
            <a:off x="10515600" y="2340864"/>
            <a:ext cx="548640" cy="676656"/>
          </a:xfrm>
          <a:prstGeom prst="roundRect">
            <a:avLst>
              <a:gd name="adj" fmla="val 10000"/>
            </a:avLst>
          </a:prstGeom>
          <a:solidFill>
            <a:srgbClr val="CBBAD8">
              <a:alpha val="85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7" name="Text 102"/>
          <p:cNvSpPr/>
          <p:nvPr/>
        </p:nvSpPr>
        <p:spPr>
          <a:xfrm>
            <a:off x="10570464" y="24963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950" dirty="0"/>
          </a:p>
        </p:txBody>
      </p:sp>
      <p:sp>
        <p:nvSpPr>
          <p:cNvPr id="108" name="Shape 103"/>
          <p:cNvSpPr/>
          <p:nvPr/>
        </p:nvSpPr>
        <p:spPr>
          <a:xfrm>
            <a:off x="10460736" y="859536"/>
            <a:ext cx="685800" cy="685800"/>
          </a:xfrm>
          <a:prstGeom prst="ellipse">
            <a:avLst/>
          </a:prstGeom>
          <a:solidFill>
            <a:srgbClr val="FFFFFF">
              <a:alpha val="70000"/>
            </a:srgbClr>
          </a:solidFill>
          <a:ln w="11430">
            <a:solidFill>
              <a:srgbClr val="2F3438"/>
            </a:solidFill>
            <a:prstDash val="dash"/>
          </a:ln>
        </p:spPr>
      </p:sp>
      <p:sp>
        <p:nvSpPr>
          <p:cNvPr id="109" name="Text 104"/>
          <p:cNvSpPr/>
          <p:nvPr/>
        </p:nvSpPr>
        <p:spPr>
          <a:xfrm>
            <a:off x="10543032" y="978408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2×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re-probe</a:t>
            </a:r>
            <a:endParaRPr lang="en-US" sz="1050" dirty="0"/>
          </a:p>
        </p:txBody>
      </p:sp>
      <p:sp>
        <p:nvSpPr>
          <p:cNvPr id="110" name="Shape 105"/>
          <p:cNvSpPr/>
          <p:nvPr/>
        </p:nvSpPr>
        <p:spPr>
          <a:xfrm>
            <a:off x="10808208" y="1545336"/>
            <a:ext cx="0" cy="173736"/>
          </a:xfrm>
          <a:prstGeom prst="line">
            <a:avLst/>
          </a:prstGeom>
          <a:noFill/>
          <a:ln w="10160">
            <a:solidFill>
              <a:srgbClr val="2F3438"/>
            </a:solidFill>
            <a:prstDash val="dash"/>
            <a:tailEnd type="triangle"/>
          </a:ln>
        </p:spPr>
      </p:sp>
      <p:sp>
        <p:nvSpPr>
          <p:cNvPr id="111" name="Shape 106"/>
          <p:cNvSpPr/>
          <p:nvPr/>
        </p:nvSpPr>
        <p:spPr>
          <a:xfrm>
            <a:off x="11228832" y="2423160"/>
            <a:ext cx="155448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12" name="Shape 107"/>
          <p:cNvSpPr/>
          <p:nvPr/>
        </p:nvSpPr>
        <p:spPr>
          <a:xfrm>
            <a:off x="11402568" y="1993392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3" name="Text 108"/>
          <p:cNvSpPr/>
          <p:nvPr/>
        </p:nvSpPr>
        <p:spPr>
          <a:xfrm>
            <a:off x="11466576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τ*</a:t>
            </a:r>
            <a:endParaRPr lang="en-US" sz="1050" dirty="0"/>
          </a:p>
        </p:txBody>
      </p:sp>
      <p:sp>
        <p:nvSpPr>
          <p:cNvPr id="114" name="Shape 109"/>
          <p:cNvSpPr/>
          <p:nvPr/>
        </p:nvSpPr>
        <p:spPr>
          <a:xfrm>
            <a:off x="1755648" y="3785616"/>
            <a:ext cx="8979408" cy="292608"/>
          </a:xfrm>
          <a:prstGeom prst="roundRect">
            <a:avLst>
              <a:gd name="adj" fmla="val 25000"/>
            </a:avLst>
          </a:prstGeom>
          <a:solidFill>
            <a:srgbClr val="FFFFFF">
              <a:alpha val="58000"/>
            </a:srgbClr>
          </a:solidFill>
          <a:ln w="10160">
            <a:solidFill>
              <a:srgbClr val="A6B8C5"/>
            </a:solidFill>
            <a:prstDash val="solid"/>
          </a:ln>
        </p:spPr>
      </p:sp>
      <p:sp>
        <p:nvSpPr>
          <p:cNvPr id="115" name="Text 110"/>
          <p:cNvSpPr/>
          <p:nvPr/>
        </p:nvSpPr>
        <p:spPr>
          <a:xfrm>
            <a:off x="4379976" y="38221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6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pose θ and shape β unchanged</a:t>
            </a:r>
            <a:endParaRPr lang="en-US" sz="1150" dirty="0"/>
          </a:p>
        </p:txBody>
      </p:sp>
      <p:sp>
        <p:nvSpPr>
          <p:cNvPr id="116" name="Shape 111"/>
          <p:cNvSpPr/>
          <p:nvPr/>
        </p:nvSpPr>
        <p:spPr>
          <a:xfrm>
            <a:off x="164592" y="4498848"/>
            <a:ext cx="877824" cy="310896"/>
          </a:xfrm>
          <a:prstGeom prst="roundRect">
            <a:avLst>
              <a:gd name="adj" fmla="val 35294"/>
            </a:avLst>
          </a:prstGeom>
          <a:solidFill>
            <a:srgbClr val="DDF4F1"/>
          </a:solidFill>
          <a:ln w="10160">
            <a:solidFill>
              <a:srgbClr val="70BFB8"/>
            </a:solidFill>
            <a:prstDash val="solid"/>
          </a:ln>
        </p:spPr>
      </p:sp>
      <p:sp>
        <p:nvSpPr>
          <p:cNvPr id="117" name="Text 112"/>
          <p:cNvSpPr/>
          <p:nvPr/>
        </p:nvSpPr>
        <p:spPr>
          <a:xfrm>
            <a:off x="265176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9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</a:t>
            </a:r>
            <a:endParaRPr lang="en-US" sz="1150" dirty="0"/>
          </a:p>
        </p:txBody>
      </p:sp>
      <p:sp>
        <p:nvSpPr>
          <p:cNvPr id="118" name="Shape 113"/>
          <p:cNvSpPr/>
          <p:nvPr/>
        </p:nvSpPr>
        <p:spPr>
          <a:xfrm>
            <a:off x="1042416" y="4654296"/>
            <a:ext cx="374904" cy="0"/>
          </a:xfrm>
          <a:prstGeom prst="line">
            <a:avLst/>
          </a:prstGeom>
          <a:noFill/>
          <a:ln w="11430">
            <a:solidFill>
              <a:srgbClr val="70BFB8"/>
            </a:solidFill>
            <a:prstDash val="dash"/>
            <a:tailEnd type="triangle"/>
          </a:ln>
        </p:spPr>
      </p:sp>
      <p:sp>
        <p:nvSpPr>
          <p:cNvPr id="119" name="Shape 114"/>
          <p:cNvSpPr/>
          <p:nvPr/>
        </p:nvSpPr>
        <p:spPr>
          <a:xfrm>
            <a:off x="1307592" y="4471416"/>
            <a:ext cx="10835640" cy="3017520"/>
          </a:xfrm>
          <a:prstGeom prst="roundRect">
            <a:avLst>
              <a:gd name="adj" fmla="val 2424"/>
            </a:avLst>
          </a:prstGeom>
          <a:solidFill>
            <a:srgbClr val="ECFAF9">
              <a:alpha val="80000"/>
            </a:srgbClr>
          </a:solidFill>
          <a:ln w="10160">
            <a:solidFill>
              <a:srgbClr val="65B9B2"/>
            </a:solidFill>
            <a:prstDash val="solid"/>
          </a:ln>
        </p:spPr>
      </p:sp>
      <p:sp>
        <p:nvSpPr>
          <p:cNvPr id="120" name="Text 115"/>
          <p:cNvSpPr/>
          <p:nvPr/>
        </p:nvSpPr>
        <p:spPr>
          <a:xfrm>
            <a:off x="4526280" y="46085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Track-wise Temporal Fusion</a:t>
            </a:r>
            <a:endParaRPr lang="en-US" sz="1600" dirty="0"/>
          </a:p>
        </p:txBody>
      </p:sp>
      <p:sp>
        <p:nvSpPr>
          <p:cNvPr id="121" name="Shape 116"/>
          <p:cNvSpPr/>
          <p:nvPr/>
        </p:nvSpPr>
        <p:spPr>
          <a:xfrm>
            <a:off x="1499616" y="4937760"/>
            <a:ext cx="2670048" cy="2167128"/>
          </a:xfrm>
          <a:prstGeom prst="roundRect">
            <a:avLst>
              <a:gd name="adj" fmla="val 2954"/>
            </a:avLst>
          </a:prstGeom>
          <a:solidFill>
            <a:srgbClr val="FFFFFF">
              <a:alpha val="75000"/>
            </a:srgbClr>
          </a:solidFill>
          <a:ln w="10160">
            <a:solidFill>
              <a:srgbClr val="7ABCB9"/>
            </a:solidFill>
            <a:prstDash val="solid"/>
          </a:ln>
        </p:spPr>
      </p:sp>
      <p:sp>
        <p:nvSpPr>
          <p:cNvPr id="122" name="Text 117"/>
          <p:cNvSpPr/>
          <p:nvPr/>
        </p:nvSpPr>
        <p:spPr>
          <a:xfrm>
            <a:off x="1691640" y="5074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Window</a:t>
            </a:r>
            <a:endParaRPr lang="en-US" sz="1200" dirty="0"/>
          </a:p>
        </p:txBody>
      </p:sp>
      <p:sp>
        <p:nvSpPr>
          <p:cNvPr id="123" name="Text 118"/>
          <p:cNvSpPr/>
          <p:nvPr/>
        </p:nvSpPr>
        <p:spPr>
          <a:xfrm>
            <a:off x="2240280" y="54406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t−4    ···    t    ···    t+4</a:t>
            </a:r>
            <a:endParaRPr lang="en-US" sz="950" dirty="0"/>
          </a:p>
        </p:txBody>
      </p:sp>
      <p:sp>
        <p:nvSpPr>
          <p:cNvPr id="124" name="Text 119"/>
          <p:cNvSpPr/>
          <p:nvPr/>
        </p:nvSpPr>
        <p:spPr>
          <a:xfrm>
            <a:off x="1636776" y="567842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1</a:t>
            </a:r>
            <a:endParaRPr lang="en-US" sz="950" dirty="0"/>
          </a:p>
        </p:txBody>
      </p:sp>
      <p:sp>
        <p:nvSpPr>
          <p:cNvPr id="125" name="Shape 120"/>
          <p:cNvSpPr/>
          <p:nvPr/>
        </p:nvSpPr>
        <p:spPr>
          <a:xfrm>
            <a:off x="2011680" y="5760720"/>
            <a:ext cx="1901952" cy="0"/>
          </a:xfrm>
          <a:prstGeom prst="line">
            <a:avLst/>
          </a:prstGeom>
          <a:noFill/>
          <a:ln w="16510">
            <a:solidFill>
              <a:srgbClr val="78AEE6"/>
            </a:solidFill>
            <a:prstDash val="solid"/>
          </a:ln>
        </p:spPr>
      </p:sp>
      <p:sp>
        <p:nvSpPr>
          <p:cNvPr id="126" name="Shape 121"/>
          <p:cNvSpPr/>
          <p:nvPr/>
        </p:nvSpPr>
        <p:spPr>
          <a:xfrm>
            <a:off x="1975104" y="5669280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27" name="Shape 122"/>
          <p:cNvSpPr/>
          <p:nvPr/>
        </p:nvSpPr>
        <p:spPr>
          <a:xfrm>
            <a:off x="2212848" y="5669280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28" name="Shape 123"/>
          <p:cNvSpPr/>
          <p:nvPr/>
        </p:nvSpPr>
        <p:spPr>
          <a:xfrm>
            <a:off x="2450592" y="5669280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29" name="Shape 124"/>
          <p:cNvSpPr/>
          <p:nvPr/>
        </p:nvSpPr>
        <p:spPr>
          <a:xfrm>
            <a:off x="2688336" y="5669280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30" name="Shape 125"/>
          <p:cNvSpPr/>
          <p:nvPr/>
        </p:nvSpPr>
        <p:spPr>
          <a:xfrm>
            <a:off x="2926080" y="5669280"/>
            <a:ext cx="182880" cy="18288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31" name="Shape 126"/>
          <p:cNvSpPr/>
          <p:nvPr/>
        </p:nvSpPr>
        <p:spPr>
          <a:xfrm>
            <a:off x="3163824" y="5669280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32" name="Shape 127"/>
          <p:cNvSpPr/>
          <p:nvPr/>
        </p:nvSpPr>
        <p:spPr>
          <a:xfrm>
            <a:off x="3401568" y="5669280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33" name="Shape 128"/>
          <p:cNvSpPr/>
          <p:nvPr/>
        </p:nvSpPr>
        <p:spPr>
          <a:xfrm>
            <a:off x="3639312" y="5669280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34" name="Shape 129"/>
          <p:cNvSpPr/>
          <p:nvPr/>
        </p:nvSpPr>
        <p:spPr>
          <a:xfrm>
            <a:off x="3877056" y="5669280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35" name="Text 130"/>
          <p:cNvSpPr/>
          <p:nvPr/>
        </p:nvSpPr>
        <p:spPr>
          <a:xfrm>
            <a:off x="1636776" y="610819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2</a:t>
            </a:r>
            <a:endParaRPr lang="en-US" sz="950" dirty="0"/>
          </a:p>
        </p:txBody>
      </p:sp>
      <p:sp>
        <p:nvSpPr>
          <p:cNvPr id="136" name="Shape 131"/>
          <p:cNvSpPr/>
          <p:nvPr/>
        </p:nvSpPr>
        <p:spPr>
          <a:xfrm>
            <a:off x="2011680" y="6190488"/>
            <a:ext cx="1901952" cy="0"/>
          </a:xfrm>
          <a:prstGeom prst="line">
            <a:avLst/>
          </a:prstGeom>
          <a:noFill/>
          <a:ln w="16510">
            <a:solidFill>
              <a:srgbClr val="EF9CA5"/>
            </a:solidFill>
            <a:prstDash val="solid"/>
          </a:ln>
        </p:spPr>
      </p:sp>
      <p:sp>
        <p:nvSpPr>
          <p:cNvPr id="137" name="Shape 132"/>
          <p:cNvSpPr/>
          <p:nvPr/>
        </p:nvSpPr>
        <p:spPr>
          <a:xfrm>
            <a:off x="1975104" y="6099048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38" name="Shape 133"/>
          <p:cNvSpPr/>
          <p:nvPr/>
        </p:nvSpPr>
        <p:spPr>
          <a:xfrm>
            <a:off x="2212848" y="6099048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39" name="Shape 134"/>
          <p:cNvSpPr/>
          <p:nvPr/>
        </p:nvSpPr>
        <p:spPr>
          <a:xfrm>
            <a:off x="2450592" y="6099048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40" name="Shape 135"/>
          <p:cNvSpPr/>
          <p:nvPr/>
        </p:nvSpPr>
        <p:spPr>
          <a:xfrm>
            <a:off x="2688336" y="6099048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41" name="Shape 136"/>
          <p:cNvSpPr/>
          <p:nvPr/>
        </p:nvSpPr>
        <p:spPr>
          <a:xfrm>
            <a:off x="2926080" y="6099048"/>
            <a:ext cx="182880" cy="18288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42" name="Shape 137"/>
          <p:cNvSpPr/>
          <p:nvPr/>
        </p:nvSpPr>
        <p:spPr>
          <a:xfrm>
            <a:off x="3163824" y="6099048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43" name="Shape 138"/>
          <p:cNvSpPr/>
          <p:nvPr/>
        </p:nvSpPr>
        <p:spPr>
          <a:xfrm>
            <a:off x="3401568" y="6099048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44" name="Shape 139"/>
          <p:cNvSpPr/>
          <p:nvPr/>
        </p:nvSpPr>
        <p:spPr>
          <a:xfrm>
            <a:off x="3639312" y="6099048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45" name="Shape 140"/>
          <p:cNvSpPr/>
          <p:nvPr/>
        </p:nvSpPr>
        <p:spPr>
          <a:xfrm>
            <a:off x="3877056" y="6099048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46" name="Text 141"/>
          <p:cNvSpPr/>
          <p:nvPr/>
        </p:nvSpPr>
        <p:spPr>
          <a:xfrm>
            <a:off x="1636776" y="65379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3</a:t>
            </a:r>
            <a:endParaRPr lang="en-US" sz="950" dirty="0"/>
          </a:p>
        </p:txBody>
      </p:sp>
      <p:sp>
        <p:nvSpPr>
          <p:cNvPr id="147" name="Shape 142"/>
          <p:cNvSpPr/>
          <p:nvPr/>
        </p:nvSpPr>
        <p:spPr>
          <a:xfrm>
            <a:off x="2011680" y="6620256"/>
            <a:ext cx="1901952" cy="0"/>
          </a:xfrm>
          <a:prstGeom prst="line">
            <a:avLst/>
          </a:prstGeom>
          <a:noFill/>
          <a:ln w="16510">
            <a:solidFill>
              <a:srgbClr val="6DC6B5"/>
            </a:solidFill>
            <a:prstDash val="solid"/>
          </a:ln>
        </p:spPr>
      </p:sp>
      <p:sp>
        <p:nvSpPr>
          <p:cNvPr id="148" name="Shape 143"/>
          <p:cNvSpPr/>
          <p:nvPr/>
        </p:nvSpPr>
        <p:spPr>
          <a:xfrm>
            <a:off x="1975104" y="6528816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49" name="Shape 144"/>
          <p:cNvSpPr/>
          <p:nvPr/>
        </p:nvSpPr>
        <p:spPr>
          <a:xfrm>
            <a:off x="2212848" y="6528816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50" name="Shape 145"/>
          <p:cNvSpPr/>
          <p:nvPr/>
        </p:nvSpPr>
        <p:spPr>
          <a:xfrm>
            <a:off x="2450592" y="6528816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51" name="Shape 146"/>
          <p:cNvSpPr/>
          <p:nvPr/>
        </p:nvSpPr>
        <p:spPr>
          <a:xfrm>
            <a:off x="2688336" y="6528816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52" name="Shape 147"/>
          <p:cNvSpPr/>
          <p:nvPr/>
        </p:nvSpPr>
        <p:spPr>
          <a:xfrm>
            <a:off x="2926080" y="6528816"/>
            <a:ext cx="182880" cy="18288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53" name="Shape 148"/>
          <p:cNvSpPr/>
          <p:nvPr/>
        </p:nvSpPr>
        <p:spPr>
          <a:xfrm>
            <a:off x="3163824" y="6528816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54" name="Shape 149"/>
          <p:cNvSpPr/>
          <p:nvPr/>
        </p:nvSpPr>
        <p:spPr>
          <a:xfrm>
            <a:off x="3401568" y="6528816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55" name="Shape 150"/>
          <p:cNvSpPr/>
          <p:nvPr/>
        </p:nvSpPr>
        <p:spPr>
          <a:xfrm>
            <a:off x="3639312" y="6528816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56" name="Shape 151"/>
          <p:cNvSpPr/>
          <p:nvPr/>
        </p:nvSpPr>
        <p:spPr>
          <a:xfrm>
            <a:off x="3877056" y="6528816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57" name="Shape 152"/>
          <p:cNvSpPr/>
          <p:nvPr/>
        </p:nvSpPr>
        <p:spPr>
          <a:xfrm>
            <a:off x="2926080" y="5650992"/>
            <a:ext cx="310896" cy="1243584"/>
          </a:xfrm>
          <a:prstGeom prst="roundRect">
            <a:avLst>
              <a:gd name="adj" fmla="val 8824"/>
            </a:avLst>
          </a:prstGeom>
          <a:solidFill>
            <a:srgbClr val="FFFFFF">
              <a:alpha val="25000"/>
            </a:srgbClr>
          </a:solidFill>
          <a:ln w="10160">
            <a:solidFill>
              <a:srgbClr val="447CA8"/>
            </a:solidFill>
            <a:prstDash val="solid"/>
          </a:ln>
        </p:spPr>
      </p:sp>
      <p:sp>
        <p:nvSpPr>
          <p:cNvPr id="158" name="Shape 153"/>
          <p:cNvSpPr/>
          <p:nvPr/>
        </p:nvSpPr>
        <p:spPr>
          <a:xfrm>
            <a:off x="4178808" y="6016752"/>
            <a:ext cx="18288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59" name="Shape 154"/>
          <p:cNvSpPr/>
          <p:nvPr/>
        </p:nvSpPr>
        <p:spPr>
          <a:xfrm>
            <a:off x="4379976" y="4937760"/>
            <a:ext cx="2971800" cy="2167128"/>
          </a:xfrm>
          <a:prstGeom prst="roundRect">
            <a:avLst>
              <a:gd name="adj" fmla="val 2954"/>
            </a:avLst>
          </a:prstGeom>
          <a:solidFill>
            <a:srgbClr val="FFFFFF">
              <a:alpha val="75000"/>
            </a:srgbClr>
          </a:solidFill>
          <a:ln w="10160">
            <a:solidFill>
              <a:srgbClr val="7ABCB9"/>
            </a:solidFill>
            <a:prstDash val="solid"/>
          </a:ln>
        </p:spPr>
      </p:sp>
      <p:sp>
        <p:nvSpPr>
          <p:cNvPr id="160" name="Text 155"/>
          <p:cNvSpPr/>
          <p:nvPr/>
        </p:nvSpPr>
        <p:spPr>
          <a:xfrm>
            <a:off x="4553712" y="5074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Proposal</a:t>
            </a:r>
            <a:endParaRPr lang="en-US" sz="1200" dirty="0"/>
          </a:p>
        </p:txBody>
      </p:sp>
      <p:sp>
        <p:nvSpPr>
          <p:cNvPr id="161" name="Shape 156"/>
          <p:cNvSpPr/>
          <p:nvPr/>
        </p:nvSpPr>
        <p:spPr>
          <a:xfrm>
            <a:off x="4572000" y="5532120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2" name="Shape 157"/>
          <p:cNvSpPr/>
          <p:nvPr/>
        </p:nvSpPr>
        <p:spPr>
          <a:xfrm>
            <a:off x="4846320" y="5532120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3" name="Shape 158"/>
          <p:cNvSpPr/>
          <p:nvPr/>
        </p:nvSpPr>
        <p:spPr>
          <a:xfrm>
            <a:off x="5120640" y="5532120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4" name="Shape 159"/>
          <p:cNvSpPr/>
          <p:nvPr/>
        </p:nvSpPr>
        <p:spPr>
          <a:xfrm>
            <a:off x="4572000" y="5870448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5" name="Shape 160"/>
          <p:cNvSpPr/>
          <p:nvPr/>
        </p:nvSpPr>
        <p:spPr>
          <a:xfrm>
            <a:off x="4846320" y="5870448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6" name="Shape 161"/>
          <p:cNvSpPr/>
          <p:nvPr/>
        </p:nvSpPr>
        <p:spPr>
          <a:xfrm>
            <a:off x="5120640" y="5870448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7" name="Shape 162"/>
          <p:cNvSpPr/>
          <p:nvPr/>
        </p:nvSpPr>
        <p:spPr>
          <a:xfrm>
            <a:off x="4572000" y="6208776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8" name="Shape 163"/>
          <p:cNvSpPr/>
          <p:nvPr/>
        </p:nvSpPr>
        <p:spPr>
          <a:xfrm>
            <a:off x="4846320" y="6208776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9" name="Shape 164"/>
          <p:cNvSpPr/>
          <p:nvPr/>
        </p:nvSpPr>
        <p:spPr>
          <a:xfrm>
            <a:off x="5120640" y="6208776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70" name="Shape 165"/>
          <p:cNvSpPr/>
          <p:nvPr/>
        </p:nvSpPr>
        <p:spPr>
          <a:xfrm>
            <a:off x="5394960" y="5925312"/>
            <a:ext cx="18288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71" name="Shape 166"/>
          <p:cNvSpPr/>
          <p:nvPr/>
        </p:nvSpPr>
        <p:spPr>
          <a:xfrm>
            <a:off x="5596128" y="5513832"/>
            <a:ext cx="786384" cy="859536"/>
          </a:xfrm>
          <a:prstGeom prst="roundRect">
            <a:avLst>
              <a:gd name="adj" fmla="val 8140"/>
            </a:avLst>
          </a:prstGeom>
          <a:solidFill>
            <a:srgbClr val="EAF4F5">
              <a:alpha val="85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72" name="Text 167"/>
          <p:cNvSpPr/>
          <p:nvPr/>
        </p:nvSpPr>
        <p:spPr>
          <a:xfrm>
            <a:off x="5696712" y="5660136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</a:t>
            </a:r>
            <a:endParaRPr lang="en-US" sz="1000" dirty="0"/>
          </a:p>
        </p:txBody>
      </p:sp>
      <p:sp>
        <p:nvSpPr>
          <p:cNvPr id="173" name="Text 168"/>
          <p:cNvSpPr/>
          <p:nvPr/>
        </p:nvSpPr>
        <p:spPr>
          <a:xfrm>
            <a:off x="4626864" y="672084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neighbors only</a:t>
            </a:r>
            <a:endParaRPr lang="en-US" sz="950" dirty="0"/>
          </a:p>
        </p:txBody>
      </p:sp>
      <p:sp>
        <p:nvSpPr>
          <p:cNvPr id="174" name="Text 169"/>
          <p:cNvSpPr/>
          <p:nvPr/>
        </p:nvSpPr>
        <p:spPr>
          <a:xfrm>
            <a:off x="5852160" y="647395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C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2200" dirty="0"/>
          </a:p>
        </p:txBody>
      </p:sp>
      <p:sp>
        <p:nvSpPr>
          <p:cNvPr id="175" name="Shape 170"/>
          <p:cNvSpPr/>
          <p:nvPr/>
        </p:nvSpPr>
        <p:spPr>
          <a:xfrm>
            <a:off x="6391656" y="5925312"/>
            <a:ext cx="17373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76" name="Shape 171"/>
          <p:cNvSpPr/>
          <p:nvPr/>
        </p:nvSpPr>
        <p:spPr>
          <a:xfrm>
            <a:off x="6583680" y="5788152"/>
            <a:ext cx="201168" cy="164592"/>
          </a:xfrm>
          <a:prstGeom prst="roundRect">
            <a:avLst>
              <a:gd name="adj" fmla="val 27778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77" name="Shape 172"/>
          <p:cNvSpPr/>
          <p:nvPr/>
        </p:nvSpPr>
        <p:spPr>
          <a:xfrm>
            <a:off x="6830568" y="5788152"/>
            <a:ext cx="201168" cy="164592"/>
          </a:xfrm>
          <a:prstGeom prst="roundRect">
            <a:avLst>
              <a:gd name="adj" fmla="val 27778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78" name="Shape 173"/>
          <p:cNvSpPr/>
          <p:nvPr/>
        </p:nvSpPr>
        <p:spPr>
          <a:xfrm>
            <a:off x="7077456" y="5788152"/>
            <a:ext cx="201168" cy="164592"/>
          </a:xfrm>
          <a:prstGeom prst="roundRect">
            <a:avLst>
              <a:gd name="adj" fmla="val 27778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79" name="Text 174"/>
          <p:cNvSpPr/>
          <p:nvPr/>
        </p:nvSpPr>
        <p:spPr>
          <a:xfrm>
            <a:off x="6821424" y="55595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Mₜ</a:t>
            </a:r>
            <a:endParaRPr lang="en-US" sz="1050" dirty="0"/>
          </a:p>
        </p:txBody>
      </p:sp>
      <p:sp>
        <p:nvSpPr>
          <p:cNvPr id="180" name="Shape 175"/>
          <p:cNvSpPr/>
          <p:nvPr/>
        </p:nvSpPr>
        <p:spPr>
          <a:xfrm>
            <a:off x="7360920" y="6016752"/>
            <a:ext cx="18288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81" name="Shape 176"/>
          <p:cNvSpPr/>
          <p:nvPr/>
        </p:nvSpPr>
        <p:spPr>
          <a:xfrm>
            <a:off x="7562088" y="4937760"/>
            <a:ext cx="2770632" cy="2167128"/>
          </a:xfrm>
          <a:prstGeom prst="roundRect">
            <a:avLst>
              <a:gd name="adj" fmla="val 2954"/>
            </a:avLst>
          </a:prstGeom>
          <a:solidFill>
            <a:srgbClr val="FFFFFF">
              <a:alpha val="75000"/>
            </a:srgbClr>
          </a:solidFill>
          <a:ln w="10160">
            <a:solidFill>
              <a:srgbClr val="7ABCB9"/>
            </a:solidFill>
            <a:prstDash val="solid"/>
          </a:ln>
        </p:spPr>
      </p:sp>
      <p:sp>
        <p:nvSpPr>
          <p:cNvPr id="182" name="Text 177"/>
          <p:cNvSpPr/>
          <p:nvPr/>
        </p:nvSpPr>
        <p:spPr>
          <a:xfrm>
            <a:off x="7735824" y="5074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Conservative Fusion</a:t>
            </a:r>
            <a:endParaRPr lang="en-US" sz="1200" dirty="0"/>
          </a:p>
        </p:txBody>
      </p:sp>
      <p:sp>
        <p:nvSpPr>
          <p:cNvPr id="183" name="Shape 178"/>
          <p:cNvSpPr/>
          <p:nvPr/>
        </p:nvSpPr>
        <p:spPr>
          <a:xfrm>
            <a:off x="7744968" y="5522976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EAF4F5">
              <a:alpha val="9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84" name="Text 179"/>
          <p:cNvSpPr/>
          <p:nvPr/>
        </p:nvSpPr>
        <p:spPr>
          <a:xfrm>
            <a:off x="7872984" y="5586984"/>
            <a:ext cx="246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Oₜ</a:t>
            </a:r>
            <a:endParaRPr lang="en-US" sz="1100" dirty="0"/>
          </a:p>
        </p:txBody>
      </p:sp>
      <p:sp>
        <p:nvSpPr>
          <p:cNvPr id="185" name="Shape 180"/>
          <p:cNvSpPr/>
          <p:nvPr/>
        </p:nvSpPr>
        <p:spPr>
          <a:xfrm>
            <a:off x="7744968" y="596188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CBBAD8">
              <a:alpha val="9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86" name="Text 181"/>
          <p:cNvSpPr/>
          <p:nvPr/>
        </p:nvSpPr>
        <p:spPr>
          <a:xfrm>
            <a:off x="7872984" y="6025896"/>
            <a:ext cx="246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Mₜ</a:t>
            </a:r>
            <a:endParaRPr lang="en-US" sz="1100" dirty="0"/>
          </a:p>
        </p:txBody>
      </p:sp>
      <p:sp>
        <p:nvSpPr>
          <p:cNvPr id="187" name="Shape 182"/>
          <p:cNvSpPr/>
          <p:nvPr/>
        </p:nvSpPr>
        <p:spPr>
          <a:xfrm>
            <a:off x="8266176" y="5907024"/>
            <a:ext cx="21031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88" name="Shape 183"/>
          <p:cNvSpPr/>
          <p:nvPr/>
        </p:nvSpPr>
        <p:spPr>
          <a:xfrm>
            <a:off x="8494776" y="5577840"/>
            <a:ext cx="585216" cy="667512"/>
          </a:xfrm>
          <a:prstGeom prst="roundRect">
            <a:avLst>
              <a:gd name="adj" fmla="val 9375"/>
            </a:avLst>
          </a:prstGeom>
          <a:solidFill>
            <a:srgbClr val="EAF4F5">
              <a:alpha val="8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89" name="Text 184"/>
          <p:cNvSpPr/>
          <p:nvPr/>
        </p:nvSpPr>
        <p:spPr>
          <a:xfrm>
            <a:off x="8586216" y="573328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</a:t>
            </a:r>
            <a:endParaRPr lang="en-US" sz="1050" dirty="0"/>
          </a:p>
        </p:txBody>
      </p:sp>
      <p:sp>
        <p:nvSpPr>
          <p:cNvPr id="190" name="Shape 185"/>
          <p:cNvSpPr/>
          <p:nvPr/>
        </p:nvSpPr>
        <p:spPr>
          <a:xfrm>
            <a:off x="9089136" y="5907024"/>
            <a:ext cx="17373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91" name="Shape 186"/>
          <p:cNvSpPr/>
          <p:nvPr/>
        </p:nvSpPr>
        <p:spPr>
          <a:xfrm>
            <a:off x="9281160" y="5650992"/>
            <a:ext cx="713232" cy="475488"/>
          </a:xfrm>
          <a:prstGeom prst="roundRect">
            <a:avLst>
              <a:gd name="adj" fmla="val 13462"/>
            </a:avLst>
          </a:prstGeom>
          <a:solidFill>
            <a:srgbClr val="E7DAAC">
              <a:alpha val="88000"/>
            </a:srgbClr>
          </a:solidFill>
          <a:ln w="10160">
            <a:solidFill>
              <a:srgbClr val="B99C4B"/>
            </a:solidFill>
            <a:prstDash val="solid"/>
          </a:ln>
        </p:spPr>
      </p:sp>
      <p:sp>
        <p:nvSpPr>
          <p:cNvPr id="192" name="Text 187"/>
          <p:cNvSpPr/>
          <p:nvPr/>
        </p:nvSpPr>
        <p:spPr>
          <a:xfrm>
            <a:off x="9390888" y="5769864"/>
            <a:ext cx="493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αₜ ≤ 0.5</a:t>
            </a:r>
            <a:endParaRPr lang="en-US" sz="1100" dirty="0"/>
          </a:p>
        </p:txBody>
      </p:sp>
      <p:sp>
        <p:nvSpPr>
          <p:cNvPr id="193" name="Shape 188"/>
          <p:cNvSpPr/>
          <p:nvPr/>
        </p:nvSpPr>
        <p:spPr>
          <a:xfrm>
            <a:off x="9637776" y="6135624"/>
            <a:ext cx="0" cy="265176"/>
          </a:xfrm>
          <a:prstGeom prst="line">
            <a:avLst/>
          </a:prstGeom>
          <a:noFill/>
          <a:ln w="1143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94" name="Shape 189"/>
          <p:cNvSpPr/>
          <p:nvPr/>
        </p:nvSpPr>
        <p:spPr>
          <a:xfrm>
            <a:off x="7936992" y="6446520"/>
            <a:ext cx="1920240" cy="502920"/>
          </a:xfrm>
          <a:prstGeom prst="roundRect">
            <a:avLst>
              <a:gd name="adj" fmla="val 12727"/>
            </a:avLst>
          </a:prstGeom>
          <a:solidFill>
            <a:srgbClr val="EAF4F5">
              <a:alpha val="7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95" name="Text 190"/>
          <p:cNvSpPr/>
          <p:nvPr/>
        </p:nvSpPr>
        <p:spPr>
          <a:xfrm>
            <a:off x="8110728" y="6583680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X*ₜ = Oₜ + αₜ(Mₜ − Oₜ)</a:t>
            </a:r>
            <a:endParaRPr lang="en-US" sz="1100" dirty="0"/>
          </a:p>
        </p:txBody>
      </p:sp>
      <p:sp>
        <p:nvSpPr>
          <p:cNvPr id="196" name="Shape 191"/>
          <p:cNvSpPr/>
          <p:nvPr/>
        </p:nvSpPr>
        <p:spPr>
          <a:xfrm>
            <a:off x="10341864" y="6016752"/>
            <a:ext cx="18288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97" name="Shape 192"/>
          <p:cNvSpPr/>
          <p:nvPr/>
        </p:nvSpPr>
        <p:spPr>
          <a:xfrm>
            <a:off x="10543032" y="4937760"/>
            <a:ext cx="1417320" cy="2167128"/>
          </a:xfrm>
          <a:prstGeom prst="roundRect">
            <a:avLst>
              <a:gd name="adj" fmla="val 4516"/>
            </a:avLst>
          </a:prstGeom>
          <a:solidFill>
            <a:srgbClr val="FFFFFF">
              <a:alpha val="75000"/>
            </a:srgbClr>
          </a:solidFill>
          <a:ln w="10160">
            <a:solidFill>
              <a:srgbClr val="7ABCB9"/>
            </a:solidFill>
            <a:prstDash val="solid"/>
          </a:ln>
        </p:spPr>
      </p:sp>
      <p:sp>
        <p:nvSpPr>
          <p:cNvPr id="198" name="Text 193"/>
          <p:cNvSpPr/>
          <p:nvPr/>
        </p:nvSpPr>
        <p:spPr>
          <a:xfrm>
            <a:off x="10744200" y="507492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sequence</a:t>
            </a:r>
            <a:endParaRPr lang="en-US" sz="1150" dirty="0"/>
          </a:p>
        </p:txBody>
      </p:sp>
      <p:sp>
        <p:nvSpPr>
          <p:cNvPr id="199" name="Shape 194"/>
          <p:cNvSpPr/>
          <p:nvPr/>
        </p:nvSpPr>
        <p:spPr>
          <a:xfrm>
            <a:off x="10744200" y="5650992"/>
            <a:ext cx="1014984" cy="0"/>
          </a:xfrm>
          <a:prstGeom prst="line">
            <a:avLst/>
          </a:prstGeom>
          <a:noFill/>
          <a:ln w="15240">
            <a:solidFill>
              <a:srgbClr val="78AEE6"/>
            </a:solidFill>
            <a:prstDash val="solid"/>
          </a:ln>
        </p:spPr>
      </p:sp>
      <p:sp>
        <p:nvSpPr>
          <p:cNvPr id="200" name="Shape 195"/>
          <p:cNvSpPr/>
          <p:nvPr/>
        </p:nvSpPr>
        <p:spPr>
          <a:xfrm>
            <a:off x="10716768" y="5559552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201" name="Shape 196"/>
          <p:cNvSpPr/>
          <p:nvPr/>
        </p:nvSpPr>
        <p:spPr>
          <a:xfrm>
            <a:off x="10963656" y="5559552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202" name="Shape 197"/>
          <p:cNvSpPr/>
          <p:nvPr/>
        </p:nvSpPr>
        <p:spPr>
          <a:xfrm>
            <a:off x="11210544" y="5559552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203" name="Shape 198"/>
          <p:cNvSpPr/>
          <p:nvPr/>
        </p:nvSpPr>
        <p:spPr>
          <a:xfrm>
            <a:off x="11457432" y="5559552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204" name="Shape 199"/>
          <p:cNvSpPr/>
          <p:nvPr/>
        </p:nvSpPr>
        <p:spPr>
          <a:xfrm>
            <a:off x="11704320" y="5559552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205" name="Shape 200"/>
          <p:cNvSpPr/>
          <p:nvPr/>
        </p:nvSpPr>
        <p:spPr>
          <a:xfrm>
            <a:off x="10744200" y="6108192"/>
            <a:ext cx="1014984" cy="0"/>
          </a:xfrm>
          <a:prstGeom prst="line">
            <a:avLst/>
          </a:prstGeom>
          <a:noFill/>
          <a:ln w="15240">
            <a:solidFill>
              <a:srgbClr val="EF9CA5"/>
            </a:solidFill>
            <a:prstDash val="solid"/>
          </a:ln>
        </p:spPr>
      </p:sp>
      <p:sp>
        <p:nvSpPr>
          <p:cNvPr id="206" name="Shape 201"/>
          <p:cNvSpPr/>
          <p:nvPr/>
        </p:nvSpPr>
        <p:spPr>
          <a:xfrm>
            <a:off x="10716768" y="6016752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207" name="Shape 202"/>
          <p:cNvSpPr/>
          <p:nvPr/>
        </p:nvSpPr>
        <p:spPr>
          <a:xfrm>
            <a:off x="10963656" y="6016752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208" name="Shape 203"/>
          <p:cNvSpPr/>
          <p:nvPr/>
        </p:nvSpPr>
        <p:spPr>
          <a:xfrm>
            <a:off x="11210544" y="6016752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209" name="Shape 204"/>
          <p:cNvSpPr/>
          <p:nvPr/>
        </p:nvSpPr>
        <p:spPr>
          <a:xfrm>
            <a:off x="11457432" y="6016752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210" name="Shape 205"/>
          <p:cNvSpPr/>
          <p:nvPr/>
        </p:nvSpPr>
        <p:spPr>
          <a:xfrm>
            <a:off x="11704320" y="6016752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211" name="Shape 206"/>
          <p:cNvSpPr/>
          <p:nvPr/>
        </p:nvSpPr>
        <p:spPr>
          <a:xfrm>
            <a:off x="10744200" y="6565392"/>
            <a:ext cx="1014984" cy="0"/>
          </a:xfrm>
          <a:prstGeom prst="line">
            <a:avLst/>
          </a:prstGeom>
          <a:noFill/>
          <a:ln w="15240">
            <a:solidFill>
              <a:srgbClr val="6DC6B5"/>
            </a:solidFill>
            <a:prstDash val="solid"/>
          </a:ln>
        </p:spPr>
      </p:sp>
      <p:sp>
        <p:nvSpPr>
          <p:cNvPr id="212" name="Shape 207"/>
          <p:cNvSpPr/>
          <p:nvPr/>
        </p:nvSpPr>
        <p:spPr>
          <a:xfrm>
            <a:off x="10716768" y="6473952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213" name="Shape 208"/>
          <p:cNvSpPr/>
          <p:nvPr/>
        </p:nvSpPr>
        <p:spPr>
          <a:xfrm>
            <a:off x="10963656" y="6473952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214" name="Shape 209"/>
          <p:cNvSpPr/>
          <p:nvPr/>
        </p:nvSpPr>
        <p:spPr>
          <a:xfrm>
            <a:off x="11210544" y="6473952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215" name="Shape 210"/>
          <p:cNvSpPr/>
          <p:nvPr/>
        </p:nvSpPr>
        <p:spPr>
          <a:xfrm>
            <a:off x="11457432" y="6473952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216" name="Shape 211"/>
          <p:cNvSpPr/>
          <p:nvPr/>
        </p:nvSpPr>
        <p:spPr>
          <a:xfrm>
            <a:off x="11704320" y="6473952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217" name="Text 212"/>
          <p:cNvSpPr/>
          <p:nvPr/>
        </p:nvSpPr>
        <p:spPr>
          <a:xfrm>
            <a:off x="164592" y="769924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(C) Spatial–Temporal Refinement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502920"/>
            <a:ext cx="11795760" cy="7086600"/>
          </a:xfrm>
          <a:prstGeom prst="roundRect">
            <a:avLst>
              <a:gd name="adj" fmla="val 1032"/>
            </a:avLst>
          </a:prstGeom>
          <a:solidFill>
            <a:srgbClr val="FFFFFF">
              <a:alpha val="54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9768" y="1097280"/>
            <a:ext cx="914400" cy="4297680"/>
          </a:xfrm>
          <a:prstGeom prst="roundRect">
            <a:avLst>
              <a:gd name="adj" fmla="val 6000"/>
            </a:avLst>
          </a:prstGeom>
          <a:solidFill>
            <a:srgbClr val="FFFFFF">
              <a:alpha val="8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52144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Sequence</a:t>
            </a:r>
            <a:endParaRPr lang="en-US" sz="1000" dirty="0"/>
          </a:p>
        </p:txBody>
      </p:sp>
      <p:pic>
        <p:nvPicPr>
          <p:cNvPr id="5" name="Image 0" descr="C:\Users\ROG\PycharmProjects\vggt-omega\outputs\vis\iclr_metric_prior_packaging\pptx_assets\overall_fra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90472"/>
            <a:ext cx="713232" cy="3813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62456" y="3172968"/>
            <a:ext cx="21945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1600200" y="914400"/>
            <a:ext cx="2743200" cy="4754880"/>
          </a:xfrm>
          <a:prstGeom prst="roundRect">
            <a:avLst>
              <a:gd name="adj" fmla="val 2667"/>
            </a:avLst>
          </a:prstGeom>
          <a:solidFill>
            <a:srgbClr val="FFFFFF">
              <a:alpha val="82000"/>
            </a:srgbClr>
          </a:solidFill>
          <a:ln w="10160">
            <a:solidFill>
              <a:srgbClr val="9488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92224" y="104241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Human–Scene Encoding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764792" y="1417320"/>
            <a:ext cx="2414016" cy="1664208"/>
          </a:xfrm>
          <a:prstGeom prst="roundRect">
            <a:avLst>
              <a:gd name="adj" fmla="val 3846"/>
            </a:avLst>
          </a:prstGeom>
          <a:solidFill>
            <a:srgbClr val="CBBAD8">
              <a:alpha val="45000"/>
            </a:srgbClr>
          </a:solidFill>
          <a:ln w="10160">
            <a:solidFill>
              <a:srgbClr val="9989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38528" y="152704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VGGT Scene Encoder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938528" y="1901952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48840" y="1901952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59152" y="1901952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38528" y="2112264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48840" y="2112264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59152" y="2112264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938528" y="2322576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148840" y="2322576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359152" y="2322576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938528" y="2532888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48840" y="2532888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59152" y="2532888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670048" y="2240280"/>
            <a:ext cx="164592" cy="137160"/>
          </a:xfrm>
          <a:prstGeom prst="roundRect">
            <a:avLst>
              <a:gd name="adj" fmla="val 33333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07792" y="2240280"/>
            <a:ext cx="164592" cy="137160"/>
          </a:xfrm>
          <a:prstGeom prst="roundRect">
            <a:avLst>
              <a:gd name="adj" fmla="val 33333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145536" y="2240280"/>
            <a:ext cx="164592" cy="137160"/>
          </a:xfrm>
          <a:prstGeom prst="roundRect">
            <a:avLst>
              <a:gd name="adj" fmla="val 33333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83280" y="2240280"/>
            <a:ext cx="164592" cy="137160"/>
          </a:xfrm>
          <a:prstGeom prst="roundRect">
            <a:avLst>
              <a:gd name="adj" fmla="val 33333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21024" y="2240280"/>
            <a:ext cx="164592" cy="137160"/>
          </a:xfrm>
          <a:prstGeom prst="roundRect">
            <a:avLst>
              <a:gd name="adj" fmla="val 33333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913632" y="1828800"/>
            <a:ext cx="0" cy="987552"/>
          </a:xfrm>
          <a:prstGeom prst="line">
            <a:avLst/>
          </a:prstGeom>
          <a:noFill/>
          <a:ln w="10160">
            <a:solidFill>
              <a:srgbClr val="2F343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685032" y="1828800"/>
            <a:ext cx="21945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3959352" y="173736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K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3685032" y="2313432"/>
            <a:ext cx="21945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3959352" y="222199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depth Dᵥggt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3685032" y="2798064"/>
            <a:ext cx="21945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34" name="Text 31"/>
          <p:cNvSpPr/>
          <p:nvPr/>
        </p:nvSpPr>
        <p:spPr>
          <a:xfrm>
            <a:off x="3959352" y="270662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tokens Fscene</a:t>
            </a:r>
            <a:endParaRPr lang="en-US" sz="820" dirty="0"/>
          </a:p>
        </p:txBody>
      </p:sp>
      <p:sp>
        <p:nvSpPr>
          <p:cNvPr id="35" name="Shape 32"/>
          <p:cNvSpPr/>
          <p:nvPr/>
        </p:nvSpPr>
        <p:spPr>
          <a:xfrm>
            <a:off x="1764792" y="3328416"/>
            <a:ext cx="2414016" cy="2121408"/>
          </a:xfrm>
          <a:prstGeom prst="roundRect">
            <a:avLst>
              <a:gd name="adj" fmla="val 3017"/>
            </a:avLst>
          </a:prstGeom>
          <a:solidFill>
            <a:srgbClr val="D9ACA6">
              <a:alpha val="38000"/>
            </a:srgbClr>
          </a:solidFill>
          <a:ln w="10160">
            <a:solidFill>
              <a:srgbClr val="AF7F7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57984" y="3447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NLF Human Estimator</a:t>
            </a:r>
            <a:endParaRPr lang="en-US" sz="1150" dirty="0"/>
          </a:p>
        </p:txBody>
      </p:sp>
      <p:pic>
        <p:nvPicPr>
          <p:cNvPr id="37" name="Image 1" descr="C:\Users\ROG\PycharmProjects\vggt-omega\outputs\vis\iclr_metric_prior_packaging\pptx_assets\overall_nl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3822192"/>
            <a:ext cx="822960" cy="123444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2743200" y="4443984"/>
            <a:ext cx="16459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pic>
        <p:nvPicPr>
          <p:cNvPr id="39" name="Image 2" descr="C:\Users\ROG\PycharmProjects\vggt-omega\outputs\vis\iclr_metric_prior_packaging\pptx_assets\overall_smp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936" y="3813048"/>
            <a:ext cx="512064" cy="124358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3511296" y="3858768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θ</a:t>
            </a:r>
            <a:endParaRPr lang="en-US" sz="860" dirty="0"/>
          </a:p>
        </p:txBody>
      </p:sp>
      <p:sp>
        <p:nvSpPr>
          <p:cNvPr id="41" name="Text 36"/>
          <p:cNvSpPr/>
          <p:nvPr/>
        </p:nvSpPr>
        <p:spPr>
          <a:xfrm>
            <a:off x="3511296" y="4197096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 β</a:t>
            </a:r>
            <a:endParaRPr lang="en-US" sz="860" dirty="0"/>
          </a:p>
        </p:txBody>
      </p:sp>
      <p:sp>
        <p:nvSpPr>
          <p:cNvPr id="42" name="Text 37"/>
          <p:cNvSpPr/>
          <p:nvPr/>
        </p:nvSpPr>
        <p:spPr>
          <a:xfrm>
            <a:off x="3511296" y="4535424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 τ</a:t>
            </a:r>
            <a:endParaRPr lang="en-US" sz="860" dirty="0"/>
          </a:p>
        </p:txBody>
      </p:sp>
      <p:sp>
        <p:nvSpPr>
          <p:cNvPr id="43" name="Text 38"/>
          <p:cNvSpPr/>
          <p:nvPr/>
        </p:nvSpPr>
        <p:spPr>
          <a:xfrm>
            <a:off x="3511296" y="4873752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c</a:t>
            </a:r>
            <a:endParaRPr lang="en-US" sz="860" dirty="0"/>
          </a:p>
        </p:txBody>
      </p:sp>
      <p:sp>
        <p:nvSpPr>
          <p:cNvPr id="44" name="Shape 39"/>
          <p:cNvSpPr/>
          <p:nvPr/>
        </p:nvSpPr>
        <p:spPr>
          <a:xfrm>
            <a:off x="3355848" y="3099816"/>
            <a:ext cx="0" cy="210312"/>
          </a:xfrm>
          <a:prstGeom prst="line">
            <a:avLst/>
          </a:prstGeom>
          <a:noFill/>
          <a:ln w="10160">
            <a:solidFill>
              <a:srgbClr val="2F3438"/>
            </a:solidFill>
            <a:prstDash val="dash"/>
            <a:tailEnd type="triangle"/>
          </a:ln>
        </p:spPr>
      </p:sp>
      <p:sp>
        <p:nvSpPr>
          <p:cNvPr id="45" name="Text 40"/>
          <p:cNvSpPr/>
          <p:nvPr/>
        </p:nvSpPr>
        <p:spPr>
          <a:xfrm>
            <a:off x="3429000" y="311810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intrinsics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4352544" y="3172968"/>
            <a:ext cx="201168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47" name="Shape 42"/>
          <p:cNvSpPr/>
          <p:nvPr/>
        </p:nvSpPr>
        <p:spPr>
          <a:xfrm>
            <a:off x="4572000" y="1078992"/>
            <a:ext cx="1627632" cy="4434840"/>
          </a:xfrm>
          <a:prstGeom prst="roundRect">
            <a:avLst>
              <a:gd name="adj" fmla="val 4494"/>
            </a:avLst>
          </a:prstGeom>
          <a:solidFill>
            <a:srgbClr val="FFFFFF">
              <a:alpha val="84000"/>
            </a:srgbClr>
          </a:solidFill>
          <a:ln w="10160">
            <a:solidFill>
              <a:srgbClr val="8C9EAA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745736" y="1234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Human–Scene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150" dirty="0"/>
          </a:p>
        </p:txBody>
      </p:sp>
      <p:sp>
        <p:nvSpPr>
          <p:cNvPr id="49" name="Text 44"/>
          <p:cNvSpPr/>
          <p:nvPr/>
        </p:nvSpPr>
        <p:spPr>
          <a:xfrm>
            <a:off x="4773168" y="18470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evidence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{Dᵥggt, Fscene}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4846320" y="226771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5029200" y="226771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5212080" y="226771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5394960" y="226771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5577840" y="226771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5760720" y="226771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5404104" y="2468880"/>
            <a:ext cx="0" cy="201168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57" name="Text 52"/>
          <p:cNvSpPr/>
          <p:nvPr/>
        </p:nvSpPr>
        <p:spPr>
          <a:xfrm>
            <a:off x="4773168" y="26974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evidence {K}</a:t>
            </a:r>
            <a:endParaRPr lang="en-US" sz="850" dirty="0"/>
          </a:p>
        </p:txBody>
      </p:sp>
      <p:sp>
        <p:nvSpPr>
          <p:cNvPr id="58" name="Shape 53"/>
          <p:cNvSpPr/>
          <p:nvPr/>
        </p:nvSpPr>
        <p:spPr>
          <a:xfrm>
            <a:off x="4846320" y="3017520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5029200" y="3017520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5212080" y="3017520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5394960" y="3017520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5577840" y="3017520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5760720" y="3017520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5404104" y="3218688"/>
            <a:ext cx="0" cy="201168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65" name="Text 60"/>
          <p:cNvSpPr/>
          <p:nvPr/>
        </p:nvSpPr>
        <p:spPr>
          <a:xfrm>
            <a:off x="4773168" y="34472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evidence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{θ, β, τ, c}</a:t>
            </a:r>
            <a:endParaRPr lang="en-US" sz="850" dirty="0"/>
          </a:p>
        </p:txBody>
      </p:sp>
      <p:sp>
        <p:nvSpPr>
          <p:cNvPr id="66" name="Shape 61"/>
          <p:cNvSpPr/>
          <p:nvPr/>
        </p:nvSpPr>
        <p:spPr>
          <a:xfrm>
            <a:off x="4846320" y="3877056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5029200" y="3877056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5212080" y="3877056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5394960" y="3877056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5577840" y="3877056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5760720" y="3877056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4882896" y="4187952"/>
            <a:ext cx="0" cy="228600"/>
          </a:xfrm>
          <a:prstGeom prst="line">
            <a:avLst/>
          </a:prstGeom>
          <a:noFill/>
          <a:ln w="10160">
            <a:solidFill>
              <a:srgbClr val="2F3438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4882896" y="4416552"/>
            <a:ext cx="1033272" cy="0"/>
          </a:xfrm>
          <a:prstGeom prst="line">
            <a:avLst/>
          </a:prstGeom>
          <a:noFill/>
          <a:ln w="10160">
            <a:solidFill>
              <a:srgbClr val="2F3438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5916168" y="4187952"/>
            <a:ext cx="0" cy="228600"/>
          </a:xfrm>
          <a:prstGeom prst="line">
            <a:avLst/>
          </a:prstGeom>
          <a:noFill/>
          <a:ln w="10160">
            <a:solidFill>
              <a:srgbClr val="2F3438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5404104" y="4416552"/>
            <a:ext cx="0" cy="192024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76" name="Shape 71"/>
          <p:cNvSpPr/>
          <p:nvPr/>
        </p:nvSpPr>
        <p:spPr>
          <a:xfrm>
            <a:off x="4800600" y="473659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4983480" y="473659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5166360" y="473659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5349240" y="473659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5532120" y="473659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5715000" y="473659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5897880" y="473659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217920" y="3172968"/>
            <a:ext cx="21945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84" name="Shape 79"/>
          <p:cNvSpPr/>
          <p:nvPr/>
        </p:nvSpPr>
        <p:spPr>
          <a:xfrm>
            <a:off x="6455664" y="1261872"/>
            <a:ext cx="1143000" cy="4050792"/>
          </a:xfrm>
          <a:prstGeom prst="roundRect">
            <a:avLst>
              <a:gd name="adj" fmla="val 6400"/>
            </a:avLst>
          </a:prstGeom>
          <a:solidFill>
            <a:srgbClr val="E7DAAC">
              <a:alpha val="52000"/>
            </a:srgbClr>
          </a:solidFill>
          <a:ln w="10160">
            <a:solidFill>
              <a:srgbClr val="BBA85C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6601968" y="141732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HSI Scale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</a:t>
            </a:r>
            <a:endParaRPr lang="en-US" sz="1150" dirty="0"/>
          </a:p>
        </p:txBody>
      </p:sp>
      <p:sp>
        <p:nvSpPr>
          <p:cNvPr id="86" name="Shape 81"/>
          <p:cNvSpPr/>
          <p:nvPr/>
        </p:nvSpPr>
        <p:spPr>
          <a:xfrm>
            <a:off x="6583680" y="1965960"/>
            <a:ext cx="877824" cy="960120"/>
          </a:xfrm>
          <a:prstGeom prst="roundRect">
            <a:avLst>
              <a:gd name="adj" fmla="val 6250"/>
            </a:avLst>
          </a:prstGeom>
          <a:solidFill>
            <a:srgbClr val="E7DAAC">
              <a:alpha val="82000"/>
            </a:srgbClr>
          </a:solidFill>
          <a:ln w="10160">
            <a:solidFill>
              <a:srgbClr val="C8B772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6656832" y="20756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Coarse evidence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{Ccoarse, Fscene}</a:t>
            </a:r>
            <a:endParaRPr lang="en-US" sz="800" dirty="0"/>
          </a:p>
        </p:txBody>
      </p:sp>
      <p:sp>
        <p:nvSpPr>
          <p:cNvPr id="88" name="Shape 83"/>
          <p:cNvSpPr/>
          <p:nvPr/>
        </p:nvSpPr>
        <p:spPr>
          <a:xfrm>
            <a:off x="6784848" y="2395728"/>
            <a:ext cx="457200" cy="347472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807348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7013448" y="2587752"/>
            <a:ext cx="146304" cy="-109728"/>
          </a:xfrm>
          <a:prstGeom prst="line">
            <a:avLst/>
          </a:prstGeom>
          <a:noFill/>
          <a:ln w="15240">
            <a:solidFill>
              <a:srgbClr val="807348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7022592" y="2944368"/>
            <a:ext cx="0" cy="192024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91" name="Shape 86"/>
          <p:cNvSpPr/>
          <p:nvPr/>
        </p:nvSpPr>
        <p:spPr>
          <a:xfrm>
            <a:off x="6583680" y="3154680"/>
            <a:ext cx="877824" cy="1051560"/>
          </a:xfrm>
          <a:prstGeom prst="roundRect">
            <a:avLst>
              <a:gd name="adj" fmla="val 6250"/>
            </a:avLst>
          </a:prstGeom>
          <a:solidFill>
            <a:srgbClr val="FFFFFF">
              <a:alpha val="64000"/>
            </a:srgbClr>
          </a:solidFill>
          <a:ln w="10160">
            <a:solidFill>
              <a:srgbClr val="C8B772"/>
            </a:solidFill>
            <a:prstDash val="solid"/>
          </a:ln>
        </p:spPr>
      </p:sp>
      <p:sp>
        <p:nvSpPr>
          <p:cNvPr id="92" name="Text 87"/>
          <p:cNvSpPr/>
          <p:nvPr/>
        </p:nvSpPr>
        <p:spPr>
          <a:xfrm>
            <a:off x="6684264" y="3255264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affine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Rhsi, bhsi</a:t>
            </a:r>
            <a:endParaRPr lang="en-US" sz="850" dirty="0"/>
          </a:p>
        </p:txBody>
      </p:sp>
      <p:sp>
        <p:nvSpPr>
          <p:cNvPr id="93" name="Shape 88"/>
          <p:cNvSpPr/>
          <p:nvPr/>
        </p:nvSpPr>
        <p:spPr>
          <a:xfrm>
            <a:off x="6684264" y="3675888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6830568" y="3675888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5" name="Shape 90"/>
          <p:cNvSpPr/>
          <p:nvPr/>
        </p:nvSpPr>
        <p:spPr>
          <a:xfrm>
            <a:off x="6976872" y="3675888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6684264" y="3822192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6830568" y="3822192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6976872" y="3822192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6684264" y="3968496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0" name="Shape 95"/>
          <p:cNvSpPr/>
          <p:nvPr/>
        </p:nvSpPr>
        <p:spPr>
          <a:xfrm>
            <a:off x="6830568" y="3968496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6976872" y="3968496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7159752" y="3685032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7159752" y="3849624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7159752" y="4014216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5" name="Text 100"/>
          <p:cNvSpPr/>
          <p:nvPr/>
        </p:nvSpPr>
        <p:spPr>
          <a:xfrm>
            <a:off x="7607808" y="244144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depth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Dmetric</a:t>
            </a:r>
            <a:endParaRPr lang="en-US" sz="850" dirty="0"/>
          </a:p>
        </p:txBody>
      </p:sp>
      <p:sp>
        <p:nvSpPr>
          <p:cNvPr id="106" name="Text 101"/>
          <p:cNvSpPr/>
          <p:nvPr/>
        </p:nvSpPr>
        <p:spPr>
          <a:xfrm>
            <a:off x="7607808" y="3721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SMPL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7607808" y="3172968"/>
            <a:ext cx="237744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08" name="Shape 103"/>
          <p:cNvSpPr/>
          <p:nvPr/>
        </p:nvSpPr>
        <p:spPr>
          <a:xfrm>
            <a:off x="7863840" y="1298448"/>
            <a:ext cx="1700784" cy="3977640"/>
          </a:xfrm>
          <a:prstGeom prst="roundRect">
            <a:avLst>
              <a:gd name="adj" fmla="val 4301"/>
            </a:avLst>
          </a:prstGeom>
          <a:solidFill>
            <a:srgbClr val="9BB8D8">
              <a:alpha val="40000"/>
            </a:srgbClr>
          </a:solidFill>
          <a:ln w="10160">
            <a:solidFill>
              <a:srgbClr val="6E91BB"/>
            </a:solidFill>
            <a:prstDash val="solid"/>
          </a:ln>
        </p:spPr>
      </p:sp>
      <p:sp>
        <p:nvSpPr>
          <p:cNvPr id="109" name="Text 104"/>
          <p:cNvSpPr/>
          <p:nvPr/>
        </p:nvSpPr>
        <p:spPr>
          <a:xfrm>
            <a:off x="8019288" y="14630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TRSTR Spatial Refinement</a:t>
            </a:r>
            <a:endParaRPr lang="en-US" sz="1050" dirty="0"/>
          </a:p>
        </p:txBody>
      </p:sp>
      <p:sp>
        <p:nvSpPr>
          <p:cNvPr id="110" name="Text 105"/>
          <p:cNvSpPr/>
          <p:nvPr/>
        </p:nvSpPr>
        <p:spPr>
          <a:xfrm>
            <a:off x="8028432" y="1883664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SMPL</a:t>
            </a:r>
            <a:endParaRPr lang="en-US" sz="850" dirty="0"/>
          </a:p>
        </p:txBody>
      </p:sp>
      <p:pic>
        <p:nvPicPr>
          <p:cNvPr id="111" name="Image 3" descr="C:\Users\ROG\PycharmProjects\vggt-omega\outputs\vis\iclr_metric_prior_packaging\pptx_assets\detail_segment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203704"/>
            <a:ext cx="466344" cy="1005840"/>
          </a:xfrm>
          <a:prstGeom prst="rect">
            <a:avLst/>
          </a:prstGeom>
        </p:spPr>
      </p:pic>
      <p:sp>
        <p:nvSpPr>
          <p:cNvPr id="112" name="Text 106"/>
          <p:cNvSpPr/>
          <p:nvPr/>
        </p:nvSpPr>
        <p:spPr>
          <a:xfrm>
            <a:off x="8732520" y="18928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96-region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matrix</a:t>
            </a:r>
            <a:endParaRPr lang="en-US" sz="850" dirty="0"/>
          </a:p>
        </p:txBody>
      </p:sp>
      <p:sp>
        <p:nvSpPr>
          <p:cNvPr id="113" name="Shape 107"/>
          <p:cNvSpPr/>
          <p:nvPr/>
        </p:nvSpPr>
        <p:spPr>
          <a:xfrm>
            <a:off x="8814816" y="2304288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4" name="Shape 108"/>
          <p:cNvSpPr/>
          <p:nvPr/>
        </p:nvSpPr>
        <p:spPr>
          <a:xfrm>
            <a:off x="8970264" y="2304288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5" name="Shape 109"/>
          <p:cNvSpPr/>
          <p:nvPr/>
        </p:nvSpPr>
        <p:spPr>
          <a:xfrm>
            <a:off x="9125712" y="2304288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6" name="Shape 110"/>
          <p:cNvSpPr/>
          <p:nvPr/>
        </p:nvSpPr>
        <p:spPr>
          <a:xfrm>
            <a:off x="9281160" y="2304288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7" name="Shape 111"/>
          <p:cNvSpPr/>
          <p:nvPr/>
        </p:nvSpPr>
        <p:spPr>
          <a:xfrm>
            <a:off x="8814816" y="2459736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8" name="Shape 112"/>
          <p:cNvSpPr/>
          <p:nvPr/>
        </p:nvSpPr>
        <p:spPr>
          <a:xfrm>
            <a:off x="8970264" y="2459736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9" name="Shape 113"/>
          <p:cNvSpPr/>
          <p:nvPr/>
        </p:nvSpPr>
        <p:spPr>
          <a:xfrm>
            <a:off x="9125712" y="2459736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0" name="Shape 114"/>
          <p:cNvSpPr/>
          <p:nvPr/>
        </p:nvSpPr>
        <p:spPr>
          <a:xfrm>
            <a:off x="9281160" y="2459736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1" name="Shape 115"/>
          <p:cNvSpPr/>
          <p:nvPr/>
        </p:nvSpPr>
        <p:spPr>
          <a:xfrm>
            <a:off x="8814816" y="2615184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8970264" y="2615184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9125712" y="2615184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4" name="Shape 118"/>
          <p:cNvSpPr/>
          <p:nvPr/>
        </p:nvSpPr>
        <p:spPr>
          <a:xfrm>
            <a:off x="9281160" y="2615184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8814816" y="2770632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6" name="Shape 120"/>
          <p:cNvSpPr/>
          <p:nvPr/>
        </p:nvSpPr>
        <p:spPr>
          <a:xfrm>
            <a:off x="8970264" y="2770632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7" name="Shape 121"/>
          <p:cNvSpPr/>
          <p:nvPr/>
        </p:nvSpPr>
        <p:spPr>
          <a:xfrm>
            <a:off x="9125712" y="2770632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8" name="Shape 122"/>
          <p:cNvSpPr/>
          <p:nvPr/>
        </p:nvSpPr>
        <p:spPr>
          <a:xfrm>
            <a:off x="9281160" y="2770632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9" name="Text 123"/>
          <p:cNvSpPr/>
          <p:nvPr/>
        </p:nvSpPr>
        <p:spPr>
          <a:xfrm>
            <a:off x="7973568" y="3474720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Multi-scale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probes</a:t>
            </a:r>
            <a:endParaRPr lang="en-US" sz="850" dirty="0"/>
          </a:p>
        </p:txBody>
      </p:sp>
      <p:sp>
        <p:nvSpPr>
          <p:cNvPr id="130" name="Shape 124"/>
          <p:cNvSpPr/>
          <p:nvPr/>
        </p:nvSpPr>
        <p:spPr>
          <a:xfrm>
            <a:off x="7982712" y="3904488"/>
            <a:ext cx="45720" cy="45720"/>
          </a:xfrm>
          <a:prstGeom prst="roundRect">
            <a:avLst>
              <a:gd name="adj" fmla="val 10000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8046720" y="3904488"/>
            <a:ext cx="45720" cy="45720"/>
          </a:xfrm>
          <a:prstGeom prst="roundRect">
            <a:avLst>
              <a:gd name="adj" fmla="val 10000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7982712" y="3968496"/>
            <a:ext cx="45720" cy="45720"/>
          </a:xfrm>
          <a:prstGeom prst="roundRect">
            <a:avLst>
              <a:gd name="adj" fmla="val 10000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3" name="Shape 127"/>
          <p:cNvSpPr/>
          <p:nvPr/>
        </p:nvSpPr>
        <p:spPr>
          <a:xfrm>
            <a:off x="8046720" y="3968496"/>
            <a:ext cx="45720" cy="45720"/>
          </a:xfrm>
          <a:prstGeom prst="roundRect">
            <a:avLst>
              <a:gd name="adj" fmla="val 10000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4" name="Shape 128"/>
          <p:cNvSpPr/>
          <p:nvPr/>
        </p:nvSpPr>
        <p:spPr>
          <a:xfrm>
            <a:off x="8165592" y="3904488"/>
            <a:ext cx="45720" cy="45720"/>
          </a:xfrm>
          <a:prstGeom prst="roundRect">
            <a:avLst>
              <a:gd name="adj" fmla="val 100000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5" name="Shape 129"/>
          <p:cNvSpPr/>
          <p:nvPr/>
        </p:nvSpPr>
        <p:spPr>
          <a:xfrm>
            <a:off x="8229600" y="3904488"/>
            <a:ext cx="45720" cy="45720"/>
          </a:xfrm>
          <a:prstGeom prst="roundRect">
            <a:avLst>
              <a:gd name="adj" fmla="val 100000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8165592" y="3968496"/>
            <a:ext cx="45720" cy="45720"/>
          </a:xfrm>
          <a:prstGeom prst="roundRect">
            <a:avLst>
              <a:gd name="adj" fmla="val 100000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7" name="Shape 131"/>
          <p:cNvSpPr/>
          <p:nvPr/>
        </p:nvSpPr>
        <p:spPr>
          <a:xfrm>
            <a:off x="8229600" y="3968496"/>
            <a:ext cx="45720" cy="45720"/>
          </a:xfrm>
          <a:prstGeom prst="roundRect">
            <a:avLst>
              <a:gd name="adj" fmla="val 100000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8" name="Shape 132"/>
          <p:cNvSpPr/>
          <p:nvPr/>
        </p:nvSpPr>
        <p:spPr>
          <a:xfrm>
            <a:off x="8348472" y="3904488"/>
            <a:ext cx="45720" cy="45720"/>
          </a:xfrm>
          <a:prstGeom prst="roundRect">
            <a:avLst>
              <a:gd name="adj" fmla="val 100000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9" name="Shape 133"/>
          <p:cNvSpPr/>
          <p:nvPr/>
        </p:nvSpPr>
        <p:spPr>
          <a:xfrm>
            <a:off x="8412480" y="3904488"/>
            <a:ext cx="45720" cy="45720"/>
          </a:xfrm>
          <a:prstGeom prst="roundRect">
            <a:avLst>
              <a:gd name="adj" fmla="val 100000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0" name="Shape 134"/>
          <p:cNvSpPr/>
          <p:nvPr/>
        </p:nvSpPr>
        <p:spPr>
          <a:xfrm>
            <a:off x="8348472" y="3968496"/>
            <a:ext cx="45720" cy="45720"/>
          </a:xfrm>
          <a:prstGeom prst="roundRect">
            <a:avLst>
              <a:gd name="adj" fmla="val 100000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1" name="Shape 135"/>
          <p:cNvSpPr/>
          <p:nvPr/>
        </p:nvSpPr>
        <p:spPr>
          <a:xfrm>
            <a:off x="8412480" y="3968496"/>
            <a:ext cx="45720" cy="45720"/>
          </a:xfrm>
          <a:prstGeom prst="roundRect">
            <a:avLst>
              <a:gd name="adj" fmla="val 100000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2" name="Shape 136"/>
          <p:cNvSpPr/>
          <p:nvPr/>
        </p:nvSpPr>
        <p:spPr>
          <a:xfrm>
            <a:off x="8531352" y="3904488"/>
            <a:ext cx="45720" cy="45720"/>
          </a:xfrm>
          <a:prstGeom prst="roundRect">
            <a:avLst>
              <a:gd name="adj" fmla="val 100000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3" name="Shape 137"/>
          <p:cNvSpPr/>
          <p:nvPr/>
        </p:nvSpPr>
        <p:spPr>
          <a:xfrm>
            <a:off x="8595360" y="3904488"/>
            <a:ext cx="45720" cy="45720"/>
          </a:xfrm>
          <a:prstGeom prst="roundRect">
            <a:avLst>
              <a:gd name="adj" fmla="val 100000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8531352" y="3968496"/>
            <a:ext cx="45720" cy="45720"/>
          </a:xfrm>
          <a:prstGeom prst="roundRect">
            <a:avLst>
              <a:gd name="adj" fmla="val 100000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8595360" y="3968496"/>
            <a:ext cx="45720" cy="45720"/>
          </a:xfrm>
          <a:prstGeom prst="roundRect">
            <a:avLst>
              <a:gd name="adj" fmla="val 100000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6" name="Text 140"/>
          <p:cNvSpPr/>
          <p:nvPr/>
        </p:nvSpPr>
        <p:spPr>
          <a:xfrm>
            <a:off x="8732520" y="3483864"/>
            <a:ext cx="6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voting</a:t>
            </a:r>
            <a:endParaRPr lang="en-US" sz="850" dirty="0"/>
          </a:p>
        </p:txBody>
      </p:sp>
      <p:sp>
        <p:nvSpPr>
          <p:cNvPr id="147" name="Shape 141"/>
          <p:cNvSpPr/>
          <p:nvPr/>
        </p:nvSpPr>
        <p:spPr>
          <a:xfrm>
            <a:off x="8915400" y="3913632"/>
            <a:ext cx="384048" cy="502920"/>
          </a:xfrm>
          <a:prstGeom prst="funnel">
            <a:avLst/>
          </a:prstGeom>
          <a:solidFill>
            <a:srgbClr val="99ADD4">
              <a:alpha val="85000"/>
            </a:srgbClr>
          </a:solidFill>
          <a:ln w="10160">
            <a:solidFill>
              <a:srgbClr val="4B78A4"/>
            </a:solidFill>
            <a:prstDash val="solid"/>
          </a:ln>
        </p:spPr>
      </p:sp>
      <p:sp>
        <p:nvSpPr>
          <p:cNvPr id="148" name="Text 142"/>
          <p:cNvSpPr/>
          <p:nvPr/>
        </p:nvSpPr>
        <p:spPr>
          <a:xfrm>
            <a:off x="8275320" y="473659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θ, β fixed</a:t>
            </a:r>
            <a:endParaRPr lang="en-US" sz="850" dirty="0"/>
          </a:p>
        </p:txBody>
      </p:sp>
      <p:sp>
        <p:nvSpPr>
          <p:cNvPr id="149" name="Shape 143"/>
          <p:cNvSpPr/>
          <p:nvPr/>
        </p:nvSpPr>
        <p:spPr>
          <a:xfrm>
            <a:off x="9573768" y="3172968"/>
            <a:ext cx="21031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50" name="Shape 144"/>
          <p:cNvSpPr/>
          <p:nvPr/>
        </p:nvSpPr>
        <p:spPr>
          <a:xfrm>
            <a:off x="9802368" y="1572768"/>
            <a:ext cx="1170432" cy="3429000"/>
          </a:xfrm>
          <a:prstGeom prst="roundRect">
            <a:avLst>
              <a:gd name="adj" fmla="val 6250"/>
            </a:avLst>
          </a:prstGeom>
          <a:solidFill>
            <a:srgbClr val="EAF4F5">
              <a:alpha val="70000"/>
            </a:srgbClr>
          </a:solidFill>
          <a:ln w="10160">
            <a:solidFill>
              <a:srgbClr val="5AAAB1"/>
            </a:solidFill>
            <a:prstDash val="solid"/>
          </a:ln>
        </p:spPr>
      </p:sp>
      <p:sp>
        <p:nvSpPr>
          <p:cNvPr id="151" name="Text 145"/>
          <p:cNvSpPr/>
          <p:nvPr/>
        </p:nvSpPr>
        <p:spPr>
          <a:xfrm>
            <a:off x="9921240" y="1773936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Track-wise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Stabilizer</a:t>
            </a:r>
            <a:endParaRPr lang="en-US" sz="1050" dirty="0"/>
          </a:p>
        </p:txBody>
      </p:sp>
      <p:sp>
        <p:nvSpPr>
          <p:cNvPr id="152" name="Text 146"/>
          <p:cNvSpPr/>
          <p:nvPr/>
        </p:nvSpPr>
        <p:spPr>
          <a:xfrm>
            <a:off x="9976104" y="2377440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9-frame window</a:t>
            </a:r>
            <a:endParaRPr lang="en-US" sz="850" dirty="0"/>
          </a:p>
        </p:txBody>
      </p:sp>
      <p:sp>
        <p:nvSpPr>
          <p:cNvPr id="153" name="Shape 147"/>
          <p:cNvSpPr/>
          <p:nvPr/>
        </p:nvSpPr>
        <p:spPr>
          <a:xfrm>
            <a:off x="9948672" y="2788920"/>
            <a:ext cx="841248" cy="0"/>
          </a:xfrm>
          <a:prstGeom prst="line">
            <a:avLst/>
          </a:prstGeom>
          <a:noFill/>
          <a:ln w="10160">
            <a:solidFill>
              <a:srgbClr val="2F3438"/>
            </a:solidFill>
            <a:prstDash val="solid"/>
          </a:ln>
        </p:spPr>
      </p:sp>
      <p:sp>
        <p:nvSpPr>
          <p:cNvPr id="154" name="Shape 148"/>
          <p:cNvSpPr/>
          <p:nvPr/>
        </p:nvSpPr>
        <p:spPr>
          <a:xfrm>
            <a:off x="9912096" y="27157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55" name="Shape 149"/>
          <p:cNvSpPr/>
          <p:nvPr/>
        </p:nvSpPr>
        <p:spPr>
          <a:xfrm>
            <a:off x="10021824" y="27157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56" name="Shape 150"/>
          <p:cNvSpPr/>
          <p:nvPr/>
        </p:nvSpPr>
        <p:spPr>
          <a:xfrm>
            <a:off x="10131552" y="27157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57" name="Shape 151"/>
          <p:cNvSpPr/>
          <p:nvPr/>
        </p:nvSpPr>
        <p:spPr>
          <a:xfrm>
            <a:off x="10241280" y="27157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58" name="Shape 152"/>
          <p:cNvSpPr/>
          <p:nvPr/>
        </p:nvSpPr>
        <p:spPr>
          <a:xfrm>
            <a:off x="10351008" y="2715768"/>
            <a:ext cx="128016" cy="128016"/>
          </a:xfrm>
          <a:prstGeom prst="ellipse">
            <a:avLst/>
          </a:prstGeom>
          <a:solidFill>
            <a:srgbClr val="99ADD4">
              <a:alpha val="95000"/>
            </a:srgbClr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59" name="Shape 153"/>
          <p:cNvSpPr/>
          <p:nvPr/>
        </p:nvSpPr>
        <p:spPr>
          <a:xfrm>
            <a:off x="10460736" y="27157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10570464" y="27157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10680192" y="27157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10789920" y="27157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63" name="Text 157"/>
          <p:cNvSpPr/>
          <p:nvPr/>
        </p:nvSpPr>
        <p:spPr>
          <a:xfrm>
            <a:off x="10341864" y="2907792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Oₜ</a:t>
            </a:r>
            <a:endParaRPr lang="en-US" sz="900" dirty="0"/>
          </a:p>
        </p:txBody>
      </p:sp>
      <p:sp>
        <p:nvSpPr>
          <p:cNvPr id="164" name="Shape 158"/>
          <p:cNvSpPr/>
          <p:nvPr/>
        </p:nvSpPr>
        <p:spPr>
          <a:xfrm>
            <a:off x="10405872" y="3127248"/>
            <a:ext cx="0" cy="192024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65" name="Text 159"/>
          <p:cNvSpPr/>
          <p:nvPr/>
        </p:nvSpPr>
        <p:spPr>
          <a:xfrm>
            <a:off x="9921240" y="33649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Neighbor-only proposal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Mₜ</a:t>
            </a:r>
            <a:endParaRPr lang="en-US" sz="830" dirty="0"/>
          </a:p>
        </p:txBody>
      </p:sp>
      <p:sp>
        <p:nvSpPr>
          <p:cNvPr id="166" name="Shape 160"/>
          <p:cNvSpPr/>
          <p:nvPr/>
        </p:nvSpPr>
        <p:spPr>
          <a:xfrm>
            <a:off x="9985248" y="3758184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78B5C0"/>
            </a:solidFill>
            <a:prstDash val="dash"/>
          </a:ln>
        </p:spPr>
      </p:sp>
      <p:sp>
        <p:nvSpPr>
          <p:cNvPr id="167" name="Shape 161"/>
          <p:cNvSpPr/>
          <p:nvPr/>
        </p:nvSpPr>
        <p:spPr>
          <a:xfrm>
            <a:off x="10168128" y="3758184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78B5C0"/>
            </a:solidFill>
            <a:prstDash val="dash"/>
          </a:ln>
        </p:spPr>
      </p:sp>
      <p:sp>
        <p:nvSpPr>
          <p:cNvPr id="168" name="Shape 162"/>
          <p:cNvSpPr/>
          <p:nvPr/>
        </p:nvSpPr>
        <p:spPr>
          <a:xfrm>
            <a:off x="10351008" y="3758184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78B5C0"/>
            </a:solidFill>
            <a:prstDash val="dash"/>
          </a:ln>
        </p:spPr>
      </p:sp>
      <p:sp>
        <p:nvSpPr>
          <p:cNvPr id="169" name="Shape 163"/>
          <p:cNvSpPr/>
          <p:nvPr/>
        </p:nvSpPr>
        <p:spPr>
          <a:xfrm>
            <a:off x="10533888" y="3758184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78B5C0"/>
            </a:solidFill>
            <a:prstDash val="dash"/>
          </a:ln>
        </p:spPr>
      </p:sp>
      <p:sp>
        <p:nvSpPr>
          <p:cNvPr id="170" name="Shape 164"/>
          <p:cNvSpPr/>
          <p:nvPr/>
        </p:nvSpPr>
        <p:spPr>
          <a:xfrm>
            <a:off x="10716768" y="3758184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78B5C0"/>
            </a:solidFill>
            <a:prstDash val="dash"/>
          </a:ln>
        </p:spPr>
      </p:sp>
      <p:sp>
        <p:nvSpPr>
          <p:cNvPr id="171" name="Shape 165"/>
          <p:cNvSpPr/>
          <p:nvPr/>
        </p:nvSpPr>
        <p:spPr>
          <a:xfrm>
            <a:off x="10405872" y="3931920"/>
            <a:ext cx="0" cy="173736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72" name="Text 166"/>
          <p:cNvSpPr/>
          <p:nvPr/>
        </p:nvSpPr>
        <p:spPr>
          <a:xfrm>
            <a:off x="10049256" y="4142232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αₜ ≤ 0.5</a:t>
            </a:r>
            <a:endParaRPr lang="en-US" sz="900" dirty="0"/>
          </a:p>
        </p:txBody>
      </p:sp>
      <p:sp>
        <p:nvSpPr>
          <p:cNvPr id="173" name="Shape 167"/>
          <p:cNvSpPr/>
          <p:nvPr/>
        </p:nvSpPr>
        <p:spPr>
          <a:xfrm>
            <a:off x="10981944" y="3172968"/>
            <a:ext cx="21031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pic>
        <p:nvPicPr>
          <p:cNvPr id="174" name="Image 4" descr="C:\Users\ROG\PycharmProjects\vggt-omega\outputs\vis\iclr_metric_prior_packaging\pptx_assets\overall_outpu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0" y="2304288"/>
            <a:ext cx="658368" cy="1024128"/>
          </a:xfrm>
          <a:prstGeom prst="rect">
            <a:avLst/>
          </a:prstGeom>
        </p:spPr>
      </p:pic>
      <p:sp>
        <p:nvSpPr>
          <p:cNvPr id="175" name="Text 168"/>
          <p:cNvSpPr/>
          <p:nvPr/>
        </p:nvSpPr>
        <p:spPr>
          <a:xfrm>
            <a:off x="11100816" y="34747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Metric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Human–Scene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</a:t>
            </a:r>
            <a:endParaRPr lang="en-US" sz="1050" dirty="0"/>
          </a:p>
        </p:txBody>
      </p:sp>
      <p:sp>
        <p:nvSpPr>
          <p:cNvPr id="176" name="Text 169"/>
          <p:cNvSpPr/>
          <p:nvPr/>
        </p:nvSpPr>
        <p:spPr>
          <a:xfrm>
            <a:off x="429768" y="69951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(A) Overall Architecture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VGGT-Omega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Prior-Guided Metric Scale Calibration</dc:title>
  <dc:subject>Editable paper architecture figure</dc:subject>
  <dc:creator>VGGT-Omega</dc:creator>
  <cp:lastModifiedBy>VGGT-Omega</cp:lastModifiedBy>
  <cp:revision>1</cp:revision>
  <dcterms:created xsi:type="dcterms:W3CDTF">2026-09-11T11:24:34Z</dcterms:created>
  <dcterms:modified xsi:type="dcterms:W3CDTF">2026-09-11T11:24:34Z</dcterms:modified>
</cp:coreProperties>
</file>