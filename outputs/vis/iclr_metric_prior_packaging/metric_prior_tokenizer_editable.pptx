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344400" cy="8229600"/>
  <p:notesSz cx="8229600" cy="12344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labels, panels, tokens, masks, arrows, and formulas are editable PowerPoint shapes. Embedded raster crops are limited to SMPL/depth/probe thumbnails.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11247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F3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Prior-Guided Metric Scale Calibration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005840" y="548640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4F59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parameter-free metric prior + human-conditioned residual refinement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64592" y="868680"/>
            <a:ext cx="12015216" cy="2331720"/>
          </a:xfrm>
          <a:prstGeom prst="roundRect">
            <a:avLst>
              <a:gd name="adj" fmla="val 3137"/>
            </a:avLst>
          </a:prstGeom>
          <a:solidFill>
            <a:srgbClr val="E7DAAC">
              <a:alpha val="2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5097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Validity-Aware Metric Prior Tokenizer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93592" y="932688"/>
            <a:ext cx="1700784" cy="274320"/>
          </a:xfrm>
          <a:prstGeom prst="roundRect">
            <a:avLst>
              <a:gd name="adj" fmla="val 20000"/>
            </a:avLst>
          </a:prstGeom>
          <a:solidFill>
            <a:srgbClr val="E9D36E">
              <a:alpha val="82000"/>
            </a:srgbClr>
          </a:solidFill>
          <a:ln w="10160">
            <a:solidFill>
              <a:srgbClr val="B49B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85032" y="950976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 · parameter-free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960120" cy="1234440"/>
          </a:xfrm>
          <a:prstGeom prst="roundRect">
            <a:avLst>
              <a:gd name="adj" fmla="val 5714"/>
            </a:avLst>
          </a:prstGeom>
          <a:solidFill>
            <a:srgbClr val="EAF4F5">
              <a:alpha val="8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3502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SMPL</a:t>
            </a:r>
            <a:endParaRPr lang="en-US" sz="1000" dirty="0"/>
          </a:p>
        </p:txBody>
      </p:sp>
      <p:pic>
        <p:nvPicPr>
          <p:cNvPr id="10" name="Image 0" descr="C:\Users\ROG\PycharmProjects\vggt-omega\outputs\vis\iclr_metric_prior_packaging\pptx_assets\metric_smp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673352"/>
            <a:ext cx="758952" cy="7498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99032" y="174650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664208" y="1280160"/>
            <a:ext cx="960120" cy="1234440"/>
          </a:xfrm>
          <a:prstGeom prst="roundRect">
            <a:avLst>
              <a:gd name="adj" fmla="val 5714"/>
            </a:avLst>
          </a:prstGeom>
          <a:solidFill>
            <a:srgbClr val="EAF4F5">
              <a:alpha val="8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737360" y="133502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depth</a:t>
            </a:r>
            <a:endParaRPr lang="en-US" sz="1000" dirty="0"/>
          </a:p>
        </p:txBody>
      </p:sp>
      <p:pic>
        <p:nvPicPr>
          <p:cNvPr id="14" name="Image 1" descr="C:\Users\ROG\PycharmProjects\vggt-omega\outputs\vis\iclr_metric_prior_packaging\pptx_assets\raw_dep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1673352"/>
            <a:ext cx="758952" cy="74980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660904" y="1901952"/>
            <a:ext cx="246888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2926080" y="1243584"/>
            <a:ext cx="6355080" cy="1417320"/>
          </a:xfrm>
          <a:prstGeom prst="roundRect">
            <a:avLst>
              <a:gd name="adj" fmla="val 3871"/>
            </a:avLst>
          </a:prstGeom>
          <a:solidFill>
            <a:srgbClr val="FFFFFF">
              <a:alpha val="68000"/>
            </a:srgbClr>
          </a:solidFill>
          <a:ln w="10160">
            <a:solidFill>
              <a:srgbClr val="8A96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54096" y="1307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geometry tokens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072384" y="155448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081528" y="1563624"/>
            <a:ext cx="402336" cy="292608"/>
          </a:xfrm>
          <a:prstGeom prst="rect">
            <a:avLst/>
          </a:prstGeom>
          <a:solidFill>
            <a:srgbClr val="E7DAAC">
              <a:alpha val="90000"/>
            </a:srgbClr>
          </a:solidFill>
          <a:ln w="8255">
            <a:solidFill>
              <a:srgbClr val="E7DAA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493008" y="1563624"/>
            <a:ext cx="411480" cy="292608"/>
          </a:xfrm>
          <a:prstGeom prst="rect">
            <a:avLst/>
          </a:prstGeom>
          <a:solidFill>
            <a:srgbClr val="EAF4F5">
              <a:alpha val="92000"/>
            </a:srgbClr>
          </a:solidFill>
          <a:ln w="8255">
            <a:solidFill>
              <a:srgbClr val="EAF4F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108960" y="1600200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zₛₘₚₗ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529584" y="16002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zdepth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4032504" y="155448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041648" y="1563624"/>
            <a:ext cx="402336" cy="292608"/>
          </a:xfrm>
          <a:prstGeom prst="rect">
            <a:avLst/>
          </a:prstGeom>
          <a:solidFill>
            <a:srgbClr val="A9CFD8">
              <a:alpha val="90000"/>
            </a:srgbClr>
          </a:solidFill>
          <a:ln w="8255">
            <a:solidFill>
              <a:srgbClr val="A9CFD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453128" y="1563624"/>
            <a:ext cx="411480" cy="292608"/>
          </a:xfrm>
          <a:prstGeom prst="rect">
            <a:avLst/>
          </a:prstGeom>
          <a:solidFill>
            <a:srgbClr val="CBBAD8">
              <a:alpha val="92000"/>
            </a:srgbClr>
          </a:solidFill>
          <a:ln w="8255">
            <a:solidFill>
              <a:srgbClr val="CBBA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069080" y="1600200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zₛₘₚₗ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489704" y="16002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zdepth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4992624" y="155448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001768" y="1563624"/>
            <a:ext cx="402336" cy="292608"/>
          </a:xfrm>
          <a:prstGeom prst="rect">
            <a:avLst/>
          </a:prstGeom>
          <a:solidFill>
            <a:srgbClr val="E9D36E">
              <a:alpha val="90000"/>
            </a:srgbClr>
          </a:solidFill>
          <a:ln w="8255">
            <a:solidFill>
              <a:srgbClr val="E9D36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413248" y="1563624"/>
            <a:ext cx="411480" cy="292608"/>
          </a:xfrm>
          <a:prstGeom prst="rect">
            <a:avLst/>
          </a:prstGeom>
          <a:solidFill>
            <a:srgbClr val="EAF4F5">
              <a:alpha val="92000"/>
            </a:srgbClr>
          </a:solidFill>
          <a:ln w="8255">
            <a:solidFill>
              <a:srgbClr val="EAF4F5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29200" y="1600200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zₛₘₚₗ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449824" y="16002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zdepth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5952744" y="155448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961888" y="1563624"/>
            <a:ext cx="402336" cy="292608"/>
          </a:xfrm>
          <a:prstGeom prst="rect">
            <a:avLst/>
          </a:prstGeom>
          <a:solidFill>
            <a:srgbClr val="99ADD4">
              <a:alpha val="90000"/>
            </a:srgbClr>
          </a:solidFill>
          <a:ln w="8255">
            <a:solidFill>
              <a:srgbClr val="99ADD4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373368" y="1563624"/>
            <a:ext cx="411480" cy="292608"/>
          </a:xfrm>
          <a:prstGeom prst="rect">
            <a:avLst/>
          </a:prstGeom>
          <a:solidFill>
            <a:srgbClr val="CBBAD8">
              <a:alpha val="92000"/>
            </a:srgbClr>
          </a:solidFill>
          <a:ln w="8255">
            <a:solidFill>
              <a:srgbClr val="CBBAD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89320" y="1600200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zₛₘₚₗ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6409944" y="16002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zdepth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6912864" y="155448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922008" y="1563624"/>
            <a:ext cx="402336" cy="292608"/>
          </a:xfrm>
          <a:prstGeom prst="rect">
            <a:avLst/>
          </a:prstGeom>
          <a:solidFill>
            <a:srgbClr val="D9ACA6">
              <a:alpha val="90000"/>
            </a:srgbClr>
          </a:solidFill>
          <a:ln w="8255">
            <a:solidFill>
              <a:srgbClr val="D9ACA6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333488" y="1563624"/>
            <a:ext cx="411480" cy="292608"/>
          </a:xfrm>
          <a:prstGeom prst="rect">
            <a:avLst/>
          </a:prstGeom>
          <a:solidFill>
            <a:srgbClr val="EAF4F5">
              <a:alpha val="92000"/>
            </a:srgbClr>
          </a:solidFill>
          <a:ln w="8255">
            <a:solidFill>
              <a:srgbClr val="EAF4F5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49440" y="1600200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zₛₘₚₗ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7370064" y="16002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zdepth</a:t>
            </a:r>
            <a:endParaRPr lang="en-US" sz="750" dirty="0"/>
          </a:p>
        </p:txBody>
      </p:sp>
      <p:sp>
        <p:nvSpPr>
          <p:cNvPr id="43" name="Shape 39"/>
          <p:cNvSpPr/>
          <p:nvPr/>
        </p:nvSpPr>
        <p:spPr>
          <a:xfrm>
            <a:off x="7872984" y="1554480"/>
            <a:ext cx="84124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882128" y="1563624"/>
            <a:ext cx="402336" cy="292608"/>
          </a:xfrm>
          <a:prstGeom prst="rect">
            <a:avLst/>
          </a:prstGeom>
          <a:solidFill>
            <a:srgbClr val="E7DAAC">
              <a:alpha val="90000"/>
            </a:srgbClr>
          </a:solidFill>
          <a:ln w="8255">
            <a:solidFill>
              <a:srgbClr val="E7DAAC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293608" y="1563624"/>
            <a:ext cx="411480" cy="292608"/>
          </a:xfrm>
          <a:prstGeom prst="rect">
            <a:avLst/>
          </a:prstGeom>
          <a:solidFill>
            <a:srgbClr val="CBBAD8">
              <a:alpha val="92000"/>
            </a:srgbClr>
          </a:solidFill>
          <a:ln w="8255">
            <a:solidFill>
              <a:srgbClr val="CBBAD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909560" y="1600200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zₛₘₚₗ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8330184" y="16002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zdepth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3054096" y="19202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Validity mask</a:t>
            </a:r>
            <a:endParaRPr lang="en-US" sz="1050" dirty="0"/>
          </a:p>
        </p:txBody>
      </p:sp>
      <p:sp>
        <p:nvSpPr>
          <p:cNvPr id="49" name="Shape 45"/>
          <p:cNvSpPr/>
          <p:nvPr/>
        </p:nvSpPr>
        <p:spPr>
          <a:xfrm>
            <a:off x="4160520" y="1920240"/>
            <a:ext cx="621792" cy="274320"/>
          </a:xfrm>
          <a:prstGeom prst="rect">
            <a:avLst/>
          </a:prstGeom>
          <a:solidFill>
            <a:srgbClr val="AFCAB2">
              <a:alpha val="75000"/>
            </a:srgbClr>
          </a:solidFill>
          <a:ln w="8255">
            <a:solidFill>
              <a:srgbClr val="AAB0AD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160520" y="193852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4818888" y="1920240"/>
            <a:ext cx="621792" cy="274320"/>
          </a:xfrm>
          <a:prstGeom prst="rect">
            <a:avLst/>
          </a:prstGeom>
          <a:solidFill>
            <a:srgbClr val="E7DAAC">
              <a:alpha val="75000"/>
            </a:srgbClr>
          </a:solidFill>
          <a:ln w="8255">
            <a:solidFill>
              <a:srgbClr val="AAB0AD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818888" y="193852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53" name="Shape 49"/>
          <p:cNvSpPr/>
          <p:nvPr/>
        </p:nvSpPr>
        <p:spPr>
          <a:xfrm>
            <a:off x="5477256" y="1920240"/>
            <a:ext cx="621792" cy="274320"/>
          </a:xfrm>
          <a:prstGeom prst="rect">
            <a:avLst/>
          </a:prstGeom>
          <a:solidFill>
            <a:srgbClr val="E8E8E2">
              <a:alpha val="48000"/>
            </a:srgbClr>
          </a:solidFill>
          <a:ln w="8255">
            <a:solidFill>
              <a:srgbClr val="AAB0AD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5477256" y="193852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EA4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 dirty="0"/>
          </a:p>
        </p:txBody>
      </p:sp>
      <p:sp>
        <p:nvSpPr>
          <p:cNvPr id="55" name="Shape 51"/>
          <p:cNvSpPr/>
          <p:nvPr/>
        </p:nvSpPr>
        <p:spPr>
          <a:xfrm>
            <a:off x="6135624" y="1920240"/>
            <a:ext cx="621792" cy="274320"/>
          </a:xfrm>
          <a:prstGeom prst="rect">
            <a:avLst/>
          </a:prstGeom>
          <a:solidFill>
            <a:srgbClr val="E7DAAC">
              <a:alpha val="75000"/>
            </a:srgbClr>
          </a:solidFill>
          <a:ln w="8255">
            <a:solidFill>
              <a:srgbClr val="AAB0AD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135624" y="193852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6793992" y="1920240"/>
            <a:ext cx="621792" cy="274320"/>
          </a:xfrm>
          <a:prstGeom prst="rect">
            <a:avLst/>
          </a:prstGeom>
          <a:solidFill>
            <a:srgbClr val="AFCAB2">
              <a:alpha val="75000"/>
            </a:srgbClr>
          </a:solidFill>
          <a:ln w="8255">
            <a:solidFill>
              <a:srgbClr val="AAB0AD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6793992" y="193852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7452360" y="1920240"/>
            <a:ext cx="621792" cy="274320"/>
          </a:xfrm>
          <a:prstGeom prst="rect">
            <a:avLst/>
          </a:prstGeom>
          <a:solidFill>
            <a:srgbClr val="E8E8E2">
              <a:alpha val="48000"/>
            </a:srgbClr>
          </a:solidFill>
          <a:ln w="8255">
            <a:solidFill>
              <a:srgbClr val="AAB0AD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7452360" y="1938528"/>
            <a:ext cx="621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EA4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 dirty="0"/>
          </a:p>
        </p:txBody>
      </p:sp>
      <p:sp>
        <p:nvSpPr>
          <p:cNvPr id="61" name="Text 57"/>
          <p:cNvSpPr/>
          <p:nvPr/>
        </p:nvSpPr>
        <p:spPr>
          <a:xfrm>
            <a:off x="3054096" y="2304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hypothesis tokens {sᵢ}</a:t>
            </a:r>
            <a:endParaRPr lang="en-US" sz="1000" dirty="0"/>
          </a:p>
        </p:txBody>
      </p:sp>
      <p:sp>
        <p:nvSpPr>
          <p:cNvPr id="62" name="Shape 58"/>
          <p:cNvSpPr/>
          <p:nvPr/>
        </p:nvSpPr>
        <p:spPr>
          <a:xfrm>
            <a:off x="4251960" y="2276856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157216" y="2276856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6492240" y="2276856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7406640" y="2276856"/>
            <a:ext cx="658368" cy="292608"/>
          </a:xfrm>
          <a:prstGeom prst="roundRect">
            <a:avLst>
              <a:gd name="adj" fmla="val 15625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4471416" y="2194560"/>
            <a:ext cx="0" cy="73152"/>
          </a:xfrm>
          <a:prstGeom prst="line">
            <a:avLst/>
          </a:prstGeom>
          <a:noFill/>
          <a:ln w="10160">
            <a:solidFill>
              <a:srgbClr val="6E7C80"/>
            </a:solidFill>
            <a:prstDash val="solid"/>
            <a:tailEnd type="triangle"/>
          </a:ln>
        </p:spPr>
      </p:sp>
      <p:sp>
        <p:nvSpPr>
          <p:cNvPr id="67" name="Shape 63"/>
          <p:cNvSpPr/>
          <p:nvPr/>
        </p:nvSpPr>
        <p:spPr>
          <a:xfrm>
            <a:off x="5376672" y="2194560"/>
            <a:ext cx="0" cy="73152"/>
          </a:xfrm>
          <a:prstGeom prst="line">
            <a:avLst/>
          </a:prstGeom>
          <a:noFill/>
          <a:ln w="10160">
            <a:solidFill>
              <a:srgbClr val="6E7C80"/>
            </a:solidFill>
            <a:prstDash val="solid"/>
            <a:tailEnd type="triangle"/>
          </a:ln>
        </p:spPr>
      </p:sp>
      <p:sp>
        <p:nvSpPr>
          <p:cNvPr id="68" name="Shape 64"/>
          <p:cNvSpPr/>
          <p:nvPr/>
        </p:nvSpPr>
        <p:spPr>
          <a:xfrm>
            <a:off x="6711696" y="2194560"/>
            <a:ext cx="0" cy="73152"/>
          </a:xfrm>
          <a:prstGeom prst="line">
            <a:avLst/>
          </a:prstGeom>
          <a:noFill/>
          <a:ln w="10160">
            <a:solidFill>
              <a:srgbClr val="6E7C80"/>
            </a:solidFill>
            <a:prstDash val="solid"/>
            <a:tailEnd type="triangle"/>
          </a:ln>
        </p:spPr>
      </p:sp>
      <p:sp>
        <p:nvSpPr>
          <p:cNvPr id="69" name="Shape 65"/>
          <p:cNvSpPr/>
          <p:nvPr/>
        </p:nvSpPr>
        <p:spPr>
          <a:xfrm>
            <a:off x="7626096" y="2194560"/>
            <a:ext cx="0" cy="73152"/>
          </a:xfrm>
          <a:prstGeom prst="line">
            <a:avLst/>
          </a:prstGeom>
          <a:noFill/>
          <a:ln w="10160">
            <a:solidFill>
              <a:srgbClr val="6E7C80"/>
            </a:solidFill>
            <a:prstDash val="solid"/>
            <a:tailEnd type="triangle"/>
          </a:ln>
        </p:spPr>
      </p:sp>
      <p:sp>
        <p:nvSpPr>
          <p:cNvPr id="70" name="Shape 66"/>
          <p:cNvSpPr/>
          <p:nvPr/>
        </p:nvSpPr>
        <p:spPr>
          <a:xfrm>
            <a:off x="8156448" y="2423160"/>
            <a:ext cx="329184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71" name="Shape 67"/>
          <p:cNvSpPr/>
          <p:nvPr/>
        </p:nvSpPr>
        <p:spPr>
          <a:xfrm>
            <a:off x="8503920" y="2176272"/>
            <a:ext cx="1417320" cy="512064"/>
          </a:xfrm>
          <a:prstGeom prst="roundRect">
            <a:avLst>
              <a:gd name="adj" fmla="val 12500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8613648" y="2231136"/>
            <a:ext cx="11978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 median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</a:t>
            </a:r>
            <a:endParaRPr lang="en-US" sz="1100" dirty="0"/>
          </a:p>
        </p:txBody>
      </p:sp>
      <p:sp>
        <p:nvSpPr>
          <p:cNvPr id="73" name="Shape 69"/>
          <p:cNvSpPr/>
          <p:nvPr/>
        </p:nvSpPr>
        <p:spPr>
          <a:xfrm>
            <a:off x="9966960" y="2423160"/>
            <a:ext cx="27432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74" name="Shape 70"/>
          <p:cNvSpPr/>
          <p:nvPr/>
        </p:nvSpPr>
        <p:spPr>
          <a:xfrm>
            <a:off x="10277856" y="2039112"/>
            <a:ext cx="987552" cy="987552"/>
          </a:xfrm>
          <a:prstGeom prst="ellipse">
            <a:avLst/>
          </a:prstGeom>
          <a:solidFill>
            <a:srgbClr val="E9D36E">
              <a:alpha val="95000"/>
            </a:srgbClr>
          </a:solidFill>
          <a:ln w="11430">
            <a:solidFill>
              <a:srgbClr val="A68C3C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10387584" y="2221992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prior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coarse</a:t>
            </a:r>
            <a:endParaRPr lang="en-US" sz="1150" dirty="0"/>
          </a:p>
        </p:txBody>
      </p:sp>
      <p:sp>
        <p:nvSpPr>
          <p:cNvPr id="76" name="Shape 72"/>
          <p:cNvSpPr/>
          <p:nvPr/>
        </p:nvSpPr>
        <p:spPr>
          <a:xfrm>
            <a:off x="164592" y="3401568"/>
            <a:ext cx="12015216" cy="3685032"/>
          </a:xfrm>
          <a:prstGeom prst="roundRect">
            <a:avLst>
              <a:gd name="adj" fmla="val 1985"/>
            </a:avLst>
          </a:prstGeom>
          <a:solidFill>
            <a:srgbClr val="EEF5EE">
              <a:alpha val="68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310896" y="3502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Human-Conditioned Residual Calibration</a:t>
            </a:r>
            <a:endParaRPr lang="en-US" sz="1500" dirty="0"/>
          </a:p>
        </p:txBody>
      </p:sp>
      <p:sp>
        <p:nvSpPr>
          <p:cNvPr id="78" name="Shape 74"/>
          <p:cNvSpPr/>
          <p:nvPr/>
        </p:nvSpPr>
        <p:spPr>
          <a:xfrm>
            <a:off x="347472" y="4480560"/>
            <a:ext cx="960120" cy="1508760"/>
          </a:xfrm>
          <a:prstGeom prst="roundRect">
            <a:avLst>
              <a:gd name="adj" fmla="val 5714"/>
            </a:avLst>
          </a:prstGeom>
          <a:solidFill>
            <a:srgbClr val="EAF4F5">
              <a:alpha val="8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420624" y="4535424"/>
            <a:ext cx="813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VGGT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Dᵥggt</a:t>
            </a:r>
            <a:endParaRPr lang="en-US" sz="1000" dirty="0"/>
          </a:p>
        </p:txBody>
      </p:sp>
      <p:pic>
        <p:nvPicPr>
          <p:cNvPr id="80" name="Image 2" descr="C:\Users\ROG\PycharmProjects\vggt-omega\outputs\vis\iclr_metric_prior_packaging\pptx_assets\raw_depth_low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4873752"/>
            <a:ext cx="758952" cy="1024128"/>
          </a:xfrm>
          <a:prstGeom prst="rect">
            <a:avLst/>
          </a:prstGeom>
        </p:spPr>
      </p:pic>
      <p:sp>
        <p:nvSpPr>
          <p:cNvPr id="81" name="Shape 76"/>
          <p:cNvSpPr/>
          <p:nvPr/>
        </p:nvSpPr>
        <p:spPr>
          <a:xfrm>
            <a:off x="1316736" y="5239512"/>
            <a:ext cx="237744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82" name="Shape 77"/>
          <p:cNvSpPr/>
          <p:nvPr/>
        </p:nvSpPr>
        <p:spPr>
          <a:xfrm>
            <a:off x="1572768" y="4782312"/>
            <a:ext cx="1051560" cy="914400"/>
          </a:xfrm>
          <a:prstGeom prst="roundRect">
            <a:avLst>
              <a:gd name="adj" fmla="val 8000"/>
            </a:avLst>
          </a:prstGeom>
          <a:solidFill>
            <a:srgbClr val="A9CFD8">
              <a:alpha val="8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3" name="Text 78"/>
          <p:cNvSpPr/>
          <p:nvPr/>
        </p:nvSpPr>
        <p:spPr>
          <a:xfrm>
            <a:off x="1682496" y="4946904"/>
            <a:ext cx="832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prior</a:t>
            </a:r>
            <a:endParaRPr lang="en-US" sz="1200" dirty="0"/>
          </a:p>
        </p:txBody>
      </p:sp>
      <p:sp>
        <p:nvSpPr>
          <p:cNvPr id="84" name="Shape 79"/>
          <p:cNvSpPr/>
          <p:nvPr/>
        </p:nvSpPr>
        <p:spPr>
          <a:xfrm>
            <a:off x="2633472" y="5239512"/>
            <a:ext cx="22860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85" name="Shape 80"/>
          <p:cNvSpPr/>
          <p:nvPr/>
        </p:nvSpPr>
        <p:spPr>
          <a:xfrm>
            <a:off x="2880360" y="4480560"/>
            <a:ext cx="1005840" cy="1508760"/>
          </a:xfrm>
          <a:prstGeom prst="roundRect">
            <a:avLst>
              <a:gd name="adj" fmla="val 5455"/>
            </a:avLst>
          </a:prstGeom>
          <a:solidFill>
            <a:srgbClr val="EAF4F5">
              <a:alpha val="8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86" name="Text 81"/>
          <p:cNvSpPr/>
          <p:nvPr/>
        </p:nvSpPr>
        <p:spPr>
          <a:xfrm>
            <a:off x="2953512" y="4535424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Coarse depth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Dcoarse</a:t>
            </a:r>
            <a:endParaRPr lang="en-US" sz="1000" dirty="0"/>
          </a:p>
        </p:txBody>
      </p:sp>
      <p:pic>
        <p:nvPicPr>
          <p:cNvPr id="87" name="Image 3" descr="C:\Users\ROG\PycharmProjects\vggt-omega\outputs\vis\iclr_metric_prior_packaging\pptx_assets\coarse_dep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944" y="4873752"/>
            <a:ext cx="804672" cy="1024128"/>
          </a:xfrm>
          <a:prstGeom prst="rect">
            <a:avLst/>
          </a:prstGeom>
        </p:spPr>
      </p:pic>
      <p:sp>
        <p:nvSpPr>
          <p:cNvPr id="88" name="Shape 82"/>
          <p:cNvSpPr/>
          <p:nvPr/>
        </p:nvSpPr>
        <p:spPr>
          <a:xfrm>
            <a:off x="3904488" y="5239512"/>
            <a:ext cx="21031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89" name="Shape 83"/>
          <p:cNvSpPr/>
          <p:nvPr/>
        </p:nvSpPr>
        <p:spPr>
          <a:xfrm>
            <a:off x="4133088" y="4069080"/>
            <a:ext cx="4389120" cy="2423160"/>
          </a:xfrm>
          <a:prstGeom prst="roundRect">
            <a:avLst>
              <a:gd name="adj" fmla="val 3019"/>
            </a:avLst>
          </a:prstGeom>
          <a:solidFill>
            <a:srgbClr val="EEF5EE">
              <a:alpha val="85000"/>
            </a:srgbClr>
          </a:solidFill>
          <a:ln w="10160">
            <a:solidFill>
              <a:srgbClr val="7C9586"/>
            </a:solidFill>
            <a:prstDash val="solid"/>
          </a:ln>
        </p:spPr>
      </p:sp>
      <p:sp>
        <p:nvSpPr>
          <p:cNvPr id="90" name="Text 84"/>
          <p:cNvSpPr/>
          <p:nvPr/>
        </p:nvSpPr>
        <p:spPr>
          <a:xfrm>
            <a:off x="4279392" y="41605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Anchor–Scene Interaction</a:t>
            </a:r>
            <a:endParaRPr lang="en-US" sz="1350" dirty="0"/>
          </a:p>
        </p:txBody>
      </p:sp>
      <p:sp>
        <p:nvSpPr>
          <p:cNvPr id="91" name="Text 85"/>
          <p:cNvSpPr/>
          <p:nvPr/>
        </p:nvSpPr>
        <p:spPr>
          <a:xfrm>
            <a:off x="4297680" y="44897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body-anchor tokens</a:t>
            </a:r>
            <a:endParaRPr lang="en-US" sz="950" dirty="0"/>
          </a:p>
        </p:txBody>
      </p:sp>
      <p:sp>
        <p:nvSpPr>
          <p:cNvPr id="92" name="Shape 86"/>
          <p:cNvSpPr/>
          <p:nvPr/>
        </p:nvSpPr>
        <p:spPr>
          <a:xfrm>
            <a:off x="4370832" y="47365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3" name="Shape 87"/>
          <p:cNvSpPr/>
          <p:nvPr/>
        </p:nvSpPr>
        <p:spPr>
          <a:xfrm>
            <a:off x="4626864" y="47365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4" name="Shape 88"/>
          <p:cNvSpPr/>
          <p:nvPr/>
        </p:nvSpPr>
        <p:spPr>
          <a:xfrm>
            <a:off x="4882896" y="47365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5" name="Shape 89"/>
          <p:cNvSpPr/>
          <p:nvPr/>
        </p:nvSpPr>
        <p:spPr>
          <a:xfrm>
            <a:off x="5138928" y="47365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6" name="Shape 90"/>
          <p:cNvSpPr/>
          <p:nvPr/>
        </p:nvSpPr>
        <p:spPr>
          <a:xfrm>
            <a:off x="5394960" y="47365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7" name="Shape 91"/>
          <p:cNvSpPr/>
          <p:nvPr/>
        </p:nvSpPr>
        <p:spPr>
          <a:xfrm>
            <a:off x="5650992" y="47365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8" name="Shape 92"/>
          <p:cNvSpPr/>
          <p:nvPr/>
        </p:nvSpPr>
        <p:spPr>
          <a:xfrm>
            <a:off x="4370832" y="49651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99" name="Shape 93"/>
          <p:cNvSpPr/>
          <p:nvPr/>
        </p:nvSpPr>
        <p:spPr>
          <a:xfrm>
            <a:off x="4626864" y="49651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0" name="Shape 94"/>
          <p:cNvSpPr/>
          <p:nvPr/>
        </p:nvSpPr>
        <p:spPr>
          <a:xfrm>
            <a:off x="4882896" y="49651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1" name="Shape 95"/>
          <p:cNvSpPr/>
          <p:nvPr/>
        </p:nvSpPr>
        <p:spPr>
          <a:xfrm>
            <a:off x="5138928" y="49651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2" name="Shape 96"/>
          <p:cNvSpPr/>
          <p:nvPr/>
        </p:nvSpPr>
        <p:spPr>
          <a:xfrm>
            <a:off x="5394960" y="49651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3" name="Shape 97"/>
          <p:cNvSpPr/>
          <p:nvPr/>
        </p:nvSpPr>
        <p:spPr>
          <a:xfrm>
            <a:off x="5650992" y="49651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4" name="Shape 98"/>
          <p:cNvSpPr/>
          <p:nvPr/>
        </p:nvSpPr>
        <p:spPr>
          <a:xfrm>
            <a:off x="4370832" y="51937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5" name="Shape 99"/>
          <p:cNvSpPr/>
          <p:nvPr/>
        </p:nvSpPr>
        <p:spPr>
          <a:xfrm>
            <a:off x="4626864" y="51937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6" name="Shape 100"/>
          <p:cNvSpPr/>
          <p:nvPr/>
        </p:nvSpPr>
        <p:spPr>
          <a:xfrm>
            <a:off x="4882896" y="51937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7" name="Shape 101"/>
          <p:cNvSpPr/>
          <p:nvPr/>
        </p:nvSpPr>
        <p:spPr>
          <a:xfrm>
            <a:off x="5138928" y="51937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8" name="Shape 102"/>
          <p:cNvSpPr/>
          <p:nvPr/>
        </p:nvSpPr>
        <p:spPr>
          <a:xfrm>
            <a:off x="5394960" y="51937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09" name="Shape 103"/>
          <p:cNvSpPr/>
          <p:nvPr/>
        </p:nvSpPr>
        <p:spPr>
          <a:xfrm>
            <a:off x="5650992" y="51937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0" name="Shape 104"/>
          <p:cNvSpPr/>
          <p:nvPr/>
        </p:nvSpPr>
        <p:spPr>
          <a:xfrm>
            <a:off x="4370832" y="54223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1" name="Shape 105"/>
          <p:cNvSpPr/>
          <p:nvPr/>
        </p:nvSpPr>
        <p:spPr>
          <a:xfrm>
            <a:off x="4626864" y="54223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2" name="Shape 106"/>
          <p:cNvSpPr/>
          <p:nvPr/>
        </p:nvSpPr>
        <p:spPr>
          <a:xfrm>
            <a:off x="4882896" y="54223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FCAB2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3" name="Shape 107"/>
          <p:cNvSpPr/>
          <p:nvPr/>
        </p:nvSpPr>
        <p:spPr>
          <a:xfrm>
            <a:off x="5138928" y="54223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4" name="Shape 108"/>
          <p:cNvSpPr/>
          <p:nvPr/>
        </p:nvSpPr>
        <p:spPr>
          <a:xfrm>
            <a:off x="5394960" y="54223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5" name="Shape 109"/>
          <p:cNvSpPr/>
          <p:nvPr/>
        </p:nvSpPr>
        <p:spPr>
          <a:xfrm>
            <a:off x="5650992" y="5422392"/>
            <a:ext cx="182880" cy="155448"/>
          </a:xfrm>
          <a:prstGeom prst="roundRect">
            <a:avLst>
              <a:gd name="adj" fmla="val 29412"/>
            </a:avLst>
          </a:prstGeom>
          <a:solidFill>
            <a:srgbClr val="D9ACA6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16" name="Text 110"/>
          <p:cNvSpPr/>
          <p:nvPr/>
        </p:nvSpPr>
        <p:spPr>
          <a:xfrm>
            <a:off x="5687568" y="44897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scene probes</a:t>
            </a:r>
            <a:endParaRPr lang="en-US" sz="950" dirty="0"/>
          </a:p>
        </p:txBody>
      </p:sp>
      <p:pic>
        <p:nvPicPr>
          <p:cNvPr id="117" name="Image 4" descr="C:\Users\ROG\PycharmProjects\vggt-omega\outputs\vis\iclr_metric_prior_packaging\pptx_assets\probe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4745736"/>
            <a:ext cx="402336" cy="402336"/>
          </a:xfrm>
          <a:prstGeom prst="rect">
            <a:avLst/>
          </a:prstGeom>
        </p:spPr>
      </p:pic>
      <p:pic>
        <p:nvPicPr>
          <p:cNvPr id="118" name="Image 5" descr="C:\Users\ROG\PycharmProjects\vggt-omega\outputs\vis\iclr_metric_prior_packaging\pptx_assets\probe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4745736"/>
            <a:ext cx="402336" cy="402336"/>
          </a:xfrm>
          <a:prstGeom prst="rect">
            <a:avLst/>
          </a:prstGeom>
        </p:spPr>
      </p:pic>
      <p:pic>
        <p:nvPicPr>
          <p:cNvPr id="119" name="Image 6" descr="C:\Users\ROG\PycharmProjects\vggt-omega\outputs\vis\iclr_metric_prior_packaging\pptx_assets\probe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976" y="4745736"/>
            <a:ext cx="402336" cy="402336"/>
          </a:xfrm>
          <a:prstGeom prst="rect">
            <a:avLst/>
          </a:prstGeom>
        </p:spPr>
      </p:pic>
      <p:sp>
        <p:nvSpPr>
          <p:cNvPr id="120" name="Text 111"/>
          <p:cNvSpPr/>
          <p:nvPr/>
        </p:nvSpPr>
        <p:spPr>
          <a:xfrm>
            <a:off x="4297680" y="5733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state {θ, β, τ}</a:t>
            </a:r>
            <a:endParaRPr lang="en-US" sz="950" dirty="0"/>
          </a:p>
        </p:txBody>
      </p:sp>
      <p:sp>
        <p:nvSpPr>
          <p:cNvPr id="121" name="Shape 112"/>
          <p:cNvSpPr/>
          <p:nvPr/>
        </p:nvSpPr>
        <p:spPr>
          <a:xfrm>
            <a:off x="4389120" y="5980176"/>
            <a:ext cx="292608" cy="228600"/>
          </a:xfrm>
          <a:prstGeom prst="roundRect">
            <a:avLst>
              <a:gd name="adj" fmla="val 20000"/>
            </a:avLst>
          </a:prstGeom>
          <a:solidFill>
            <a:srgbClr val="E7DAAC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2" name="Shape 113"/>
          <p:cNvSpPr/>
          <p:nvPr/>
        </p:nvSpPr>
        <p:spPr>
          <a:xfrm>
            <a:off x="4736592" y="5980176"/>
            <a:ext cx="292608" cy="228600"/>
          </a:xfrm>
          <a:prstGeom prst="roundRect">
            <a:avLst>
              <a:gd name="adj" fmla="val 20000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3" name="Shape 114"/>
          <p:cNvSpPr/>
          <p:nvPr/>
        </p:nvSpPr>
        <p:spPr>
          <a:xfrm>
            <a:off x="5084064" y="5980176"/>
            <a:ext cx="292608" cy="228600"/>
          </a:xfrm>
          <a:prstGeom prst="roundRect">
            <a:avLst>
              <a:gd name="adj" fmla="val 20000"/>
            </a:avLst>
          </a:prstGeom>
          <a:solidFill>
            <a:srgbClr val="CBBA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4" name="Shape 115"/>
          <p:cNvSpPr/>
          <p:nvPr/>
        </p:nvSpPr>
        <p:spPr>
          <a:xfrm>
            <a:off x="5431536" y="5980176"/>
            <a:ext cx="292608" cy="228600"/>
          </a:xfrm>
          <a:prstGeom prst="roundRect">
            <a:avLst>
              <a:gd name="adj" fmla="val 20000"/>
            </a:avLst>
          </a:prstGeom>
          <a:solidFill>
            <a:srgbClr val="E9D36E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25" name="Shape 116"/>
          <p:cNvSpPr/>
          <p:nvPr/>
        </p:nvSpPr>
        <p:spPr>
          <a:xfrm>
            <a:off x="6355080" y="4590288"/>
            <a:ext cx="13716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</a:ln>
        </p:spPr>
      </p:sp>
      <p:sp>
        <p:nvSpPr>
          <p:cNvPr id="126" name="Shape 117"/>
          <p:cNvSpPr/>
          <p:nvPr/>
        </p:nvSpPr>
        <p:spPr>
          <a:xfrm>
            <a:off x="6492240" y="4590288"/>
            <a:ext cx="0" cy="155448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</a:ln>
        </p:spPr>
      </p:sp>
      <p:sp>
        <p:nvSpPr>
          <p:cNvPr id="127" name="Shape 118"/>
          <p:cNvSpPr/>
          <p:nvPr/>
        </p:nvSpPr>
        <p:spPr>
          <a:xfrm>
            <a:off x="6355080" y="6144768"/>
            <a:ext cx="13716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</a:ln>
        </p:spPr>
      </p:sp>
      <p:sp>
        <p:nvSpPr>
          <p:cNvPr id="128" name="Shape 119"/>
          <p:cNvSpPr/>
          <p:nvPr/>
        </p:nvSpPr>
        <p:spPr>
          <a:xfrm>
            <a:off x="6492240" y="5358384"/>
            <a:ext cx="22860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29" name="Shape 120"/>
          <p:cNvSpPr/>
          <p:nvPr/>
        </p:nvSpPr>
        <p:spPr>
          <a:xfrm>
            <a:off x="6748272" y="4828032"/>
            <a:ext cx="868680" cy="1005840"/>
          </a:xfrm>
          <a:prstGeom prst="roundRect">
            <a:avLst>
              <a:gd name="adj" fmla="val 8421"/>
            </a:avLst>
          </a:prstGeom>
          <a:solidFill>
            <a:srgbClr val="9BB8D8">
              <a:alpha val="82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0" name="Text 121"/>
          <p:cNvSpPr/>
          <p:nvPr/>
        </p:nvSpPr>
        <p:spPr>
          <a:xfrm>
            <a:off x="6821424" y="4919472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1050" dirty="0"/>
          </a:p>
        </p:txBody>
      </p:sp>
      <p:sp>
        <p:nvSpPr>
          <p:cNvPr id="131" name="Shape 122"/>
          <p:cNvSpPr/>
          <p:nvPr/>
        </p:nvSpPr>
        <p:spPr>
          <a:xfrm>
            <a:off x="6922008" y="523036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2" name="Shape 123"/>
          <p:cNvSpPr/>
          <p:nvPr/>
        </p:nvSpPr>
        <p:spPr>
          <a:xfrm>
            <a:off x="7123176" y="523036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3" name="Shape 124"/>
          <p:cNvSpPr/>
          <p:nvPr/>
        </p:nvSpPr>
        <p:spPr>
          <a:xfrm>
            <a:off x="7324344" y="5230368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4" name="Shape 125"/>
          <p:cNvSpPr/>
          <p:nvPr/>
        </p:nvSpPr>
        <p:spPr>
          <a:xfrm>
            <a:off x="6922008" y="543153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5" name="Shape 126"/>
          <p:cNvSpPr/>
          <p:nvPr/>
        </p:nvSpPr>
        <p:spPr>
          <a:xfrm>
            <a:off x="7123176" y="543153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6" name="Shape 127"/>
          <p:cNvSpPr/>
          <p:nvPr/>
        </p:nvSpPr>
        <p:spPr>
          <a:xfrm>
            <a:off x="7324344" y="5431536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7" name="Shape 128"/>
          <p:cNvSpPr/>
          <p:nvPr/>
        </p:nvSpPr>
        <p:spPr>
          <a:xfrm>
            <a:off x="6922008" y="563270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A9CF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8" name="Shape 129"/>
          <p:cNvSpPr/>
          <p:nvPr/>
        </p:nvSpPr>
        <p:spPr>
          <a:xfrm>
            <a:off x="7123176" y="563270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99ADD4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39" name="Shape 130"/>
          <p:cNvSpPr/>
          <p:nvPr/>
        </p:nvSpPr>
        <p:spPr>
          <a:xfrm>
            <a:off x="7324344" y="5632704"/>
            <a:ext cx="146304" cy="146304"/>
          </a:xfrm>
          <a:prstGeom prst="roundRect">
            <a:avLst>
              <a:gd name="adj" fmla="val 31250"/>
            </a:avLst>
          </a:prstGeom>
          <a:solidFill>
            <a:srgbClr val="9BB8D8">
              <a:alpha val="96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0" name="Shape 131"/>
          <p:cNvSpPr/>
          <p:nvPr/>
        </p:nvSpPr>
        <p:spPr>
          <a:xfrm>
            <a:off x="7616952" y="5330952"/>
            <a:ext cx="173736" cy="0"/>
          </a:xfrm>
          <a:prstGeom prst="line">
            <a:avLst/>
          </a:prstGeom>
          <a:noFill/>
          <a:ln w="12700">
            <a:solidFill>
              <a:srgbClr val="2F3438"/>
            </a:solidFill>
            <a:prstDash val="solid"/>
          </a:ln>
        </p:spPr>
      </p:sp>
      <p:sp>
        <p:nvSpPr>
          <p:cNvPr id="141" name="Shape 132"/>
          <p:cNvSpPr/>
          <p:nvPr/>
        </p:nvSpPr>
        <p:spPr>
          <a:xfrm>
            <a:off x="7790688" y="4818888"/>
            <a:ext cx="0" cy="1060704"/>
          </a:xfrm>
          <a:prstGeom prst="line">
            <a:avLst/>
          </a:prstGeom>
          <a:noFill/>
          <a:ln w="12700">
            <a:solidFill>
              <a:srgbClr val="2F3438"/>
            </a:solidFill>
            <a:prstDash val="solid"/>
          </a:ln>
        </p:spPr>
      </p:sp>
      <p:sp>
        <p:nvSpPr>
          <p:cNvPr id="142" name="Shape 133"/>
          <p:cNvSpPr/>
          <p:nvPr/>
        </p:nvSpPr>
        <p:spPr>
          <a:xfrm>
            <a:off x="7790688" y="4882896"/>
            <a:ext cx="11887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43" name="Shape 134"/>
          <p:cNvSpPr/>
          <p:nvPr/>
        </p:nvSpPr>
        <p:spPr>
          <a:xfrm>
            <a:off x="7790688" y="5788152"/>
            <a:ext cx="11887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44" name="Shape 135"/>
          <p:cNvSpPr/>
          <p:nvPr/>
        </p:nvSpPr>
        <p:spPr>
          <a:xfrm>
            <a:off x="7918704" y="4553712"/>
            <a:ext cx="475488" cy="694944"/>
          </a:xfrm>
          <a:prstGeom prst="roundRect">
            <a:avLst>
              <a:gd name="adj" fmla="val 13462"/>
            </a:avLst>
          </a:prstGeom>
          <a:solidFill>
            <a:srgbClr val="AFCAB2">
              <a:alpha val="85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5" name="Text 136"/>
          <p:cNvSpPr/>
          <p:nvPr/>
        </p:nvSpPr>
        <p:spPr>
          <a:xfrm>
            <a:off x="7955280" y="4617720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Rₕₛᵢ</a:t>
            </a:r>
            <a:endParaRPr lang="en-US" sz="900" dirty="0"/>
          </a:p>
        </p:txBody>
      </p:sp>
      <p:sp>
        <p:nvSpPr>
          <p:cNvPr id="146" name="Shape 137"/>
          <p:cNvSpPr/>
          <p:nvPr/>
        </p:nvSpPr>
        <p:spPr>
          <a:xfrm>
            <a:off x="7918704" y="5449824"/>
            <a:ext cx="475488" cy="694944"/>
          </a:xfrm>
          <a:prstGeom prst="roundRect">
            <a:avLst>
              <a:gd name="adj" fmla="val 13462"/>
            </a:avLst>
          </a:prstGeom>
          <a:solidFill>
            <a:srgbClr val="AFCAB2">
              <a:alpha val="85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47" name="Text 138"/>
          <p:cNvSpPr/>
          <p:nvPr/>
        </p:nvSpPr>
        <p:spPr>
          <a:xfrm>
            <a:off x="7955280" y="5513832"/>
            <a:ext cx="402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bₕₛᵢ</a:t>
            </a:r>
            <a:endParaRPr lang="en-US" sz="900" dirty="0"/>
          </a:p>
        </p:txBody>
      </p:sp>
      <p:sp>
        <p:nvSpPr>
          <p:cNvPr id="148" name="Shape 139"/>
          <p:cNvSpPr/>
          <p:nvPr/>
        </p:nvSpPr>
        <p:spPr>
          <a:xfrm>
            <a:off x="8531352" y="5239512"/>
            <a:ext cx="320040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49" name="Shape 140"/>
          <p:cNvSpPr/>
          <p:nvPr/>
        </p:nvSpPr>
        <p:spPr>
          <a:xfrm>
            <a:off x="8869680" y="4745736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CBBAD8">
              <a:alpha val="82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50" name="Text 141"/>
          <p:cNvSpPr/>
          <p:nvPr/>
        </p:nvSpPr>
        <p:spPr>
          <a:xfrm>
            <a:off x="9006840" y="48554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Composition</a:t>
            </a:r>
            <a:endParaRPr lang="en-US" sz="1200" dirty="0"/>
          </a:p>
        </p:txBody>
      </p:sp>
      <p:sp>
        <p:nvSpPr>
          <p:cNvPr id="151" name="Text 142"/>
          <p:cNvSpPr/>
          <p:nvPr/>
        </p:nvSpPr>
        <p:spPr>
          <a:xfrm>
            <a:off x="9070848" y="5184648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Dmetric = Rhsi · Dcoarse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bhsi</a:t>
            </a:r>
            <a:endParaRPr lang="en-US" sz="1100" dirty="0"/>
          </a:p>
        </p:txBody>
      </p:sp>
      <p:sp>
        <p:nvSpPr>
          <p:cNvPr id="152" name="Shape 143"/>
          <p:cNvSpPr/>
          <p:nvPr/>
        </p:nvSpPr>
        <p:spPr>
          <a:xfrm>
            <a:off x="10808208" y="5239512"/>
            <a:ext cx="210312" cy="0"/>
          </a:xfrm>
          <a:prstGeom prst="line">
            <a:avLst/>
          </a:prstGeom>
          <a:noFill/>
          <a:ln w="1397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53" name="Shape 144"/>
          <p:cNvSpPr/>
          <p:nvPr/>
        </p:nvSpPr>
        <p:spPr>
          <a:xfrm>
            <a:off x="11036808" y="4480560"/>
            <a:ext cx="941832" cy="1508760"/>
          </a:xfrm>
          <a:prstGeom prst="roundRect">
            <a:avLst>
              <a:gd name="adj" fmla="val 5825"/>
            </a:avLst>
          </a:prstGeom>
          <a:solidFill>
            <a:srgbClr val="EAF4F5">
              <a:alpha val="80000"/>
            </a:srgbClr>
          </a:solidFill>
          <a:ln w="10160">
            <a:solidFill>
              <a:srgbClr val="596268"/>
            </a:solidFill>
            <a:prstDash val="solid"/>
          </a:ln>
        </p:spPr>
      </p:sp>
      <p:sp>
        <p:nvSpPr>
          <p:cNvPr id="154" name="Text 145"/>
          <p:cNvSpPr/>
          <p:nvPr/>
        </p:nvSpPr>
        <p:spPr>
          <a:xfrm>
            <a:off x="11109960" y="4535424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depth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Dmetric</a:t>
            </a:r>
            <a:endParaRPr lang="en-US" sz="1000" dirty="0"/>
          </a:p>
        </p:txBody>
      </p:sp>
      <p:pic>
        <p:nvPicPr>
          <p:cNvPr id="155" name="Image 7" descr="C:\Users\ROG\PycharmProjects\vggt-omega\outputs\vis\iclr_metric_prior_packaging\pptx_assets\metric_dept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37392" y="4873752"/>
            <a:ext cx="740664" cy="1024128"/>
          </a:xfrm>
          <a:prstGeom prst="rect">
            <a:avLst/>
          </a:prstGeom>
        </p:spPr>
      </p:pic>
      <p:sp>
        <p:nvSpPr>
          <p:cNvPr id="156" name="Shape 146"/>
          <p:cNvSpPr/>
          <p:nvPr/>
        </p:nvSpPr>
        <p:spPr>
          <a:xfrm>
            <a:off x="10771632" y="3017520"/>
            <a:ext cx="0" cy="841248"/>
          </a:xfrm>
          <a:prstGeom prst="line">
            <a:avLst/>
          </a:prstGeom>
          <a:noFill/>
          <a:ln w="12700">
            <a:solidFill>
              <a:srgbClr val="2F3438"/>
            </a:solidFill>
            <a:prstDash val="solid"/>
          </a:ln>
        </p:spPr>
      </p:sp>
      <p:sp>
        <p:nvSpPr>
          <p:cNvPr id="157" name="Shape 147"/>
          <p:cNvSpPr/>
          <p:nvPr/>
        </p:nvSpPr>
        <p:spPr>
          <a:xfrm>
            <a:off x="10771632" y="3858768"/>
            <a:ext cx="-8668512" cy="0"/>
          </a:xfrm>
          <a:prstGeom prst="line">
            <a:avLst/>
          </a:prstGeom>
          <a:noFill/>
          <a:ln w="12700">
            <a:solidFill>
              <a:srgbClr val="2F3438"/>
            </a:solidFill>
            <a:prstDash val="solid"/>
          </a:ln>
        </p:spPr>
      </p:sp>
      <p:sp>
        <p:nvSpPr>
          <p:cNvPr id="158" name="Shape 148"/>
          <p:cNvSpPr/>
          <p:nvPr/>
        </p:nvSpPr>
        <p:spPr>
          <a:xfrm>
            <a:off x="2103120" y="3858768"/>
            <a:ext cx="0" cy="914400"/>
          </a:xfrm>
          <a:prstGeom prst="line">
            <a:avLst/>
          </a:prstGeom>
          <a:noFill/>
          <a:ln w="12700">
            <a:solidFill>
              <a:srgbClr val="2F3438"/>
            </a:solidFill>
            <a:prstDash val="solid"/>
            <a:tailEnd type="triangle"/>
          </a:ln>
        </p:spPr>
      </p:sp>
      <p:sp>
        <p:nvSpPr>
          <p:cNvPr id="159" name="Shape 149"/>
          <p:cNvSpPr/>
          <p:nvPr/>
        </p:nvSpPr>
        <p:spPr>
          <a:xfrm>
            <a:off x="9893808" y="3639312"/>
            <a:ext cx="786384" cy="228600"/>
          </a:xfrm>
          <a:prstGeom prst="roundRect">
            <a:avLst>
              <a:gd name="adj" fmla="val 12000"/>
            </a:avLst>
          </a:prstGeom>
          <a:solidFill>
            <a:srgbClr val="F7F6F2"/>
          </a:solidFill>
          <a:ln w="10160">
            <a:solidFill>
              <a:srgbClr val="F7F6F2"/>
            </a:solidFill>
            <a:prstDash val="solid"/>
          </a:ln>
        </p:spPr>
      </p:sp>
      <p:sp>
        <p:nvSpPr>
          <p:cNvPr id="160" name="Text 150"/>
          <p:cNvSpPr/>
          <p:nvPr/>
        </p:nvSpPr>
        <p:spPr>
          <a:xfrm>
            <a:off x="9930384" y="365760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initializes</a:t>
            </a:r>
            <a:endParaRPr lang="en-US" sz="950" dirty="0"/>
          </a:p>
        </p:txBody>
      </p:sp>
      <p:sp>
        <p:nvSpPr>
          <p:cNvPr id="161" name="Shape 151"/>
          <p:cNvSpPr/>
          <p:nvPr/>
        </p:nvSpPr>
        <p:spPr>
          <a:xfrm>
            <a:off x="1298448" y="6510528"/>
            <a:ext cx="0" cy="137160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162" name="Shape 152"/>
          <p:cNvSpPr/>
          <p:nvPr/>
        </p:nvSpPr>
        <p:spPr>
          <a:xfrm>
            <a:off x="1298448" y="6647688"/>
            <a:ext cx="9509760" cy="0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163" name="Shape 153"/>
          <p:cNvSpPr/>
          <p:nvPr/>
        </p:nvSpPr>
        <p:spPr>
          <a:xfrm>
            <a:off x="10808208" y="6647688"/>
            <a:ext cx="0" cy="-137160"/>
          </a:xfrm>
          <a:prstGeom prst="line">
            <a:avLst/>
          </a:prstGeom>
          <a:noFill/>
          <a:ln w="10160">
            <a:solidFill>
              <a:srgbClr val="2F3438"/>
            </a:solidFill>
            <a:prstDash val="solid"/>
          </a:ln>
        </p:spPr>
      </p:sp>
      <p:sp>
        <p:nvSpPr>
          <p:cNvPr id="164" name="Text 154"/>
          <p:cNvSpPr/>
          <p:nvPr/>
        </p:nvSpPr>
        <p:spPr>
          <a:xfrm>
            <a:off x="4526280" y="6702552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coarse-to-fine residual correction</a:t>
            </a:r>
            <a:endParaRPr lang="en-US" sz="1050" dirty="0"/>
          </a:p>
        </p:txBody>
      </p:sp>
      <p:sp>
        <p:nvSpPr>
          <p:cNvPr id="165" name="Shape 155"/>
          <p:cNvSpPr/>
          <p:nvPr/>
        </p:nvSpPr>
        <p:spPr>
          <a:xfrm>
            <a:off x="164592" y="7269480"/>
            <a:ext cx="12015216" cy="768096"/>
          </a:xfrm>
          <a:prstGeom prst="roundRect">
            <a:avLst>
              <a:gd name="adj" fmla="val 7143"/>
            </a:avLst>
          </a:prstGeom>
          <a:solidFill>
            <a:srgbClr val="FFFFFF">
              <a:alpha val="55000"/>
            </a:srgbClr>
          </a:solidFill>
          <a:ln w="10160">
            <a:solidFill>
              <a:srgbClr val="B6BAB8"/>
            </a:solidFill>
            <a:prstDash val="solid"/>
          </a:ln>
        </p:spPr>
      </p:sp>
      <p:sp>
        <p:nvSpPr>
          <p:cNvPr id="166" name="Text 156"/>
          <p:cNvSpPr/>
          <p:nvPr/>
        </p:nvSpPr>
        <p:spPr>
          <a:xfrm>
            <a:off x="393192" y="74797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palette</a:t>
            </a:r>
            <a:endParaRPr lang="en-US" sz="1200" dirty="0"/>
          </a:p>
        </p:txBody>
      </p:sp>
      <p:sp>
        <p:nvSpPr>
          <p:cNvPr id="167" name="Shape 157"/>
          <p:cNvSpPr/>
          <p:nvPr/>
        </p:nvSpPr>
        <p:spPr>
          <a:xfrm>
            <a:off x="1965960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E7DAAC"/>
          </a:solidFill>
          <a:ln w="10160">
            <a:solidFill>
              <a:srgbClr val="E7DAAC"/>
            </a:solidFill>
            <a:prstDash val="solid"/>
          </a:ln>
        </p:spPr>
      </p:sp>
      <p:sp>
        <p:nvSpPr>
          <p:cNvPr id="168" name="Text 158"/>
          <p:cNvSpPr/>
          <p:nvPr/>
        </p:nvSpPr>
        <p:spPr>
          <a:xfrm>
            <a:off x="1810512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#E7DAAC</a:t>
            </a:r>
            <a:endParaRPr lang="en-US" sz="850" dirty="0"/>
          </a:p>
        </p:txBody>
      </p:sp>
      <p:sp>
        <p:nvSpPr>
          <p:cNvPr id="169" name="Shape 159"/>
          <p:cNvSpPr/>
          <p:nvPr/>
        </p:nvSpPr>
        <p:spPr>
          <a:xfrm>
            <a:off x="3209544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E9D36E"/>
          </a:solidFill>
          <a:ln w="10160">
            <a:solidFill>
              <a:srgbClr val="E9D36E"/>
            </a:solidFill>
            <a:prstDash val="solid"/>
          </a:ln>
        </p:spPr>
      </p:sp>
      <p:sp>
        <p:nvSpPr>
          <p:cNvPr id="170" name="Text 160"/>
          <p:cNvSpPr/>
          <p:nvPr/>
        </p:nvSpPr>
        <p:spPr>
          <a:xfrm>
            <a:off x="3054096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#E9D36E</a:t>
            </a:r>
            <a:endParaRPr lang="en-US" sz="850" dirty="0"/>
          </a:p>
        </p:txBody>
      </p:sp>
      <p:sp>
        <p:nvSpPr>
          <p:cNvPr id="171" name="Shape 161"/>
          <p:cNvSpPr/>
          <p:nvPr/>
        </p:nvSpPr>
        <p:spPr>
          <a:xfrm>
            <a:off x="4453128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AFCAB2"/>
          </a:solidFill>
          <a:ln w="10160">
            <a:solidFill>
              <a:srgbClr val="AFCAB2"/>
            </a:solidFill>
            <a:prstDash val="solid"/>
          </a:ln>
        </p:spPr>
      </p:sp>
      <p:sp>
        <p:nvSpPr>
          <p:cNvPr id="172" name="Text 162"/>
          <p:cNvSpPr/>
          <p:nvPr/>
        </p:nvSpPr>
        <p:spPr>
          <a:xfrm>
            <a:off x="4297680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#AFCAB2</a:t>
            </a:r>
            <a:endParaRPr lang="en-US" sz="850" dirty="0"/>
          </a:p>
        </p:txBody>
      </p:sp>
      <p:sp>
        <p:nvSpPr>
          <p:cNvPr id="173" name="Shape 163"/>
          <p:cNvSpPr/>
          <p:nvPr/>
        </p:nvSpPr>
        <p:spPr>
          <a:xfrm>
            <a:off x="5696712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A9CFD8"/>
          </a:solidFill>
          <a:ln w="10160">
            <a:solidFill>
              <a:srgbClr val="A9CFD8"/>
            </a:solidFill>
            <a:prstDash val="solid"/>
          </a:ln>
        </p:spPr>
      </p:sp>
      <p:sp>
        <p:nvSpPr>
          <p:cNvPr id="174" name="Text 164"/>
          <p:cNvSpPr/>
          <p:nvPr/>
        </p:nvSpPr>
        <p:spPr>
          <a:xfrm>
            <a:off x="5541264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#A9CFD8</a:t>
            </a:r>
            <a:endParaRPr lang="en-US" sz="850" dirty="0"/>
          </a:p>
        </p:txBody>
      </p:sp>
      <p:sp>
        <p:nvSpPr>
          <p:cNvPr id="175" name="Shape 165"/>
          <p:cNvSpPr/>
          <p:nvPr/>
        </p:nvSpPr>
        <p:spPr>
          <a:xfrm>
            <a:off x="6940296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99ADD4"/>
          </a:solidFill>
          <a:ln w="10160">
            <a:solidFill>
              <a:srgbClr val="99ADD4"/>
            </a:solidFill>
            <a:prstDash val="solid"/>
          </a:ln>
        </p:spPr>
      </p:sp>
      <p:sp>
        <p:nvSpPr>
          <p:cNvPr id="176" name="Text 166"/>
          <p:cNvSpPr/>
          <p:nvPr/>
        </p:nvSpPr>
        <p:spPr>
          <a:xfrm>
            <a:off x="6784848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#99ADD4</a:t>
            </a:r>
            <a:endParaRPr lang="en-US" sz="850" dirty="0"/>
          </a:p>
        </p:txBody>
      </p:sp>
      <p:sp>
        <p:nvSpPr>
          <p:cNvPr id="177" name="Shape 167"/>
          <p:cNvSpPr/>
          <p:nvPr/>
        </p:nvSpPr>
        <p:spPr>
          <a:xfrm>
            <a:off x="8183880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CBBAD8"/>
          </a:solidFill>
          <a:ln w="10160">
            <a:solidFill>
              <a:srgbClr val="CBBAD8"/>
            </a:solidFill>
            <a:prstDash val="solid"/>
          </a:ln>
        </p:spPr>
      </p:sp>
      <p:sp>
        <p:nvSpPr>
          <p:cNvPr id="178" name="Text 168"/>
          <p:cNvSpPr/>
          <p:nvPr/>
        </p:nvSpPr>
        <p:spPr>
          <a:xfrm>
            <a:off x="8028432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#CBBAD8</a:t>
            </a:r>
            <a:endParaRPr lang="en-US" sz="850" dirty="0"/>
          </a:p>
        </p:txBody>
      </p:sp>
      <p:sp>
        <p:nvSpPr>
          <p:cNvPr id="179" name="Shape 169"/>
          <p:cNvSpPr/>
          <p:nvPr/>
        </p:nvSpPr>
        <p:spPr>
          <a:xfrm>
            <a:off x="9427464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D9ACA6"/>
          </a:solidFill>
          <a:ln w="10160">
            <a:solidFill>
              <a:srgbClr val="D9ACA6"/>
            </a:solidFill>
            <a:prstDash val="solid"/>
          </a:ln>
        </p:spPr>
      </p:sp>
      <p:sp>
        <p:nvSpPr>
          <p:cNvPr id="180" name="Text 170"/>
          <p:cNvSpPr/>
          <p:nvPr/>
        </p:nvSpPr>
        <p:spPr>
          <a:xfrm>
            <a:off x="9272016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#D9ACA6</a:t>
            </a:r>
            <a:endParaRPr lang="en-US" sz="850" dirty="0"/>
          </a:p>
        </p:txBody>
      </p:sp>
      <p:sp>
        <p:nvSpPr>
          <p:cNvPr id="181" name="Shape 171"/>
          <p:cNvSpPr/>
          <p:nvPr/>
        </p:nvSpPr>
        <p:spPr>
          <a:xfrm>
            <a:off x="10671048" y="7415784"/>
            <a:ext cx="347472" cy="292608"/>
          </a:xfrm>
          <a:prstGeom prst="roundRect">
            <a:avLst>
              <a:gd name="adj" fmla="val 15625"/>
            </a:avLst>
          </a:prstGeom>
          <a:solidFill>
            <a:srgbClr val="2F3438"/>
          </a:solidFill>
          <a:ln w="10160">
            <a:solidFill>
              <a:srgbClr val="2F3438"/>
            </a:solidFill>
            <a:prstDash val="solid"/>
          </a:ln>
        </p:spPr>
      </p:sp>
      <p:sp>
        <p:nvSpPr>
          <p:cNvPr id="182" name="Text 172"/>
          <p:cNvSpPr/>
          <p:nvPr/>
        </p:nvSpPr>
        <p:spPr>
          <a:xfrm>
            <a:off x="10515600" y="775411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#2F3438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VGGT-Omega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Prior-Guided Metric Scale Calibration</dc:title>
  <dc:subject>Editable paper architecture figure</dc:subject>
  <dc:creator>VGGT-Omega</dc:creator>
  <cp:lastModifiedBy>VGGT-Omega</cp:lastModifiedBy>
  <cp:revision>1</cp:revision>
  <dcterms:created xsi:type="dcterms:W3CDTF">2026-09-11T06:43:35Z</dcterms:created>
  <dcterms:modified xsi:type="dcterms:W3CDTF">2026-09-11T06:43:35Z</dcterms:modified>
</cp:coreProperties>
</file>