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1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TSMR: Track-aware Support Manifold Refinement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603504"/>
            <a:ext cx="11548872" cy="960120"/>
          </a:xfrm>
          <a:prstGeom prst="roundRect">
            <a:avLst>
              <a:gd name="adj" fmla="val 7619"/>
            </a:avLst>
          </a:prstGeom>
          <a:solidFill>
            <a:srgbClr val="F7F8F9"/>
          </a:solidFill>
          <a:ln w="17780">
            <a:solidFill>
              <a:srgbClr val="A7AD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9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inputs</a:t>
            </a:r>
            <a:endParaRPr lang="en-US" sz="1100" dirty="0"/>
          </a:p>
        </p:txBody>
      </p:sp>
      <p:pic>
        <p:nvPicPr>
          <p:cNvPr id="5" name="Image 0" descr="REPLACE: RGB track fram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17320" y="713232"/>
            <a:ext cx="1298448" cy="594360"/>
          </a:xfrm>
          <a:prstGeom prst="rect">
            <a:avLst/>
          </a:prstGeom>
        </p:spPr>
      </p:pic>
      <p:pic>
        <p:nvPicPr>
          <p:cNvPr id="6" name="Image 1" descr="REPLACE: aligned SMPL over point clou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704088"/>
            <a:ext cx="731520" cy="6217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8176" y="1335024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track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770632" y="1335024"/>
            <a:ext cx="10424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8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SMPL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22192" y="950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F7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160520" y="804672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E83B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70248" y="90525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8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point cloud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15000" y="804672"/>
            <a:ext cx="11430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E83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97880" y="905256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8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80467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E83B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69480" y="90525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8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mask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732520" y="80467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4E83B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887968" y="90525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8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 frames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378440" y="80467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30905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533888" y="905256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9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Stage2 trans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" y="1810512"/>
            <a:ext cx="3310128" cy="4005072"/>
          </a:xfrm>
          <a:prstGeom prst="roundRect">
            <a:avLst>
              <a:gd name="adj" fmla="val 2210"/>
            </a:avLst>
          </a:prstGeom>
          <a:solidFill>
            <a:srgbClr val="EFFAFC"/>
          </a:solidFill>
          <a:ln w="17780">
            <a:solidFill>
              <a:srgbClr val="2783A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13048" y="1810512"/>
            <a:ext cx="3072384" cy="4005072"/>
          </a:xfrm>
          <a:prstGeom prst="roundRect">
            <a:avLst>
              <a:gd name="adj" fmla="val 2381"/>
            </a:avLst>
          </a:prstGeom>
          <a:solidFill>
            <a:srgbClr val="FFF9E7"/>
          </a:solidFill>
          <a:ln w="17780">
            <a:solidFill>
              <a:srgbClr val="B87B1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68312" y="1810512"/>
            <a:ext cx="4800600" cy="4005072"/>
          </a:xfrm>
          <a:prstGeom prst="roundRect">
            <a:avLst>
              <a:gd name="adj" fmla="val 1826"/>
            </a:avLst>
          </a:prstGeom>
          <a:solidFill>
            <a:srgbClr val="FFF4ED"/>
          </a:solidFill>
          <a:ln w="17780">
            <a:solidFill>
              <a:srgbClr val="C8582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0352" y="1993392"/>
            <a:ext cx="256032" cy="256032"/>
          </a:xfrm>
          <a:prstGeom prst="ellipse">
            <a:avLst/>
          </a:prstGeom>
          <a:solidFill>
            <a:srgbClr val="2783AA"/>
          </a:solidFill>
          <a:ln w="12700">
            <a:solidFill>
              <a:srgbClr val="2783AA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0352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77824" y="1984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8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support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023360" y="1993392"/>
            <a:ext cx="256032" cy="256032"/>
          </a:xfrm>
          <a:prstGeom prst="ellipse">
            <a:avLst/>
          </a:prstGeom>
          <a:solidFill>
            <a:srgbClr val="B87B13"/>
          </a:solidFill>
          <a:ln w="12700">
            <a:solidFill>
              <a:srgbClr val="B87B1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02336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370832" y="1984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7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candidates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7278624" y="1993392"/>
            <a:ext cx="256032" cy="256032"/>
          </a:xfrm>
          <a:prstGeom prst="ellipse">
            <a:avLst/>
          </a:prstGeom>
          <a:solidFill>
            <a:srgbClr val="C8582F"/>
          </a:solidFill>
          <a:ln w="12700">
            <a:solidFill>
              <a:srgbClr val="C8582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78624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626096" y="1984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update, verify</a:t>
            </a:r>
            <a:endParaRPr lang="en-US" sz="1600" dirty="0"/>
          </a:p>
        </p:txBody>
      </p:sp>
      <p:pic>
        <p:nvPicPr>
          <p:cNvPr id="32" name="Image 2" descr="REPLACE: real aligned human-scene rende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2487168"/>
            <a:ext cx="1234440" cy="196596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1856232" y="3429000"/>
            <a:ext cx="320040" cy="0"/>
          </a:xfrm>
          <a:prstGeom prst="line">
            <a:avLst/>
          </a:prstGeom>
          <a:noFill/>
          <a:ln w="27940">
            <a:solidFill>
              <a:srgbClr val="2783AA"/>
            </a:solidFill>
            <a:prstDash val="solid"/>
            <a:tailEnd type="triangle"/>
          </a:ln>
        </p:spPr>
      </p:sp>
      <p:pic>
        <p:nvPicPr>
          <p:cNvPr id="34" name="Image 3" descr="REPLACE: real local support point cloud / surfac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94560" y="2423160"/>
            <a:ext cx="1143000" cy="18745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21208" y="4498848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human + scene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2075688" y="4498848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support surface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21792" y="4956048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8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human points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2157984" y="49560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8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ground / support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12648" y="534924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support point, normal, confidence</a:t>
            </a:r>
            <a:endParaRPr lang="en-US" sz="1100" dirty="0"/>
          </a:p>
        </p:txBody>
      </p:sp>
      <p:pic>
        <p:nvPicPr>
          <p:cNvPr id="40" name="Image 4" descr="REPLACE: real SMPL body probe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096512" y="2487168"/>
            <a:ext cx="1078992" cy="18745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69080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feet / body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376672" y="248716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7780">
            <a:solidFill>
              <a:srgbClr val="6F788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468112" y="2560320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7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No-op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5376672" y="3054096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7780">
            <a:solidFill>
              <a:srgbClr val="B87B13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468112" y="3127248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/ right foot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376672" y="3621024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7780">
            <a:solidFill>
              <a:srgbClr val="B87B13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468112" y="3694176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feet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5376672" y="418795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7780">
            <a:solidFill>
              <a:srgbClr val="B87B13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468112" y="426110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7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support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4133088" y="496519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gives a small candidate set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4087368" y="5321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8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does not invent a large translation</a:t>
            </a:r>
            <a:endParaRPr lang="en-US" sz="1050" dirty="0"/>
          </a:p>
        </p:txBody>
      </p:sp>
      <p:pic>
        <p:nvPicPr>
          <p:cNvPr id="52" name="Image 5" descr="REPLACE: real frames of one tracked identit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33488" y="2514600"/>
            <a:ext cx="1234440" cy="82296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7342632" y="331927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8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 over time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8613648" y="2907792"/>
            <a:ext cx="347472" cy="0"/>
          </a:xfrm>
          <a:prstGeom prst="line">
            <a:avLst/>
          </a:prstGeom>
          <a:noFill/>
          <a:ln w="27940">
            <a:solidFill>
              <a:srgbClr val="C8582F"/>
            </a:solidFill>
            <a:prstDash val="solid"/>
            <a:tailEnd type="triangle"/>
          </a:ln>
        </p:spPr>
      </p:sp>
      <p:sp>
        <p:nvSpPr>
          <p:cNvPr id="55" name="Shape 47"/>
          <p:cNvSpPr/>
          <p:nvPr/>
        </p:nvSpPr>
        <p:spPr>
          <a:xfrm>
            <a:off x="8997696" y="2523744"/>
            <a:ext cx="1051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7780">
            <a:solidFill>
              <a:srgbClr val="C8582F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9144000" y="267919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200" dirty="0"/>
          </a:p>
        </p:txBody>
      </p:sp>
      <p:sp>
        <p:nvSpPr>
          <p:cNvPr id="57" name="Shape 49"/>
          <p:cNvSpPr/>
          <p:nvPr/>
        </p:nvSpPr>
        <p:spPr>
          <a:xfrm>
            <a:off x="10094976" y="2907792"/>
            <a:ext cx="320040" cy="0"/>
          </a:xfrm>
          <a:prstGeom prst="line">
            <a:avLst/>
          </a:prstGeom>
          <a:noFill/>
          <a:ln w="27940">
            <a:solidFill>
              <a:srgbClr val="C8582F"/>
            </a:solidFill>
            <a:prstDash val="solid"/>
            <a:tailEnd type="triangle"/>
          </a:ln>
        </p:spPr>
      </p:sp>
      <p:pic>
        <p:nvPicPr>
          <p:cNvPr id="58" name="Image 6" descr="REPLACE: real before/after grounding resul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51592" y="2286000"/>
            <a:ext cx="1161288" cy="178308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10396728" y="408736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09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-&gt;  Grounded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7406640" y="3867912"/>
            <a:ext cx="126187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8582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7543800" y="3968496"/>
            <a:ext cx="987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/ abstain</a:t>
            </a:r>
            <a:endParaRPr lang="en-US" sz="1050" dirty="0"/>
          </a:p>
        </p:txBody>
      </p:sp>
      <p:sp>
        <p:nvSpPr>
          <p:cNvPr id="62" name="Shape 53"/>
          <p:cNvSpPr/>
          <p:nvPr/>
        </p:nvSpPr>
        <p:spPr>
          <a:xfrm>
            <a:off x="8695944" y="4087368"/>
            <a:ext cx="329184" cy="0"/>
          </a:xfrm>
          <a:prstGeom prst="line">
            <a:avLst/>
          </a:prstGeom>
          <a:noFill/>
          <a:ln w="27940">
            <a:solidFill>
              <a:srgbClr val="C8582F"/>
            </a:solidFill>
            <a:prstDash val="solid"/>
            <a:tailEnd type="triangle"/>
          </a:ln>
        </p:spPr>
      </p:sp>
      <p:sp>
        <p:nvSpPr>
          <p:cNvPr id="63" name="Shape 54"/>
          <p:cNvSpPr/>
          <p:nvPr/>
        </p:nvSpPr>
        <p:spPr>
          <a:xfrm>
            <a:off x="9052560" y="3867912"/>
            <a:ext cx="129844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C8582F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9171432" y="3968496"/>
            <a:ext cx="10607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translation</a:t>
            </a:r>
            <a:endParaRPr lang="en-US" sz="1050" dirty="0"/>
          </a:p>
        </p:txBody>
      </p:sp>
      <p:sp>
        <p:nvSpPr>
          <p:cNvPr id="65" name="Shape 56"/>
          <p:cNvSpPr/>
          <p:nvPr/>
        </p:nvSpPr>
        <p:spPr>
          <a:xfrm>
            <a:off x="10378440" y="4087368"/>
            <a:ext cx="384048" cy="585216"/>
          </a:xfrm>
          <a:prstGeom prst="line">
            <a:avLst/>
          </a:prstGeom>
          <a:noFill/>
          <a:ln w="27940">
            <a:solidFill>
              <a:srgbClr val="309052"/>
            </a:solidFill>
            <a:prstDash val="solid"/>
            <a:tailEnd type="triangle"/>
          </a:ln>
        </p:spPr>
      </p:sp>
      <p:sp>
        <p:nvSpPr>
          <p:cNvPr id="66" name="Shape 57"/>
          <p:cNvSpPr/>
          <p:nvPr/>
        </p:nvSpPr>
        <p:spPr>
          <a:xfrm>
            <a:off x="10716768" y="4498848"/>
            <a:ext cx="896112" cy="438912"/>
          </a:xfrm>
          <a:prstGeom prst="roundRect">
            <a:avLst>
              <a:gd name="adj" fmla="val 16667"/>
            </a:avLst>
          </a:prstGeom>
          <a:solidFill>
            <a:srgbClr val="F0FBF4"/>
          </a:solidFill>
          <a:ln w="17780">
            <a:solidFill>
              <a:srgbClr val="309052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10844784" y="4599432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09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Re-probe</a:t>
            </a:r>
            <a:endParaRPr lang="en-US" sz="1050" dirty="0"/>
          </a:p>
        </p:txBody>
      </p:sp>
      <p:sp>
        <p:nvSpPr>
          <p:cNvPr id="68" name="Shape 59"/>
          <p:cNvSpPr/>
          <p:nvPr/>
        </p:nvSpPr>
        <p:spPr>
          <a:xfrm>
            <a:off x="8037576" y="5047488"/>
            <a:ext cx="3127248" cy="0"/>
          </a:xfrm>
          <a:prstGeom prst="line">
            <a:avLst/>
          </a:prstGeom>
          <a:noFill/>
          <a:ln w="27940">
            <a:solidFill>
              <a:srgbClr val="C8582F"/>
            </a:solidFill>
            <a:prstDash val="dash"/>
          </a:ln>
        </p:spPr>
      </p:sp>
      <p:sp>
        <p:nvSpPr>
          <p:cNvPr id="69" name="Shape 60"/>
          <p:cNvSpPr/>
          <p:nvPr/>
        </p:nvSpPr>
        <p:spPr>
          <a:xfrm>
            <a:off x="11164824" y="4928616"/>
            <a:ext cx="0" cy="118872"/>
          </a:xfrm>
          <a:prstGeom prst="line">
            <a:avLst/>
          </a:prstGeom>
          <a:noFill/>
          <a:ln w="27940">
            <a:solidFill>
              <a:srgbClr val="C8582F"/>
            </a:solidFill>
            <a:prstDash val="dash"/>
          </a:ln>
        </p:spPr>
      </p:sp>
      <p:sp>
        <p:nvSpPr>
          <p:cNvPr id="70" name="Shape 61"/>
          <p:cNvSpPr/>
          <p:nvPr/>
        </p:nvSpPr>
        <p:spPr>
          <a:xfrm>
            <a:off x="8037576" y="4315968"/>
            <a:ext cx="0" cy="731520"/>
          </a:xfrm>
          <a:prstGeom prst="line">
            <a:avLst/>
          </a:prstGeom>
          <a:noFill/>
          <a:ln w="27940">
            <a:solidFill>
              <a:srgbClr val="C8582F"/>
            </a:solidFill>
            <a:prstDash val="dash"/>
            <a:headEnd type="triangle"/>
          </a:ln>
        </p:spPr>
      </p:sp>
      <p:sp>
        <p:nvSpPr>
          <p:cNvPr id="71" name="Text 62"/>
          <p:cNvSpPr/>
          <p:nvPr/>
        </p:nvSpPr>
        <p:spPr>
          <a:xfrm>
            <a:off x="8887968" y="4882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re-probe and repeat x3</a:t>
            </a:r>
            <a:endParaRPr lang="en-US" sz="1000" dirty="0"/>
          </a:p>
        </p:txBody>
      </p:sp>
      <p:sp>
        <p:nvSpPr>
          <p:cNvPr id="72" name="Text 63"/>
          <p:cNvSpPr/>
          <p:nvPr/>
        </p:nvSpPr>
        <p:spPr>
          <a:xfrm>
            <a:off x="7498080" y="5321808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translation is changed</a:t>
            </a:r>
            <a:endParaRPr lang="en-US" sz="1100" dirty="0"/>
          </a:p>
        </p:txBody>
      </p:sp>
      <p:sp>
        <p:nvSpPr>
          <p:cNvPr id="73" name="Text 64"/>
          <p:cNvSpPr/>
          <p:nvPr/>
        </p:nvSpPr>
        <p:spPr>
          <a:xfrm>
            <a:off x="9464040" y="5321808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Pose, shape, and scene stay fixed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3639312" y="3703320"/>
            <a:ext cx="155448" cy="0"/>
          </a:xfrm>
          <a:prstGeom prst="line">
            <a:avLst/>
          </a:prstGeom>
          <a:noFill/>
          <a:ln w="35560">
            <a:solidFill>
              <a:srgbClr val="6F7881"/>
            </a:solidFill>
            <a:prstDash val="solid"/>
            <a:tailEnd type="triangle"/>
          </a:ln>
        </p:spPr>
      </p:sp>
      <p:sp>
        <p:nvSpPr>
          <p:cNvPr id="75" name="Shape 66"/>
          <p:cNvSpPr/>
          <p:nvPr/>
        </p:nvSpPr>
        <p:spPr>
          <a:xfrm>
            <a:off x="6894576" y="3703320"/>
            <a:ext cx="155448" cy="0"/>
          </a:xfrm>
          <a:prstGeom prst="line">
            <a:avLst/>
          </a:prstGeom>
          <a:noFill/>
          <a:ln w="35560">
            <a:solidFill>
              <a:srgbClr val="6F7881"/>
            </a:solidFill>
            <a:prstDash val="solid"/>
            <a:tailEnd type="triangle"/>
          </a:ln>
        </p:spPr>
      </p:sp>
      <p:sp>
        <p:nvSpPr>
          <p:cNvPr id="76" name="Shape 67"/>
          <p:cNvSpPr/>
          <p:nvPr/>
        </p:nvSpPr>
        <p:spPr>
          <a:xfrm>
            <a:off x="320040" y="6016752"/>
            <a:ext cx="11548872" cy="566928"/>
          </a:xfrm>
          <a:prstGeom prst="roundRect">
            <a:avLst>
              <a:gd name="adj" fmla="val 12903"/>
            </a:avLst>
          </a:prstGeom>
          <a:solidFill>
            <a:srgbClr val="F7F8F9"/>
          </a:solidFill>
          <a:ln w="17780">
            <a:solidFill>
              <a:srgbClr val="D2D6DA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521208" y="61813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5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00" dirty="0"/>
          </a:p>
        </p:txBody>
      </p:sp>
      <p:sp>
        <p:nvSpPr>
          <p:cNvPr id="78" name="Text 69"/>
          <p:cNvSpPr/>
          <p:nvPr/>
        </p:nvSpPr>
        <p:spPr>
          <a:xfrm>
            <a:off x="1097280" y="61722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selection</a:t>
            </a:r>
            <a:endParaRPr lang="en-US" sz="1000" dirty="0"/>
          </a:p>
        </p:txBody>
      </p:sp>
      <p:sp>
        <p:nvSpPr>
          <p:cNvPr id="79" name="Text 70"/>
          <p:cNvSpPr/>
          <p:nvPr/>
        </p:nvSpPr>
        <p:spPr>
          <a:xfrm>
            <a:off x="2468880" y="6172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000" dirty="0"/>
          </a:p>
        </p:txBody>
      </p:sp>
      <p:sp>
        <p:nvSpPr>
          <p:cNvPr id="80" name="Text 71"/>
          <p:cNvSpPr/>
          <p:nvPr/>
        </p:nvSpPr>
        <p:spPr>
          <a:xfrm>
            <a:off x="3520440" y="61722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no-op</a:t>
            </a:r>
            <a:endParaRPr lang="en-US" sz="1000" dirty="0"/>
          </a:p>
        </p:txBody>
      </p:sp>
      <p:sp>
        <p:nvSpPr>
          <p:cNvPr id="81" name="Text 72"/>
          <p:cNvSpPr/>
          <p:nvPr/>
        </p:nvSpPr>
        <p:spPr>
          <a:xfrm>
            <a:off x="4617720" y="61722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consistency</a:t>
            </a:r>
            <a:endParaRPr lang="en-US" sz="1000" dirty="0"/>
          </a:p>
        </p:txBody>
      </p:sp>
      <p:sp>
        <p:nvSpPr>
          <p:cNvPr id="82" name="Text 73"/>
          <p:cNvSpPr/>
          <p:nvPr/>
        </p:nvSpPr>
        <p:spPr>
          <a:xfrm>
            <a:off x="7388352" y="61813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09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83" name="Text 74"/>
          <p:cNvSpPr/>
          <p:nvPr/>
        </p:nvSpPr>
        <p:spPr>
          <a:xfrm>
            <a:off x="8211312" y="61722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mode  |  refined translation  |  confidence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TSMR Method Figure</dc:title>
  <dc:subject>Editable TSMR paper method figure</dc:subject>
  <dc:creator>vggt-omega</dc:creator>
  <cp:lastModifiedBy>vggt-omega</cp:lastModifiedBy>
  <cp:revision>1</cp:revision>
  <dcterms:created xsi:type="dcterms:W3CDTF">2026-08-06T21:06:16Z</dcterms:created>
  <dcterms:modified xsi:type="dcterms:W3CDTF">2026-08-06T21:06:16Z</dcterms:modified>
</cp:coreProperties>
</file>