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5448" y="1097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9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architecture</a:t>
            </a:r>
            <a:endParaRPr lang="en-US" sz="880" dirty="0"/>
          </a:p>
        </p:txBody>
      </p:sp>
      <p:sp>
        <p:nvSpPr>
          <p:cNvPr id="3" name="Shape 1"/>
          <p:cNvSpPr/>
          <p:nvPr/>
        </p:nvSpPr>
        <p:spPr>
          <a:xfrm>
            <a:off x="164592" y="347472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EAF1FB"/>
          </a:solidFill>
          <a:ln w="8890">
            <a:solidFill>
              <a:srgbClr val="99A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411480"/>
            <a:ext cx="7498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TRSTR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771632" y="347472"/>
            <a:ext cx="950976" cy="256032"/>
          </a:xfrm>
          <a:prstGeom prst="roundRect">
            <a:avLst>
              <a:gd name="adj" fmla="val 28571"/>
            </a:avLst>
          </a:prstGeom>
          <a:solidFill>
            <a:srgbClr val="ECFAFC"/>
          </a:solidFill>
          <a:ln w="8890">
            <a:solidFill>
              <a:srgbClr val="4AA7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71632" y="411480"/>
            <a:ext cx="950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39496" y="603504"/>
            <a:ext cx="0" cy="219456"/>
          </a:xfrm>
          <a:prstGeom prst="line">
            <a:avLst/>
          </a:prstGeom>
          <a:noFill/>
          <a:ln w="8890">
            <a:solidFill>
              <a:srgbClr val="8A99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47120" y="603504"/>
            <a:ext cx="0" cy="3511296"/>
          </a:xfrm>
          <a:prstGeom prst="line">
            <a:avLst/>
          </a:prstGeom>
          <a:noFill/>
          <a:ln w="8890">
            <a:solidFill>
              <a:srgbClr val="8A99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" y="822960"/>
            <a:ext cx="11896344" cy="2971800"/>
          </a:xfrm>
          <a:prstGeom prst="roundRect">
            <a:avLst>
              <a:gd name="adj" fmla="val 2462"/>
            </a:avLst>
          </a:prstGeom>
          <a:solidFill>
            <a:srgbClr val="EAF1FB"/>
          </a:solidFill>
          <a:ln w="12700">
            <a:solidFill>
              <a:srgbClr val="99AD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93268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TRSTR Regional Translator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10896" y="1261872"/>
            <a:ext cx="1161288" cy="180136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8890">
            <a:solidFill>
              <a:srgbClr val="8A99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40817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SMPL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32470" y="1664208"/>
            <a:ext cx="92720" cy="99852"/>
          </a:xfrm>
          <a:prstGeom prst="ellipse">
            <a:avLst/>
          </a:prstGeom>
          <a:solidFill>
            <a:srgbClr val="FFFFFF"/>
          </a:solidFill>
          <a:ln w="8255">
            <a:solidFill>
              <a:srgbClr val="2631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9676" y="1764060"/>
            <a:ext cx="178308" cy="313822"/>
          </a:xfrm>
          <a:prstGeom prst="roundRect">
            <a:avLst>
              <a:gd name="adj" fmla="val 41026"/>
            </a:avLst>
          </a:prstGeom>
          <a:solidFill>
            <a:srgbClr val="FFFFFF"/>
          </a:solidFill>
          <a:ln w="8255">
            <a:solidFill>
              <a:srgbClr val="2631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3940" y="1835384"/>
            <a:ext cx="-106985" cy="164043"/>
          </a:xfrm>
          <a:prstGeom prst="line">
            <a:avLst/>
          </a:prstGeom>
          <a:noFill/>
          <a:ln w="8255">
            <a:solidFill>
              <a:srgbClr val="2631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3719" y="1835384"/>
            <a:ext cx="106985" cy="164043"/>
          </a:xfrm>
          <a:prstGeom prst="line">
            <a:avLst/>
          </a:prstGeom>
          <a:noFill/>
          <a:ln w="8255">
            <a:solidFill>
              <a:srgbClr val="2631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9602" y="2077883"/>
            <a:ext cx="-64191" cy="213970"/>
          </a:xfrm>
          <a:prstGeom prst="line">
            <a:avLst/>
          </a:prstGeom>
          <a:noFill/>
          <a:ln w="8255">
            <a:solidFill>
              <a:srgbClr val="2631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8058" y="2077883"/>
            <a:ext cx="71323" cy="213970"/>
          </a:xfrm>
          <a:prstGeom prst="line">
            <a:avLst/>
          </a:prstGeom>
          <a:noFill/>
          <a:ln w="8255">
            <a:solidFill>
              <a:srgbClr val="2631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2304288"/>
            <a:ext cx="896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scene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76072" y="2596896"/>
            <a:ext cx="576072" cy="338328"/>
          </a:xfrm>
          <a:prstGeom prst="rect">
            <a:avLst/>
          </a:prstGeom>
          <a:solidFill>
            <a:srgbClr val="D8D8D4"/>
          </a:solidFill>
          <a:ln w="5080">
            <a:solidFill>
              <a:srgbClr val="A0A0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2615184"/>
            <a:ext cx="173736" cy="301752"/>
          </a:xfrm>
          <a:prstGeom prst="rect">
            <a:avLst/>
          </a:prstGeom>
          <a:solidFill>
            <a:srgbClr val="CCCCCA"/>
          </a:solidFill>
          <a:ln w="6350">
            <a:solidFill>
              <a:srgbClr val="CCCC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" y="2615184"/>
            <a:ext cx="173736" cy="301752"/>
          </a:xfrm>
          <a:prstGeom prst="rect">
            <a:avLst/>
          </a:prstGeom>
          <a:solidFill>
            <a:srgbClr val="AFAFAC"/>
          </a:solidFill>
          <a:ln w="6350">
            <a:solidFill>
              <a:srgbClr val="AFAFA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8408" y="2615184"/>
            <a:ext cx="173736" cy="301752"/>
          </a:xfrm>
          <a:prstGeom prst="rect">
            <a:avLst/>
          </a:prstGeom>
          <a:solidFill>
            <a:srgbClr val="8E8F8C"/>
          </a:solidFill>
          <a:ln w="6350">
            <a:solidFill>
              <a:srgbClr val="8E8F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9869" y="2640879"/>
            <a:ext cx="115214" cy="213147"/>
          </a:xfrm>
          <a:prstGeom prst="ellipse">
            <a:avLst/>
          </a:prstGeom>
          <a:solidFill>
            <a:srgbClr val="5E6261">
              <a:alpha val="72000"/>
            </a:srgbClr>
          </a:solidFill>
          <a:ln w="12700">
            <a:solidFill>
              <a:srgbClr val="5E626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81328" y="2121408"/>
            <a:ext cx="201168" cy="0"/>
          </a:xfrm>
          <a:prstGeom prst="line">
            <a:avLst/>
          </a:prstGeom>
          <a:noFill/>
          <a:ln w="12065">
            <a:solidFill>
              <a:srgbClr val="26313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682496" y="1261872"/>
            <a:ext cx="1847088" cy="1801368"/>
          </a:xfrm>
          <a:prstGeom prst="roundRect">
            <a:avLst>
              <a:gd name="adj" fmla="val 4061"/>
            </a:avLst>
          </a:prstGeom>
          <a:solidFill>
            <a:srgbClr val="FFFFFF"/>
          </a:solidFill>
          <a:ln w="10160">
            <a:solidFill>
              <a:srgbClr val="8A99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10512" y="139903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Construction</a:t>
            </a:r>
            <a:endParaRPr lang="en-US" sz="1070" dirty="0"/>
          </a:p>
        </p:txBody>
      </p:sp>
      <p:sp>
        <p:nvSpPr>
          <p:cNvPr id="28" name="Text 26"/>
          <p:cNvSpPr/>
          <p:nvPr/>
        </p:nvSpPr>
        <p:spPr>
          <a:xfrm>
            <a:off x="1856232" y="169164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 body regions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2323490" y="1847088"/>
            <a:ext cx="112928" cy="121615"/>
          </a:xfrm>
          <a:prstGeom prst="ellipse">
            <a:avLst/>
          </a:prstGeom>
          <a:solidFill>
            <a:srgbClr val="FFFFFF"/>
          </a:solidFill>
          <a:ln w="8255">
            <a:solidFill>
              <a:srgbClr val="2631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71370" y="1968703"/>
            <a:ext cx="217170" cy="382219"/>
          </a:xfrm>
          <a:prstGeom prst="roundRect">
            <a:avLst>
              <a:gd name="adj" fmla="val 33684"/>
            </a:avLst>
          </a:prstGeom>
          <a:solidFill>
            <a:srgbClr val="EEF6EE"/>
          </a:solidFill>
          <a:ln w="8255">
            <a:solidFill>
              <a:srgbClr val="2631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8743" y="2055571"/>
            <a:ext cx="-130302" cy="199796"/>
          </a:xfrm>
          <a:prstGeom prst="line">
            <a:avLst/>
          </a:prstGeom>
          <a:noFill/>
          <a:ln w="8255">
            <a:solidFill>
              <a:srgbClr val="2631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71166" y="2055571"/>
            <a:ext cx="130302" cy="199796"/>
          </a:xfrm>
          <a:prstGeom prst="line">
            <a:avLst/>
          </a:prstGeom>
          <a:noFill/>
          <a:ln w="8255">
            <a:solidFill>
              <a:srgbClr val="2631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32177" y="2350922"/>
            <a:ext cx="-78181" cy="260604"/>
          </a:xfrm>
          <a:prstGeom prst="line">
            <a:avLst/>
          </a:prstGeom>
          <a:noFill/>
          <a:ln w="8255">
            <a:solidFill>
              <a:srgbClr val="26313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27732" y="2350922"/>
            <a:ext cx="86868" cy="260604"/>
          </a:xfrm>
          <a:prstGeom prst="line">
            <a:avLst/>
          </a:prstGeom>
          <a:noFill/>
          <a:ln w="8255">
            <a:solidFill>
              <a:srgbClr val="2631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97430" y="2055571"/>
            <a:ext cx="78181" cy="86868"/>
          </a:xfrm>
          <a:prstGeom prst="rect">
            <a:avLst/>
          </a:prstGeom>
          <a:solidFill>
            <a:srgbClr val="D9ACA6"/>
          </a:solidFill>
          <a:ln w="3175">
            <a:solidFill>
              <a:srgbClr val="8A99A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01672" y="2055571"/>
            <a:ext cx="78181" cy="86868"/>
          </a:xfrm>
          <a:prstGeom prst="rect">
            <a:avLst/>
          </a:prstGeom>
          <a:solidFill>
            <a:srgbClr val="99ADD4"/>
          </a:solidFill>
          <a:ln w="3175">
            <a:solidFill>
              <a:srgbClr val="8A99A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97430" y="2185873"/>
            <a:ext cx="78181" cy="86868"/>
          </a:xfrm>
          <a:prstGeom prst="rect">
            <a:avLst/>
          </a:prstGeom>
          <a:solidFill>
            <a:srgbClr val="E7DAAC"/>
          </a:solidFill>
          <a:ln w="3175">
            <a:solidFill>
              <a:srgbClr val="8A99A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01672" y="2185873"/>
            <a:ext cx="78181" cy="86868"/>
          </a:xfrm>
          <a:prstGeom prst="rect">
            <a:avLst/>
          </a:prstGeom>
          <a:solidFill>
            <a:srgbClr val="CBBAD8"/>
          </a:solidFill>
          <a:ln w="3175">
            <a:solidFill>
              <a:srgbClr val="8A99A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97430" y="2324862"/>
            <a:ext cx="78181" cy="86868"/>
          </a:xfrm>
          <a:prstGeom prst="rect">
            <a:avLst/>
          </a:prstGeom>
          <a:solidFill>
            <a:srgbClr val="AFCAB2"/>
          </a:solidFill>
          <a:ln w="3175">
            <a:solidFill>
              <a:srgbClr val="8A99A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97480" y="1691640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multi-scale probes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761488" y="1883664"/>
            <a:ext cx="219456" cy="182880"/>
          </a:xfrm>
          <a:prstGeom prst="roundRect">
            <a:avLst>
              <a:gd name="adj" fmla="val 40000"/>
            </a:avLst>
          </a:prstGeom>
          <a:solidFill>
            <a:srgbClr val="F1EDF7"/>
          </a:solidFill>
          <a:ln w="5080">
            <a:solidFill>
              <a:srgbClr val="8A99A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54096" y="1920240"/>
            <a:ext cx="43891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3×3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761488" y="2139696"/>
            <a:ext cx="219456" cy="182880"/>
          </a:xfrm>
          <a:prstGeom prst="roundRect">
            <a:avLst>
              <a:gd name="adj" fmla="val 40000"/>
            </a:avLst>
          </a:prstGeom>
          <a:solidFill>
            <a:srgbClr val="EAF1FB"/>
          </a:solidFill>
          <a:ln w="5080">
            <a:solidFill>
              <a:srgbClr val="8A99A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54096" y="2176272"/>
            <a:ext cx="43891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7×7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761488" y="2395728"/>
            <a:ext cx="219456" cy="182880"/>
          </a:xfrm>
          <a:prstGeom prst="roundRect">
            <a:avLst>
              <a:gd name="adj" fmla="val 40000"/>
            </a:avLst>
          </a:prstGeom>
          <a:solidFill>
            <a:srgbClr val="EEF6EE"/>
          </a:solidFill>
          <a:ln w="5080">
            <a:solidFill>
              <a:srgbClr val="8A99A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54096" y="2432304"/>
            <a:ext cx="43891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61488" y="2651760"/>
            <a:ext cx="219456" cy="182880"/>
          </a:xfrm>
          <a:prstGeom prst="roundRect">
            <a:avLst>
              <a:gd name="adj" fmla="val 40000"/>
            </a:avLst>
          </a:prstGeom>
          <a:solidFill>
            <a:srgbClr val="FCF8E7"/>
          </a:solidFill>
          <a:ln w="5080">
            <a:solidFill>
              <a:srgbClr val="8A99A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54096" y="2688336"/>
            <a:ext cx="43891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annulus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529584" y="2121408"/>
            <a:ext cx="237744" cy="0"/>
          </a:xfrm>
          <a:prstGeom prst="line">
            <a:avLst/>
          </a:prstGeom>
          <a:noFill/>
          <a:ln w="12065">
            <a:solidFill>
              <a:srgbClr val="26313A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3767328" y="1261872"/>
            <a:ext cx="2542032" cy="1801368"/>
          </a:xfrm>
          <a:prstGeom prst="roundRect">
            <a:avLst>
              <a:gd name="adj" fmla="val 4061"/>
            </a:avLst>
          </a:prstGeom>
          <a:solidFill>
            <a:srgbClr val="EEF6EE"/>
          </a:solidFill>
          <a:ln w="10160">
            <a:solidFill>
              <a:srgbClr val="6FA98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50208" y="1389888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Human–Scene Interaction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060" dirty="0"/>
          </a:p>
        </p:txBody>
      </p:sp>
      <p:sp>
        <p:nvSpPr>
          <p:cNvPr id="52" name="Text 50"/>
          <p:cNvSpPr/>
          <p:nvPr/>
        </p:nvSpPr>
        <p:spPr>
          <a:xfrm>
            <a:off x="4050792" y="1883664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9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geometry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4178808" y="2020824"/>
            <a:ext cx="109728" cy="109728"/>
          </a:xfrm>
          <a:prstGeom prst="roundRect">
            <a:avLst>
              <a:gd name="adj" fmla="val 66667"/>
            </a:avLst>
          </a:prstGeom>
          <a:solidFill>
            <a:srgbClr val="EEF6EE"/>
          </a:solidFill>
          <a:ln w="4445">
            <a:solidFill>
              <a:srgbClr val="8A99A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325112" y="2020824"/>
            <a:ext cx="109728" cy="109728"/>
          </a:xfrm>
          <a:prstGeom prst="roundRect">
            <a:avLst>
              <a:gd name="adj" fmla="val 66667"/>
            </a:avLst>
          </a:prstGeom>
          <a:solidFill>
            <a:srgbClr val="EEF6EE"/>
          </a:solidFill>
          <a:ln w="4445">
            <a:solidFill>
              <a:srgbClr val="8A99A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471416" y="2020824"/>
            <a:ext cx="109728" cy="109728"/>
          </a:xfrm>
          <a:prstGeom prst="roundRect">
            <a:avLst>
              <a:gd name="adj" fmla="val 66667"/>
            </a:avLst>
          </a:prstGeom>
          <a:solidFill>
            <a:srgbClr val="EEF6EE"/>
          </a:solidFill>
          <a:ln w="4445">
            <a:solidFill>
              <a:srgbClr val="8A99A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50792" y="2185416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9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scene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4178808" y="2322576"/>
            <a:ext cx="109728" cy="109728"/>
          </a:xfrm>
          <a:prstGeom prst="roundRect">
            <a:avLst>
              <a:gd name="adj" fmla="val 66667"/>
            </a:avLst>
          </a:prstGeom>
          <a:solidFill>
            <a:srgbClr val="ECFAFC"/>
          </a:solidFill>
          <a:ln w="4445">
            <a:solidFill>
              <a:srgbClr val="8A99A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325112" y="2322576"/>
            <a:ext cx="109728" cy="109728"/>
          </a:xfrm>
          <a:prstGeom prst="roundRect">
            <a:avLst>
              <a:gd name="adj" fmla="val 66667"/>
            </a:avLst>
          </a:prstGeom>
          <a:solidFill>
            <a:srgbClr val="ECFAFC"/>
          </a:solidFill>
          <a:ln w="4445">
            <a:solidFill>
              <a:srgbClr val="8A99A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471416" y="2322576"/>
            <a:ext cx="109728" cy="109728"/>
          </a:xfrm>
          <a:prstGeom prst="roundRect">
            <a:avLst>
              <a:gd name="adj" fmla="val 66667"/>
            </a:avLst>
          </a:prstGeom>
          <a:solidFill>
            <a:srgbClr val="ECFAFC"/>
          </a:solidFill>
          <a:ln w="4445">
            <a:solidFill>
              <a:srgbClr val="8A99A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50792" y="2487168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9B8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mask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4178808" y="2624328"/>
            <a:ext cx="109728" cy="109728"/>
          </a:xfrm>
          <a:prstGeom prst="roundRect">
            <a:avLst>
              <a:gd name="adj" fmla="val 66667"/>
            </a:avLst>
          </a:prstGeom>
          <a:solidFill>
            <a:srgbClr val="FCF8E7"/>
          </a:solidFill>
          <a:ln w="4445">
            <a:solidFill>
              <a:srgbClr val="8A99A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325112" y="2624328"/>
            <a:ext cx="109728" cy="109728"/>
          </a:xfrm>
          <a:prstGeom prst="roundRect">
            <a:avLst>
              <a:gd name="adj" fmla="val 66667"/>
            </a:avLst>
          </a:prstGeom>
          <a:solidFill>
            <a:srgbClr val="FCF8E7"/>
          </a:solidFill>
          <a:ln w="4445">
            <a:solidFill>
              <a:srgbClr val="8A99A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471416" y="2624328"/>
            <a:ext cx="109728" cy="109728"/>
          </a:xfrm>
          <a:prstGeom prst="roundRect">
            <a:avLst>
              <a:gd name="adj" fmla="val 66667"/>
            </a:avLst>
          </a:prstGeom>
          <a:solidFill>
            <a:srgbClr val="FCF8E7"/>
          </a:solidFill>
          <a:ln w="4445">
            <a:solidFill>
              <a:srgbClr val="8A99A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056632" y="2148840"/>
            <a:ext cx="228600" cy="2286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26313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84064" y="219456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5285232" y="2267712"/>
            <a:ext cx="246888" cy="0"/>
          </a:xfrm>
          <a:prstGeom prst="line">
            <a:avLst/>
          </a:prstGeom>
          <a:noFill/>
          <a:ln w="9525">
            <a:solidFill>
              <a:srgbClr val="26313A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5550408" y="1938528"/>
            <a:ext cx="566928" cy="685800"/>
          </a:xfrm>
          <a:prstGeom prst="roundRect">
            <a:avLst>
              <a:gd name="adj" fmla="val 12903"/>
            </a:avLst>
          </a:prstGeom>
          <a:solidFill>
            <a:srgbClr val="F1EDF7"/>
          </a:solidFill>
          <a:ln w="8255">
            <a:solidFill>
              <a:srgbClr val="8A99A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05272" y="205740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830" dirty="0"/>
          </a:p>
        </p:txBody>
      </p:sp>
      <p:sp>
        <p:nvSpPr>
          <p:cNvPr id="69" name="Text 67"/>
          <p:cNvSpPr/>
          <p:nvPr/>
        </p:nvSpPr>
        <p:spPr>
          <a:xfrm>
            <a:off x="5577840" y="2304288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</a:t>
            </a:r>
            <a:endParaRPr lang="en-US" sz="730" dirty="0"/>
          </a:p>
        </p:txBody>
      </p:sp>
      <p:sp>
        <p:nvSpPr>
          <p:cNvPr id="70" name="Shape 68"/>
          <p:cNvSpPr/>
          <p:nvPr/>
        </p:nvSpPr>
        <p:spPr>
          <a:xfrm>
            <a:off x="6318504" y="2121408"/>
            <a:ext cx="173736" cy="0"/>
          </a:xfrm>
          <a:prstGeom prst="line">
            <a:avLst/>
          </a:prstGeom>
          <a:noFill/>
          <a:ln w="12065">
            <a:solidFill>
              <a:srgbClr val="26313A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6492240" y="1261872"/>
            <a:ext cx="1920240" cy="1801368"/>
          </a:xfrm>
          <a:prstGeom prst="roundRect">
            <a:avLst>
              <a:gd name="adj" fmla="val 4061"/>
            </a:avLst>
          </a:prstGeom>
          <a:solidFill>
            <a:srgbClr val="FFFFFF"/>
          </a:solidFill>
          <a:ln w="10160">
            <a:solidFill>
              <a:srgbClr val="8A99A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620256" y="1399032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Correction Heads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656832" y="1874520"/>
            <a:ext cx="621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97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token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6675120" y="2039112"/>
            <a:ext cx="109728" cy="109728"/>
          </a:xfrm>
          <a:prstGeom prst="roundRect">
            <a:avLst>
              <a:gd name="adj" fmla="val 66667"/>
            </a:avLst>
          </a:prstGeom>
          <a:solidFill>
            <a:srgbClr val="EAF1FB"/>
          </a:solidFill>
          <a:ln w="4445">
            <a:solidFill>
              <a:srgbClr val="8A99A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821424" y="2039112"/>
            <a:ext cx="109728" cy="109728"/>
          </a:xfrm>
          <a:prstGeom prst="roundRect">
            <a:avLst>
              <a:gd name="adj" fmla="val 66667"/>
            </a:avLst>
          </a:prstGeom>
          <a:solidFill>
            <a:srgbClr val="EAF1FB"/>
          </a:solidFill>
          <a:ln w="4445">
            <a:solidFill>
              <a:srgbClr val="8A99A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967728" y="2039112"/>
            <a:ext cx="109728" cy="109728"/>
          </a:xfrm>
          <a:prstGeom prst="roundRect">
            <a:avLst>
              <a:gd name="adj" fmla="val 66667"/>
            </a:avLst>
          </a:prstGeom>
          <a:solidFill>
            <a:srgbClr val="EAF1FB"/>
          </a:solidFill>
          <a:ln w="4445">
            <a:solidFill>
              <a:srgbClr val="8A99A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269480" y="2103120"/>
            <a:ext cx="228600" cy="0"/>
          </a:xfrm>
          <a:prstGeom prst="line">
            <a:avLst/>
          </a:prstGeom>
          <a:noFill/>
          <a:ln w="8255">
            <a:solidFill>
              <a:srgbClr val="26313A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7534656" y="1810512"/>
            <a:ext cx="658368" cy="274320"/>
          </a:xfrm>
          <a:prstGeom prst="roundRect">
            <a:avLst>
              <a:gd name="adj" fmla="val 26667"/>
            </a:avLst>
          </a:prstGeom>
          <a:solidFill>
            <a:srgbClr val="FBEDEC"/>
          </a:solidFill>
          <a:ln w="6985">
            <a:solidFill>
              <a:srgbClr val="8A99A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552944" y="1874520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Δτᵣ</a:t>
            </a:r>
            <a:endParaRPr lang="en-US" sz="730" dirty="0"/>
          </a:p>
        </p:txBody>
      </p:sp>
      <p:sp>
        <p:nvSpPr>
          <p:cNvPr id="80" name="Shape 78"/>
          <p:cNvSpPr/>
          <p:nvPr/>
        </p:nvSpPr>
        <p:spPr>
          <a:xfrm>
            <a:off x="7534656" y="2194560"/>
            <a:ext cx="658368" cy="274320"/>
          </a:xfrm>
          <a:prstGeom prst="roundRect">
            <a:avLst>
              <a:gd name="adj" fmla="val 26667"/>
            </a:avLst>
          </a:prstGeom>
          <a:solidFill>
            <a:srgbClr val="EEF6EE"/>
          </a:solidFill>
          <a:ln w="6985">
            <a:solidFill>
              <a:srgbClr val="8A99A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552944" y="225856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gᵣ</a:t>
            </a:r>
            <a:endParaRPr lang="en-US" sz="730" dirty="0"/>
          </a:p>
        </p:txBody>
      </p:sp>
      <p:sp>
        <p:nvSpPr>
          <p:cNvPr id="82" name="Shape 80"/>
          <p:cNvSpPr/>
          <p:nvPr/>
        </p:nvSpPr>
        <p:spPr>
          <a:xfrm>
            <a:off x="7534656" y="2578608"/>
            <a:ext cx="658368" cy="274320"/>
          </a:xfrm>
          <a:prstGeom prst="roundRect">
            <a:avLst>
              <a:gd name="adj" fmla="val 26667"/>
            </a:avLst>
          </a:prstGeom>
          <a:solidFill>
            <a:srgbClr val="EAF1FB"/>
          </a:solidFill>
          <a:ln w="6985">
            <a:solidFill>
              <a:srgbClr val="8A99A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552944" y="2642616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σᵣ</a:t>
            </a:r>
            <a:endParaRPr lang="en-US" sz="730" dirty="0"/>
          </a:p>
        </p:txBody>
      </p:sp>
      <p:sp>
        <p:nvSpPr>
          <p:cNvPr id="84" name="Shape 82"/>
          <p:cNvSpPr/>
          <p:nvPr/>
        </p:nvSpPr>
        <p:spPr>
          <a:xfrm>
            <a:off x="8412480" y="2121408"/>
            <a:ext cx="201168" cy="0"/>
          </a:xfrm>
          <a:prstGeom prst="line">
            <a:avLst/>
          </a:prstGeom>
          <a:noFill/>
          <a:ln w="12065">
            <a:solidFill>
              <a:srgbClr val="26313A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8613648" y="1261872"/>
            <a:ext cx="2029968" cy="1801368"/>
          </a:xfrm>
          <a:prstGeom prst="roundRect">
            <a:avLst>
              <a:gd name="adj" fmla="val 4061"/>
            </a:avLst>
          </a:prstGeom>
          <a:solidFill>
            <a:srgbClr val="FFFFFF"/>
          </a:solidFill>
          <a:ln w="10160">
            <a:solidFill>
              <a:srgbClr val="8A99A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805672" y="13990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Aggregation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9034272" y="1956816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 rot="5400000">
            <a:off x="9162288" y="2249424"/>
            <a:ext cx="292608" cy="457200"/>
          </a:xfrm>
          <a:prstGeom prst="chevron">
            <a:avLst/>
          </a:prstGeom>
          <a:solidFill>
            <a:srgbClr val="EAF1FB"/>
          </a:solidFill>
          <a:ln w="8255">
            <a:solidFill>
              <a:srgbClr val="26313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464040" y="2487168"/>
            <a:ext cx="265176" cy="0"/>
          </a:xfrm>
          <a:prstGeom prst="line">
            <a:avLst/>
          </a:prstGeom>
          <a:noFill/>
          <a:ln w="9525">
            <a:solidFill>
              <a:srgbClr val="26313A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9747504" y="2267712"/>
            <a:ext cx="612648" cy="384048"/>
          </a:xfrm>
          <a:prstGeom prst="roundRect">
            <a:avLst>
              <a:gd name="adj" fmla="val 19048"/>
            </a:avLst>
          </a:prstGeom>
          <a:solidFill>
            <a:srgbClr val="F1EDF7"/>
          </a:solidFill>
          <a:ln w="8255">
            <a:solidFill>
              <a:srgbClr val="8A99A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784080" y="2350008"/>
            <a:ext cx="539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10058400" y="1252728"/>
            <a:ext cx="594360" cy="530352"/>
          </a:xfrm>
          <a:prstGeom prst="arc">
            <a:avLst/>
          </a:prstGeom>
          <a:noFill/>
          <a:ln w="10160">
            <a:solidFill>
              <a:srgbClr val="26313A"/>
            </a:solidFill>
            <a:prstDash val="solid"/>
            <a:headEnd type="triangle"/>
            <a:tailEnd type="triangle"/>
          </a:ln>
        </p:spPr>
      </p:sp>
      <p:sp>
        <p:nvSpPr>
          <p:cNvPr id="93" name="Text 91"/>
          <p:cNvSpPr/>
          <p:nvPr/>
        </p:nvSpPr>
        <p:spPr>
          <a:xfrm>
            <a:off x="10131552" y="130759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re-probe</a:t>
            </a:r>
            <a:endParaRPr lang="en-US" sz="820" dirty="0"/>
          </a:p>
        </p:txBody>
      </p:sp>
      <p:sp>
        <p:nvSpPr>
          <p:cNvPr id="94" name="Shape 92"/>
          <p:cNvSpPr/>
          <p:nvPr/>
        </p:nvSpPr>
        <p:spPr>
          <a:xfrm>
            <a:off x="10643616" y="2121408"/>
            <a:ext cx="219456" cy="0"/>
          </a:xfrm>
          <a:prstGeom prst="line">
            <a:avLst/>
          </a:prstGeom>
          <a:noFill/>
          <a:ln w="12065">
            <a:solidFill>
              <a:srgbClr val="26313A"/>
            </a:solidFill>
            <a:prstDash val="solid"/>
            <a:tailEnd type="triangle"/>
          </a:ln>
        </p:spPr>
      </p:sp>
      <p:sp>
        <p:nvSpPr>
          <p:cNvPr id="95" name="Shape 93"/>
          <p:cNvSpPr/>
          <p:nvPr/>
        </p:nvSpPr>
        <p:spPr>
          <a:xfrm>
            <a:off x="10881360" y="1865376"/>
            <a:ext cx="9144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8A99A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0972800" y="1965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refined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τ*</a:t>
            </a:r>
            <a:endParaRPr lang="en-US" sz="870" dirty="0"/>
          </a:p>
        </p:txBody>
      </p:sp>
      <p:sp>
        <p:nvSpPr>
          <p:cNvPr id="97" name="Text 95"/>
          <p:cNvSpPr/>
          <p:nvPr/>
        </p:nvSpPr>
        <p:spPr>
          <a:xfrm>
            <a:off x="10972800" y="271576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only</a:t>
            </a:r>
            <a:endParaRPr lang="en-US" sz="720" dirty="0"/>
          </a:p>
        </p:txBody>
      </p:sp>
      <p:sp>
        <p:nvSpPr>
          <p:cNvPr id="98" name="Shape 96"/>
          <p:cNvSpPr/>
          <p:nvPr/>
        </p:nvSpPr>
        <p:spPr>
          <a:xfrm>
            <a:off x="1682496" y="3236976"/>
            <a:ext cx="8887968" cy="274320"/>
          </a:xfrm>
          <a:prstGeom prst="roundRect">
            <a:avLst>
              <a:gd name="adj" fmla="val 26667"/>
            </a:avLst>
          </a:prstGeom>
          <a:solidFill>
            <a:srgbClr val="DCE8F7"/>
          </a:solidFill>
          <a:ln w="5715">
            <a:solidFill>
              <a:srgbClr val="99ADD4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682496" y="3300984"/>
            <a:ext cx="88879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 θ and shape β unchanged</a:t>
            </a:r>
            <a:endParaRPr lang="en-US" sz="870" dirty="0"/>
          </a:p>
        </p:txBody>
      </p:sp>
      <p:sp>
        <p:nvSpPr>
          <p:cNvPr id="100" name="Shape 98"/>
          <p:cNvSpPr/>
          <p:nvPr/>
        </p:nvSpPr>
        <p:spPr>
          <a:xfrm>
            <a:off x="146304" y="4069080"/>
            <a:ext cx="11896344" cy="2331720"/>
          </a:xfrm>
          <a:prstGeom prst="roundRect">
            <a:avLst>
              <a:gd name="adj" fmla="val 3137"/>
            </a:avLst>
          </a:prstGeom>
          <a:solidFill>
            <a:srgbClr val="ECFAFC"/>
          </a:solidFill>
          <a:ln w="12700">
            <a:solidFill>
              <a:srgbClr val="4AA7B5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224528" y="4187952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Track-wise Temporal Fusion</a:t>
            </a:r>
            <a:endParaRPr lang="en-US" sz="1500" dirty="0"/>
          </a:p>
        </p:txBody>
      </p:sp>
      <p:sp>
        <p:nvSpPr>
          <p:cNvPr id="102" name="Shape 100"/>
          <p:cNvSpPr/>
          <p:nvPr/>
        </p:nvSpPr>
        <p:spPr>
          <a:xfrm>
            <a:off x="384048" y="4526280"/>
            <a:ext cx="245059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4AA7B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66928" y="46634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Window</a:t>
            </a:r>
            <a:endParaRPr lang="en-US" sz="1050" dirty="0"/>
          </a:p>
        </p:txBody>
      </p:sp>
      <p:sp>
        <p:nvSpPr>
          <p:cNvPr id="104" name="Text 102"/>
          <p:cNvSpPr/>
          <p:nvPr/>
        </p:nvSpPr>
        <p:spPr>
          <a:xfrm>
            <a:off x="1078992" y="491947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t−4   …   t   …   t+4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530352" y="517550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1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1005840" y="5138928"/>
            <a:ext cx="155448" cy="155448"/>
          </a:xfrm>
          <a:prstGeom prst="ellipse">
            <a:avLst/>
          </a:prstGeom>
          <a:solidFill>
            <a:srgbClr val="99ADD4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161288" y="5221224"/>
            <a:ext cx="155448" cy="0"/>
          </a:xfrm>
          <a:prstGeom prst="line">
            <a:avLst/>
          </a:prstGeom>
          <a:noFill/>
          <a:ln w="8890">
            <a:solidFill>
              <a:srgbClr val="99ADD4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316736" y="5138928"/>
            <a:ext cx="155448" cy="155448"/>
          </a:xfrm>
          <a:prstGeom prst="ellipse">
            <a:avLst/>
          </a:prstGeom>
          <a:solidFill>
            <a:srgbClr val="99ADD4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472184" y="5221224"/>
            <a:ext cx="155448" cy="0"/>
          </a:xfrm>
          <a:prstGeom prst="line">
            <a:avLst/>
          </a:prstGeom>
          <a:noFill/>
          <a:ln w="8890">
            <a:solidFill>
              <a:srgbClr val="99ADD4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627632" y="5138928"/>
            <a:ext cx="155448" cy="155448"/>
          </a:xfrm>
          <a:prstGeom prst="ellipse">
            <a:avLst/>
          </a:prstGeom>
          <a:solidFill>
            <a:srgbClr val="99ADD4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783080" y="5221224"/>
            <a:ext cx="155448" cy="0"/>
          </a:xfrm>
          <a:prstGeom prst="line">
            <a:avLst/>
          </a:prstGeom>
          <a:noFill/>
          <a:ln w="8890">
            <a:solidFill>
              <a:srgbClr val="99ADD4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938528" y="5138928"/>
            <a:ext cx="155448" cy="155448"/>
          </a:xfrm>
          <a:prstGeom prst="ellipse">
            <a:avLst/>
          </a:prstGeom>
          <a:solidFill>
            <a:srgbClr val="99ADD4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093976" y="5221224"/>
            <a:ext cx="155448" cy="0"/>
          </a:xfrm>
          <a:prstGeom prst="line">
            <a:avLst/>
          </a:prstGeom>
          <a:noFill/>
          <a:ln w="8890">
            <a:solidFill>
              <a:srgbClr val="99ADD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249424" y="5138928"/>
            <a:ext cx="155448" cy="155448"/>
          </a:xfrm>
          <a:prstGeom prst="ellipse">
            <a:avLst/>
          </a:prstGeom>
          <a:solidFill>
            <a:srgbClr val="99ADD4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404872" y="5221224"/>
            <a:ext cx="155448" cy="0"/>
          </a:xfrm>
          <a:prstGeom prst="line">
            <a:avLst/>
          </a:prstGeom>
          <a:noFill/>
          <a:ln w="8890">
            <a:solidFill>
              <a:srgbClr val="99ADD4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560320" y="5138928"/>
            <a:ext cx="155448" cy="155448"/>
          </a:xfrm>
          <a:prstGeom prst="ellipse">
            <a:avLst/>
          </a:prstGeom>
          <a:solidFill>
            <a:srgbClr val="99ADD4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715768" y="5221224"/>
            <a:ext cx="155448" cy="0"/>
          </a:xfrm>
          <a:prstGeom prst="line">
            <a:avLst/>
          </a:prstGeom>
          <a:noFill/>
          <a:ln w="8890">
            <a:solidFill>
              <a:srgbClr val="99ADD4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871216" y="5138928"/>
            <a:ext cx="155448" cy="155448"/>
          </a:xfrm>
          <a:prstGeom prst="ellipse">
            <a:avLst/>
          </a:prstGeom>
          <a:solidFill>
            <a:srgbClr val="99ADD4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30352" y="5522976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2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1005840" y="5486400"/>
            <a:ext cx="155448" cy="155448"/>
          </a:xfrm>
          <a:prstGeom prst="ellipse">
            <a:avLst/>
          </a:prstGeom>
          <a:solidFill>
            <a:srgbClr val="D9ACA6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161288" y="5568696"/>
            <a:ext cx="155448" cy="0"/>
          </a:xfrm>
          <a:prstGeom prst="line">
            <a:avLst/>
          </a:prstGeom>
          <a:noFill/>
          <a:ln w="8890">
            <a:solidFill>
              <a:srgbClr val="D9ACA6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316736" y="5486400"/>
            <a:ext cx="155448" cy="155448"/>
          </a:xfrm>
          <a:prstGeom prst="ellipse">
            <a:avLst/>
          </a:prstGeom>
          <a:solidFill>
            <a:srgbClr val="D9ACA6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472184" y="5568696"/>
            <a:ext cx="155448" cy="0"/>
          </a:xfrm>
          <a:prstGeom prst="line">
            <a:avLst/>
          </a:prstGeom>
          <a:noFill/>
          <a:ln w="8890">
            <a:solidFill>
              <a:srgbClr val="D9ACA6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627632" y="5486400"/>
            <a:ext cx="155448" cy="155448"/>
          </a:xfrm>
          <a:prstGeom prst="ellipse">
            <a:avLst/>
          </a:prstGeom>
          <a:solidFill>
            <a:srgbClr val="D9ACA6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783080" y="5568696"/>
            <a:ext cx="155448" cy="0"/>
          </a:xfrm>
          <a:prstGeom prst="line">
            <a:avLst/>
          </a:prstGeom>
          <a:noFill/>
          <a:ln w="8890">
            <a:solidFill>
              <a:srgbClr val="D9ACA6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938528" y="5486400"/>
            <a:ext cx="155448" cy="155448"/>
          </a:xfrm>
          <a:prstGeom prst="ellipse">
            <a:avLst/>
          </a:prstGeom>
          <a:solidFill>
            <a:srgbClr val="D9ACA6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093976" y="5568696"/>
            <a:ext cx="155448" cy="0"/>
          </a:xfrm>
          <a:prstGeom prst="line">
            <a:avLst/>
          </a:prstGeom>
          <a:noFill/>
          <a:ln w="8890">
            <a:solidFill>
              <a:srgbClr val="D9ACA6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249424" y="5486400"/>
            <a:ext cx="155448" cy="155448"/>
          </a:xfrm>
          <a:prstGeom prst="ellipse">
            <a:avLst/>
          </a:prstGeom>
          <a:solidFill>
            <a:srgbClr val="D9ACA6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404872" y="5568696"/>
            <a:ext cx="155448" cy="0"/>
          </a:xfrm>
          <a:prstGeom prst="line">
            <a:avLst/>
          </a:prstGeom>
          <a:noFill/>
          <a:ln w="8890">
            <a:solidFill>
              <a:srgbClr val="D9ACA6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560320" y="5486400"/>
            <a:ext cx="155448" cy="155448"/>
          </a:xfrm>
          <a:prstGeom prst="ellipse">
            <a:avLst/>
          </a:prstGeom>
          <a:solidFill>
            <a:srgbClr val="D9ACA6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715768" y="5568696"/>
            <a:ext cx="155448" cy="0"/>
          </a:xfrm>
          <a:prstGeom prst="line">
            <a:avLst/>
          </a:prstGeom>
          <a:noFill/>
          <a:ln w="8890">
            <a:solidFill>
              <a:srgbClr val="D9ACA6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871216" y="5486400"/>
            <a:ext cx="155448" cy="155448"/>
          </a:xfrm>
          <a:prstGeom prst="ellipse">
            <a:avLst/>
          </a:prstGeom>
          <a:solidFill>
            <a:srgbClr val="D9ACA6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30352" y="587044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3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1005840" y="5833872"/>
            <a:ext cx="155448" cy="155448"/>
          </a:xfrm>
          <a:prstGeom prst="ellipse">
            <a:avLst/>
          </a:prstGeom>
          <a:solidFill>
            <a:srgbClr val="A9CFD8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161288" y="5916168"/>
            <a:ext cx="155448" cy="0"/>
          </a:xfrm>
          <a:prstGeom prst="line">
            <a:avLst/>
          </a:prstGeom>
          <a:noFill/>
          <a:ln w="8890">
            <a:solidFill>
              <a:srgbClr val="A9CFD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316736" y="5833872"/>
            <a:ext cx="155448" cy="155448"/>
          </a:xfrm>
          <a:prstGeom prst="ellipse">
            <a:avLst/>
          </a:prstGeom>
          <a:solidFill>
            <a:srgbClr val="A9CFD8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472184" y="5916168"/>
            <a:ext cx="155448" cy="0"/>
          </a:xfrm>
          <a:prstGeom prst="line">
            <a:avLst/>
          </a:prstGeom>
          <a:noFill/>
          <a:ln w="8890">
            <a:solidFill>
              <a:srgbClr val="A9CFD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627632" y="5833872"/>
            <a:ext cx="155448" cy="155448"/>
          </a:xfrm>
          <a:prstGeom prst="ellipse">
            <a:avLst/>
          </a:prstGeom>
          <a:solidFill>
            <a:srgbClr val="A9CFD8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783080" y="5916168"/>
            <a:ext cx="155448" cy="0"/>
          </a:xfrm>
          <a:prstGeom prst="line">
            <a:avLst/>
          </a:prstGeom>
          <a:noFill/>
          <a:ln w="8890">
            <a:solidFill>
              <a:srgbClr val="A9CFD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938528" y="5833872"/>
            <a:ext cx="155448" cy="155448"/>
          </a:xfrm>
          <a:prstGeom prst="ellipse">
            <a:avLst/>
          </a:prstGeom>
          <a:solidFill>
            <a:srgbClr val="A9CFD8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093976" y="5916168"/>
            <a:ext cx="155448" cy="0"/>
          </a:xfrm>
          <a:prstGeom prst="line">
            <a:avLst/>
          </a:prstGeom>
          <a:noFill/>
          <a:ln w="8890">
            <a:solidFill>
              <a:srgbClr val="A9CFD8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249424" y="5833872"/>
            <a:ext cx="155448" cy="155448"/>
          </a:xfrm>
          <a:prstGeom prst="ellipse">
            <a:avLst/>
          </a:prstGeom>
          <a:solidFill>
            <a:srgbClr val="A9CFD8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404872" y="5916168"/>
            <a:ext cx="155448" cy="0"/>
          </a:xfrm>
          <a:prstGeom prst="line">
            <a:avLst/>
          </a:prstGeom>
          <a:noFill/>
          <a:ln w="8890">
            <a:solidFill>
              <a:srgbClr val="A9CFD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560320" y="5833872"/>
            <a:ext cx="155448" cy="155448"/>
          </a:xfrm>
          <a:prstGeom prst="ellipse">
            <a:avLst/>
          </a:prstGeom>
          <a:solidFill>
            <a:srgbClr val="A9CFD8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715768" y="5916168"/>
            <a:ext cx="155448" cy="0"/>
          </a:xfrm>
          <a:prstGeom prst="line">
            <a:avLst/>
          </a:prstGeom>
          <a:noFill/>
          <a:ln w="8890">
            <a:solidFill>
              <a:srgbClr val="A9CFD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871216" y="5833872"/>
            <a:ext cx="155448" cy="155448"/>
          </a:xfrm>
          <a:prstGeom prst="ellipse">
            <a:avLst/>
          </a:prstGeom>
          <a:solidFill>
            <a:srgbClr val="A9CFD8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810512" y="5001768"/>
            <a:ext cx="256032" cy="107899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6985">
            <a:solidFill>
              <a:srgbClr val="4AA7B5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834640" y="5303520"/>
            <a:ext cx="201168" cy="0"/>
          </a:xfrm>
          <a:prstGeom prst="line">
            <a:avLst/>
          </a:prstGeom>
          <a:noFill/>
          <a:ln w="12065">
            <a:solidFill>
              <a:srgbClr val="26313A"/>
            </a:solidFill>
            <a:prstDash val="solid"/>
            <a:tailEnd type="triangle"/>
          </a:ln>
        </p:spPr>
      </p:sp>
      <p:sp>
        <p:nvSpPr>
          <p:cNvPr id="149" name="Shape 147"/>
          <p:cNvSpPr/>
          <p:nvPr/>
        </p:nvSpPr>
        <p:spPr>
          <a:xfrm>
            <a:off x="3035808" y="4526280"/>
            <a:ext cx="2871216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4AA7B5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3218688" y="46634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Proposal</a:t>
            </a:r>
            <a:endParaRPr lang="en-US" sz="1050" dirty="0"/>
          </a:p>
        </p:txBody>
      </p:sp>
      <p:sp>
        <p:nvSpPr>
          <p:cNvPr id="151" name="Shape 149"/>
          <p:cNvSpPr/>
          <p:nvPr/>
        </p:nvSpPr>
        <p:spPr>
          <a:xfrm>
            <a:off x="3282696" y="5084064"/>
            <a:ext cx="109728" cy="109728"/>
          </a:xfrm>
          <a:prstGeom prst="roundRect">
            <a:avLst>
              <a:gd name="adj" fmla="val 66667"/>
            </a:avLst>
          </a:prstGeom>
          <a:solidFill>
            <a:srgbClr val="EAF1FB"/>
          </a:solidFill>
          <a:ln w="4445">
            <a:solidFill>
              <a:srgbClr val="8A99A5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3429000" y="5084064"/>
            <a:ext cx="109728" cy="109728"/>
          </a:xfrm>
          <a:prstGeom prst="roundRect">
            <a:avLst>
              <a:gd name="adj" fmla="val 66667"/>
            </a:avLst>
          </a:prstGeom>
          <a:solidFill>
            <a:srgbClr val="EAF1FB"/>
          </a:solidFill>
          <a:ln w="4445">
            <a:solidFill>
              <a:srgbClr val="8A99A5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575304" y="5084064"/>
            <a:ext cx="109728" cy="109728"/>
          </a:xfrm>
          <a:prstGeom prst="roundRect">
            <a:avLst>
              <a:gd name="adj" fmla="val 66667"/>
            </a:avLst>
          </a:prstGeom>
          <a:solidFill>
            <a:srgbClr val="EAF1FB"/>
          </a:solidFill>
          <a:ln w="4445">
            <a:solidFill>
              <a:srgbClr val="8A99A5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282696" y="5385816"/>
            <a:ext cx="109728" cy="109728"/>
          </a:xfrm>
          <a:prstGeom prst="roundRect">
            <a:avLst>
              <a:gd name="adj" fmla="val 66667"/>
            </a:avLst>
          </a:prstGeom>
          <a:solidFill>
            <a:srgbClr val="FBEDEC"/>
          </a:solidFill>
          <a:ln w="4445">
            <a:solidFill>
              <a:srgbClr val="8A99A5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429000" y="5385816"/>
            <a:ext cx="109728" cy="109728"/>
          </a:xfrm>
          <a:prstGeom prst="roundRect">
            <a:avLst>
              <a:gd name="adj" fmla="val 66667"/>
            </a:avLst>
          </a:prstGeom>
          <a:solidFill>
            <a:srgbClr val="FBEDEC"/>
          </a:solidFill>
          <a:ln w="4445">
            <a:solidFill>
              <a:srgbClr val="8A99A5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575304" y="5385816"/>
            <a:ext cx="109728" cy="109728"/>
          </a:xfrm>
          <a:prstGeom prst="roundRect">
            <a:avLst>
              <a:gd name="adj" fmla="val 66667"/>
            </a:avLst>
          </a:prstGeom>
          <a:solidFill>
            <a:srgbClr val="FBEDEC"/>
          </a:solidFill>
          <a:ln w="4445">
            <a:solidFill>
              <a:srgbClr val="8A99A5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3282696" y="5687568"/>
            <a:ext cx="109728" cy="109728"/>
          </a:xfrm>
          <a:prstGeom prst="roundRect">
            <a:avLst>
              <a:gd name="adj" fmla="val 66667"/>
            </a:avLst>
          </a:prstGeom>
          <a:solidFill>
            <a:srgbClr val="EEF6EE"/>
          </a:solidFill>
          <a:ln w="4445">
            <a:solidFill>
              <a:srgbClr val="8A99A5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3429000" y="5687568"/>
            <a:ext cx="109728" cy="109728"/>
          </a:xfrm>
          <a:prstGeom prst="roundRect">
            <a:avLst>
              <a:gd name="adj" fmla="val 66667"/>
            </a:avLst>
          </a:prstGeom>
          <a:solidFill>
            <a:srgbClr val="EEF6EE"/>
          </a:solidFill>
          <a:ln w="4445">
            <a:solidFill>
              <a:srgbClr val="8A99A5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3575304" y="5687568"/>
            <a:ext cx="109728" cy="109728"/>
          </a:xfrm>
          <a:prstGeom prst="roundRect">
            <a:avLst>
              <a:gd name="adj" fmla="val 66667"/>
            </a:avLst>
          </a:prstGeom>
          <a:solidFill>
            <a:srgbClr val="EEF6EE"/>
          </a:solidFill>
          <a:ln w="4445">
            <a:solidFill>
              <a:srgbClr val="8A99A5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4114800" y="5413248"/>
            <a:ext cx="310896" cy="0"/>
          </a:xfrm>
          <a:prstGeom prst="line">
            <a:avLst/>
          </a:prstGeom>
          <a:noFill/>
          <a:ln w="10160">
            <a:solidFill>
              <a:srgbClr val="26313A"/>
            </a:solidFill>
            <a:prstDash val="solid"/>
            <a:tailEnd type="triangle"/>
          </a:ln>
        </p:spPr>
      </p:sp>
      <p:sp>
        <p:nvSpPr>
          <p:cNvPr id="161" name="Shape 159"/>
          <p:cNvSpPr/>
          <p:nvPr/>
        </p:nvSpPr>
        <p:spPr>
          <a:xfrm>
            <a:off x="4443984" y="4992624"/>
            <a:ext cx="960120" cy="621792"/>
          </a:xfrm>
          <a:prstGeom prst="roundRect">
            <a:avLst>
              <a:gd name="adj" fmla="val 11765"/>
            </a:avLst>
          </a:prstGeom>
          <a:solidFill>
            <a:srgbClr val="EAF1FB"/>
          </a:solidFill>
          <a:ln w="8890">
            <a:solidFill>
              <a:srgbClr val="8A99A5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4544568" y="5138928"/>
            <a:ext cx="7589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MLP</a:t>
            </a:r>
            <a:endParaRPr lang="en-US" sz="860" dirty="0"/>
          </a:p>
        </p:txBody>
      </p:sp>
      <p:sp>
        <p:nvSpPr>
          <p:cNvPr id="163" name="Text 161"/>
          <p:cNvSpPr/>
          <p:nvPr/>
        </p:nvSpPr>
        <p:spPr>
          <a:xfrm>
            <a:off x="4773168" y="5623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164" name="Text 162"/>
          <p:cNvSpPr/>
          <p:nvPr/>
        </p:nvSpPr>
        <p:spPr>
          <a:xfrm>
            <a:off x="3346704" y="5852160"/>
            <a:ext cx="12252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neighbors only</a:t>
            </a:r>
            <a:endParaRPr lang="en-US" sz="750" dirty="0"/>
          </a:p>
        </p:txBody>
      </p:sp>
      <p:sp>
        <p:nvSpPr>
          <p:cNvPr id="165" name="Shape 163"/>
          <p:cNvSpPr/>
          <p:nvPr/>
        </p:nvSpPr>
        <p:spPr>
          <a:xfrm>
            <a:off x="5413248" y="5303520"/>
            <a:ext cx="256032" cy="0"/>
          </a:xfrm>
          <a:prstGeom prst="line">
            <a:avLst/>
          </a:prstGeom>
          <a:noFill/>
          <a:ln w="10160">
            <a:solidFill>
              <a:srgbClr val="26313A"/>
            </a:solidFill>
            <a:prstDash val="solid"/>
            <a:tailEnd type="triangle"/>
          </a:ln>
        </p:spPr>
      </p:sp>
      <p:sp>
        <p:nvSpPr>
          <p:cNvPr id="166" name="Shape 164"/>
          <p:cNvSpPr/>
          <p:nvPr/>
        </p:nvSpPr>
        <p:spPr>
          <a:xfrm>
            <a:off x="5669280" y="5239512"/>
            <a:ext cx="109728" cy="109728"/>
          </a:xfrm>
          <a:prstGeom prst="roundRect">
            <a:avLst>
              <a:gd name="adj" fmla="val 66667"/>
            </a:avLst>
          </a:prstGeom>
          <a:solidFill>
            <a:srgbClr val="CBBAD8"/>
          </a:solidFill>
          <a:ln w="4445">
            <a:solidFill>
              <a:srgbClr val="8A99A5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815584" y="5239512"/>
            <a:ext cx="109728" cy="109728"/>
          </a:xfrm>
          <a:prstGeom prst="roundRect">
            <a:avLst>
              <a:gd name="adj" fmla="val 66667"/>
            </a:avLst>
          </a:prstGeom>
          <a:solidFill>
            <a:srgbClr val="CBBAD8"/>
          </a:solidFill>
          <a:ln w="4445">
            <a:solidFill>
              <a:srgbClr val="8A99A5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961888" y="5239512"/>
            <a:ext cx="109728" cy="109728"/>
          </a:xfrm>
          <a:prstGeom prst="roundRect">
            <a:avLst>
              <a:gd name="adj" fmla="val 66667"/>
            </a:avLst>
          </a:prstGeom>
          <a:solidFill>
            <a:srgbClr val="CBBAD8"/>
          </a:solidFill>
          <a:ln w="4445">
            <a:solidFill>
              <a:srgbClr val="8A99A5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5687568" y="5065776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Mₜ</a:t>
            </a:r>
            <a:endParaRPr lang="en-US" sz="830" dirty="0"/>
          </a:p>
        </p:txBody>
      </p:sp>
      <p:sp>
        <p:nvSpPr>
          <p:cNvPr id="170" name="Shape 168"/>
          <p:cNvSpPr/>
          <p:nvPr/>
        </p:nvSpPr>
        <p:spPr>
          <a:xfrm>
            <a:off x="5916168" y="5303520"/>
            <a:ext cx="210312" cy="0"/>
          </a:xfrm>
          <a:prstGeom prst="line">
            <a:avLst/>
          </a:prstGeom>
          <a:noFill/>
          <a:ln w="12065">
            <a:solidFill>
              <a:srgbClr val="26313A"/>
            </a:solidFill>
            <a:prstDash val="solid"/>
            <a:tailEnd type="triangle"/>
          </a:ln>
        </p:spPr>
      </p:sp>
      <p:sp>
        <p:nvSpPr>
          <p:cNvPr id="171" name="Shape 169"/>
          <p:cNvSpPr/>
          <p:nvPr/>
        </p:nvSpPr>
        <p:spPr>
          <a:xfrm>
            <a:off x="6126480" y="452628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4AA7B5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6345936" y="46634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Fusion</a:t>
            </a:r>
            <a:endParaRPr lang="en-US" sz="1050" dirty="0"/>
          </a:p>
        </p:txBody>
      </p:sp>
      <p:sp>
        <p:nvSpPr>
          <p:cNvPr id="173" name="Shape 171"/>
          <p:cNvSpPr/>
          <p:nvPr/>
        </p:nvSpPr>
        <p:spPr>
          <a:xfrm>
            <a:off x="6327648" y="498348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ECFAFC"/>
          </a:solidFill>
          <a:ln w="6985">
            <a:solidFill>
              <a:srgbClr val="8A99A5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6345936" y="5047488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Oₜ</a:t>
            </a:r>
            <a:endParaRPr lang="en-US" sz="730" dirty="0"/>
          </a:p>
        </p:txBody>
      </p:sp>
      <p:sp>
        <p:nvSpPr>
          <p:cNvPr id="175" name="Shape 173"/>
          <p:cNvSpPr/>
          <p:nvPr/>
        </p:nvSpPr>
        <p:spPr>
          <a:xfrm>
            <a:off x="6327648" y="5458968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F1EDF7"/>
          </a:solidFill>
          <a:ln w="6985">
            <a:solidFill>
              <a:srgbClr val="8A99A5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6345936" y="5522976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Mₜ</a:t>
            </a:r>
            <a:endParaRPr lang="en-US" sz="730" dirty="0"/>
          </a:p>
        </p:txBody>
      </p:sp>
      <p:sp>
        <p:nvSpPr>
          <p:cNvPr id="177" name="Shape 175"/>
          <p:cNvSpPr/>
          <p:nvPr/>
        </p:nvSpPr>
        <p:spPr>
          <a:xfrm>
            <a:off x="6693408" y="5120640"/>
            <a:ext cx="274320" cy="0"/>
          </a:xfrm>
          <a:prstGeom prst="line">
            <a:avLst/>
          </a:prstGeom>
          <a:noFill/>
          <a:ln w="9525">
            <a:solidFill>
              <a:srgbClr val="26313A"/>
            </a:solidFill>
            <a:prstDash val="solid"/>
            <a:tailEnd type="triangle"/>
          </a:ln>
        </p:spPr>
      </p:sp>
      <p:sp>
        <p:nvSpPr>
          <p:cNvPr id="178" name="Shape 176"/>
          <p:cNvSpPr/>
          <p:nvPr/>
        </p:nvSpPr>
        <p:spPr>
          <a:xfrm>
            <a:off x="6693408" y="5596128"/>
            <a:ext cx="274320" cy="0"/>
          </a:xfrm>
          <a:prstGeom prst="line">
            <a:avLst/>
          </a:prstGeom>
          <a:noFill/>
          <a:ln w="9525">
            <a:solidFill>
              <a:srgbClr val="26313A"/>
            </a:solidFill>
            <a:prstDash val="solid"/>
            <a:tailEnd type="triangle"/>
          </a:ln>
        </p:spPr>
      </p:sp>
      <p:sp>
        <p:nvSpPr>
          <p:cNvPr id="179" name="Shape 177"/>
          <p:cNvSpPr/>
          <p:nvPr/>
        </p:nvSpPr>
        <p:spPr>
          <a:xfrm>
            <a:off x="6986016" y="5093208"/>
            <a:ext cx="621792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8255">
            <a:solidFill>
              <a:srgbClr val="8A99A5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7068312" y="51937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820" dirty="0"/>
          </a:p>
        </p:txBody>
      </p:sp>
      <p:sp>
        <p:nvSpPr>
          <p:cNvPr id="181" name="Shape 179"/>
          <p:cNvSpPr/>
          <p:nvPr/>
        </p:nvSpPr>
        <p:spPr>
          <a:xfrm>
            <a:off x="7616952" y="5340096"/>
            <a:ext cx="201168" cy="0"/>
          </a:xfrm>
          <a:prstGeom prst="line">
            <a:avLst/>
          </a:prstGeom>
          <a:noFill/>
          <a:ln w="9525">
            <a:solidFill>
              <a:srgbClr val="26313A"/>
            </a:solidFill>
            <a:prstDash val="solid"/>
            <a:tailEnd type="triangle"/>
          </a:ln>
        </p:spPr>
      </p:sp>
      <p:sp>
        <p:nvSpPr>
          <p:cNvPr id="182" name="Shape 180"/>
          <p:cNvSpPr/>
          <p:nvPr/>
        </p:nvSpPr>
        <p:spPr>
          <a:xfrm>
            <a:off x="7827264" y="5120640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FCF8E7"/>
          </a:solidFill>
          <a:ln w="7620">
            <a:solidFill>
              <a:srgbClr val="E7DAAC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7845552" y="5212080"/>
            <a:ext cx="557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αₜ ≤ 0.5</a:t>
            </a:r>
            <a:endParaRPr lang="en-US" sz="730" dirty="0"/>
          </a:p>
        </p:txBody>
      </p:sp>
      <p:sp>
        <p:nvSpPr>
          <p:cNvPr id="184" name="Shape 182"/>
          <p:cNvSpPr/>
          <p:nvPr/>
        </p:nvSpPr>
        <p:spPr>
          <a:xfrm>
            <a:off x="8119872" y="5449824"/>
            <a:ext cx="0" cy="128016"/>
          </a:xfrm>
          <a:prstGeom prst="line">
            <a:avLst/>
          </a:prstGeom>
          <a:noFill/>
          <a:ln w="8890">
            <a:solidFill>
              <a:srgbClr val="26313A"/>
            </a:solidFill>
            <a:prstDash val="solid"/>
            <a:tailEnd type="triangle"/>
          </a:ln>
        </p:spPr>
      </p:sp>
      <p:sp>
        <p:nvSpPr>
          <p:cNvPr id="185" name="Shape 183"/>
          <p:cNvSpPr/>
          <p:nvPr/>
        </p:nvSpPr>
        <p:spPr>
          <a:xfrm>
            <a:off x="6492240" y="5605272"/>
            <a:ext cx="1975104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985">
            <a:solidFill>
              <a:srgbClr val="8A99A5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583680" y="5687568"/>
            <a:ext cx="1792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X* = Oₜ + αₜ(Mₜ − Oₜ)</a:t>
            </a:r>
            <a:endParaRPr lang="en-US" sz="730" dirty="0"/>
          </a:p>
        </p:txBody>
      </p:sp>
      <p:sp>
        <p:nvSpPr>
          <p:cNvPr id="187" name="Shape 185"/>
          <p:cNvSpPr/>
          <p:nvPr/>
        </p:nvSpPr>
        <p:spPr>
          <a:xfrm>
            <a:off x="8915400" y="5303520"/>
            <a:ext cx="210312" cy="0"/>
          </a:xfrm>
          <a:prstGeom prst="line">
            <a:avLst/>
          </a:prstGeom>
          <a:noFill/>
          <a:ln w="12065">
            <a:solidFill>
              <a:srgbClr val="26313A"/>
            </a:solidFill>
            <a:prstDash val="solid"/>
            <a:tailEnd type="triangle"/>
          </a:ln>
        </p:spPr>
      </p:sp>
      <p:sp>
        <p:nvSpPr>
          <p:cNvPr id="188" name="Shape 186"/>
          <p:cNvSpPr/>
          <p:nvPr/>
        </p:nvSpPr>
        <p:spPr>
          <a:xfrm>
            <a:off x="9125712" y="4526280"/>
            <a:ext cx="257860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4AA7B5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9326880" y="46634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sequence</a:t>
            </a:r>
            <a:endParaRPr lang="en-US" sz="1020" dirty="0"/>
          </a:p>
        </p:txBody>
      </p:sp>
      <p:sp>
        <p:nvSpPr>
          <p:cNvPr id="190" name="Shape 188"/>
          <p:cNvSpPr/>
          <p:nvPr/>
        </p:nvSpPr>
        <p:spPr>
          <a:xfrm>
            <a:off x="9326880" y="5138928"/>
            <a:ext cx="146304" cy="146304"/>
          </a:xfrm>
          <a:prstGeom prst="ellipse">
            <a:avLst/>
          </a:prstGeom>
          <a:solidFill>
            <a:srgbClr val="99ADD4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9473184" y="5212080"/>
            <a:ext cx="192024" cy="0"/>
          </a:xfrm>
          <a:prstGeom prst="line">
            <a:avLst/>
          </a:prstGeom>
          <a:noFill/>
          <a:ln w="9525">
            <a:solidFill>
              <a:srgbClr val="99ADD4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9665208" y="5138928"/>
            <a:ext cx="146304" cy="146304"/>
          </a:xfrm>
          <a:prstGeom prst="ellipse">
            <a:avLst/>
          </a:prstGeom>
          <a:solidFill>
            <a:srgbClr val="99ADD4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9811512" y="5212080"/>
            <a:ext cx="192024" cy="0"/>
          </a:xfrm>
          <a:prstGeom prst="line">
            <a:avLst/>
          </a:prstGeom>
          <a:noFill/>
          <a:ln w="9525">
            <a:solidFill>
              <a:srgbClr val="99ADD4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10003536" y="5138928"/>
            <a:ext cx="146304" cy="146304"/>
          </a:xfrm>
          <a:prstGeom prst="ellipse">
            <a:avLst/>
          </a:prstGeom>
          <a:solidFill>
            <a:srgbClr val="99ADD4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10149840" y="5212080"/>
            <a:ext cx="192024" cy="0"/>
          </a:xfrm>
          <a:prstGeom prst="line">
            <a:avLst/>
          </a:prstGeom>
          <a:noFill/>
          <a:ln w="9525">
            <a:solidFill>
              <a:srgbClr val="99ADD4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10341864" y="5138928"/>
            <a:ext cx="146304" cy="146304"/>
          </a:xfrm>
          <a:prstGeom prst="ellipse">
            <a:avLst/>
          </a:prstGeom>
          <a:solidFill>
            <a:srgbClr val="99ADD4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0488168" y="5212080"/>
            <a:ext cx="192024" cy="0"/>
          </a:xfrm>
          <a:prstGeom prst="line">
            <a:avLst/>
          </a:prstGeom>
          <a:noFill/>
          <a:ln w="9525">
            <a:solidFill>
              <a:srgbClr val="99ADD4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10680192" y="5138928"/>
            <a:ext cx="146304" cy="146304"/>
          </a:xfrm>
          <a:prstGeom prst="ellipse">
            <a:avLst/>
          </a:prstGeom>
          <a:solidFill>
            <a:srgbClr val="99ADD4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9326880" y="5449824"/>
            <a:ext cx="146304" cy="146304"/>
          </a:xfrm>
          <a:prstGeom prst="ellipse">
            <a:avLst/>
          </a:prstGeom>
          <a:solidFill>
            <a:srgbClr val="D9ACA6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9473184" y="5522976"/>
            <a:ext cx="192024" cy="0"/>
          </a:xfrm>
          <a:prstGeom prst="line">
            <a:avLst/>
          </a:prstGeom>
          <a:noFill/>
          <a:ln w="9525">
            <a:solidFill>
              <a:srgbClr val="D9ACA6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9665208" y="5449824"/>
            <a:ext cx="146304" cy="146304"/>
          </a:xfrm>
          <a:prstGeom prst="ellipse">
            <a:avLst/>
          </a:prstGeom>
          <a:solidFill>
            <a:srgbClr val="D9ACA6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9811512" y="5522976"/>
            <a:ext cx="192024" cy="0"/>
          </a:xfrm>
          <a:prstGeom prst="line">
            <a:avLst/>
          </a:prstGeom>
          <a:noFill/>
          <a:ln w="9525">
            <a:solidFill>
              <a:srgbClr val="D9ACA6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0003536" y="5449824"/>
            <a:ext cx="146304" cy="146304"/>
          </a:xfrm>
          <a:prstGeom prst="ellipse">
            <a:avLst/>
          </a:prstGeom>
          <a:solidFill>
            <a:srgbClr val="D9ACA6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0149840" y="5522976"/>
            <a:ext cx="192024" cy="0"/>
          </a:xfrm>
          <a:prstGeom prst="line">
            <a:avLst/>
          </a:prstGeom>
          <a:noFill/>
          <a:ln w="9525">
            <a:solidFill>
              <a:srgbClr val="D9ACA6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0341864" y="5449824"/>
            <a:ext cx="146304" cy="146304"/>
          </a:xfrm>
          <a:prstGeom prst="ellipse">
            <a:avLst/>
          </a:prstGeom>
          <a:solidFill>
            <a:srgbClr val="D9ACA6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488168" y="5522976"/>
            <a:ext cx="192024" cy="0"/>
          </a:xfrm>
          <a:prstGeom prst="line">
            <a:avLst/>
          </a:prstGeom>
          <a:noFill/>
          <a:ln w="9525">
            <a:solidFill>
              <a:srgbClr val="D9ACA6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680192" y="5449824"/>
            <a:ext cx="146304" cy="146304"/>
          </a:xfrm>
          <a:prstGeom prst="ellipse">
            <a:avLst/>
          </a:prstGeom>
          <a:solidFill>
            <a:srgbClr val="D9ACA6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9326880" y="5760720"/>
            <a:ext cx="146304" cy="146304"/>
          </a:xfrm>
          <a:prstGeom prst="ellipse">
            <a:avLst/>
          </a:prstGeom>
          <a:solidFill>
            <a:srgbClr val="A9CFD8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9473184" y="5833872"/>
            <a:ext cx="192024" cy="0"/>
          </a:xfrm>
          <a:prstGeom prst="line">
            <a:avLst/>
          </a:prstGeom>
          <a:noFill/>
          <a:ln w="9525">
            <a:solidFill>
              <a:srgbClr val="A9CFD8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9665208" y="5760720"/>
            <a:ext cx="146304" cy="146304"/>
          </a:xfrm>
          <a:prstGeom prst="ellipse">
            <a:avLst/>
          </a:prstGeom>
          <a:solidFill>
            <a:srgbClr val="A9CFD8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9811512" y="5833872"/>
            <a:ext cx="192024" cy="0"/>
          </a:xfrm>
          <a:prstGeom prst="line">
            <a:avLst/>
          </a:prstGeom>
          <a:noFill/>
          <a:ln w="9525">
            <a:solidFill>
              <a:srgbClr val="A9CFD8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003536" y="5760720"/>
            <a:ext cx="146304" cy="146304"/>
          </a:xfrm>
          <a:prstGeom prst="ellipse">
            <a:avLst/>
          </a:prstGeom>
          <a:solidFill>
            <a:srgbClr val="A9CFD8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149840" y="5833872"/>
            <a:ext cx="192024" cy="0"/>
          </a:xfrm>
          <a:prstGeom prst="line">
            <a:avLst/>
          </a:prstGeom>
          <a:noFill/>
          <a:ln w="9525">
            <a:solidFill>
              <a:srgbClr val="A9CFD8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341864" y="5760720"/>
            <a:ext cx="146304" cy="146304"/>
          </a:xfrm>
          <a:prstGeom prst="ellipse">
            <a:avLst/>
          </a:prstGeom>
          <a:solidFill>
            <a:srgbClr val="A9CFD8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488168" y="5833872"/>
            <a:ext cx="192024" cy="0"/>
          </a:xfrm>
          <a:prstGeom prst="line">
            <a:avLst/>
          </a:prstGeom>
          <a:noFill/>
          <a:ln w="9525">
            <a:solidFill>
              <a:srgbClr val="A9CFD8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0680192" y="5760720"/>
            <a:ext cx="146304" cy="146304"/>
          </a:xfrm>
          <a:prstGeom prst="ellipse">
            <a:avLst/>
          </a:prstGeom>
          <a:solidFill>
            <a:srgbClr val="A9CFD8"/>
          </a:solidFill>
          <a:ln w="5715">
            <a:solidFill>
              <a:srgbClr val="8A99A5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155448" y="65105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Spatial–Temporal Refinement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Spatial–Temporal Refinement — Editable Main-paper Figure</dc:title>
  <dc:subject>Editable PPT reconstruction of the main-paper architecture inset</dc:subject>
  <dc:creator>Codex</dc:creator>
  <cp:lastModifiedBy>Codex</cp:lastModifiedBy>
  <cp:revision>1</cp:revision>
  <dcterms:created xsi:type="dcterms:W3CDTF">2026-09-11T11:19:52Z</dcterms:created>
  <dcterms:modified xsi:type="dcterms:W3CDTF">2026-09-11T11:19:52Z</dcterms:modified>
</cp:coreProperties>
</file>