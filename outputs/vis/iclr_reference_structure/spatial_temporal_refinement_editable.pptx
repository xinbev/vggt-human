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" y="89245"/>
            <a:ext cx="192024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C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146304" y="401604"/>
            <a:ext cx="914400" cy="312359"/>
          </a:xfrm>
          <a:prstGeom prst="roundRect">
            <a:avLst>
              <a:gd name="adj" fmla="val 17564"/>
            </a:avLst>
          </a:prstGeom>
          <a:solidFill>
            <a:srgbClr val="EAF0FA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" y="418338"/>
            <a:ext cx="914400" cy="25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TRSTR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3504" y="713964"/>
            <a:ext cx="36576" cy="245425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8784" y="401604"/>
            <a:ext cx="1143000" cy="312359"/>
          </a:xfrm>
          <a:prstGeom prst="roundRect">
            <a:avLst>
              <a:gd name="adj" fmla="val 17564"/>
            </a:avLst>
          </a:prstGeom>
          <a:solidFill>
            <a:srgbClr val="ECFAFC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58784" y="418338"/>
            <a:ext cx="1143000" cy="25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30284" y="713964"/>
            <a:ext cx="-22860" cy="245425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914766"/>
            <a:ext cx="7360920" cy="4852721"/>
          </a:xfrm>
          <a:prstGeom prst="roundRect">
            <a:avLst>
              <a:gd name="adj" fmla="val 1884"/>
            </a:avLst>
          </a:prstGeom>
          <a:solidFill>
            <a:srgbClr val="EAF0FA"/>
          </a:solidFill>
          <a:ln w="12700">
            <a:solidFill>
              <a:srgbClr val="99A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07808" y="914766"/>
            <a:ext cx="4471416" cy="4852721"/>
          </a:xfrm>
          <a:prstGeom prst="roundRect">
            <a:avLst>
              <a:gd name="adj" fmla="val 2045"/>
            </a:avLst>
          </a:prstGeom>
          <a:solidFill>
            <a:srgbClr val="ECFAFC"/>
          </a:solidFill>
          <a:ln w="12700">
            <a:solidFill>
              <a:srgbClr val="4EA6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048634"/>
            <a:ext cx="292608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TRSTR Internal Dataflow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35824" y="1048634"/>
            <a:ext cx="393192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Temporal Stabilizer Internal Dataflow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228600" y="1584107"/>
            <a:ext cx="713232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623151"/>
            <a:ext cx="658368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987552" y="1584107"/>
            <a:ext cx="1216152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1623151"/>
            <a:ext cx="1161288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Geometry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249424" y="1584107"/>
            <a:ext cx="1243584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76856" y="1623151"/>
            <a:ext cx="118872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RegionalSceneProbe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3538728" y="1584107"/>
            <a:ext cx="1161288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623151"/>
            <a:ext cx="1106424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Encoder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4745736" y="1584107"/>
            <a:ext cx="1536192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623151"/>
            <a:ext cx="1481328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Heads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327648" y="1584107"/>
            <a:ext cx="1005840" cy="334670"/>
          </a:xfrm>
          <a:prstGeom prst="roundRect">
            <a:avLst>
              <a:gd name="adj" fmla="val 13661"/>
            </a:avLst>
          </a:prstGeom>
          <a:solidFill>
            <a:srgbClr val="DCE8F7"/>
          </a:solidFill>
          <a:ln w="7620">
            <a:solidFill>
              <a:srgbClr val="99A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623151"/>
            <a:ext cx="950976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Iterative</a:t>
            </a:r>
            <a:endParaRPr lang="en-US" sz="730" dirty="0"/>
          </a:p>
          <a:p>
            <a:pPr algn="ctr" indent="0" marL="0">
              <a:buNone/>
            </a:pPr>
            <a:r>
              <a:rPr lang="en-US" sz="7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292608" y="2074956"/>
            <a:ext cx="548640" cy="379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pose6d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[B,S,Q,144]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84048" y="2431938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2431938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2431938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2431938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766609"/>
            <a:ext cx="548640" cy="36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[B,S,Q,10]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84048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458261"/>
            <a:ext cx="548640" cy="36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[B,S,Q,3]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384048" y="381524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E7DAAC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381524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E7DAAC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381524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E7DAAC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4183380"/>
            <a:ext cx="54864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D_metric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[F,H,W]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384048" y="4529206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529206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" y="4529206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688" y="4529206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4886188"/>
            <a:ext cx="54864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[F,3,3]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384048" y="520970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520970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520970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568" y="2420783"/>
            <a:ext cx="612648" cy="490850"/>
          </a:xfrm>
          <a:prstGeom prst="roundRect">
            <a:avLst>
              <a:gd name="adj" fmla="val 9314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15568" y="2487717"/>
            <a:ext cx="612648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1728216" y="2666208"/>
            <a:ext cx="173736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911096" y="2431938"/>
            <a:ext cx="320040" cy="390449"/>
          </a:xfrm>
          <a:prstGeom prst="rect">
            <a:avLst/>
          </a:prstGeom>
          <a:solidFill>
            <a:srgbClr val="D8E8EF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56232" y="2889321"/>
            <a:ext cx="438912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70" dirty="0"/>
          </a:p>
          <a:p>
            <a:pPr algn="ctr" indent="0" marL="0">
              <a:buNone/>
            </a:pPr>
            <a:r>
              <a:rPr lang="en-US" sz="6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[F,Q,6890,3]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1124712" y="3681374"/>
            <a:ext cx="658368" cy="446227"/>
          </a:xfrm>
          <a:prstGeom prst="roundRect">
            <a:avLst>
              <a:gd name="adj" fmla="val 10246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3781776"/>
            <a:ext cx="621792" cy="1784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Bank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63040" y="2911632"/>
            <a:ext cx="0" cy="769742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01952" y="3514039"/>
            <a:ext cx="320040" cy="390449"/>
          </a:xfrm>
          <a:prstGeom prst="rect">
            <a:avLst/>
          </a:prstGeom>
          <a:solidFill>
            <a:srgbClr val="D6E8D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10512" y="3949111"/>
            <a:ext cx="502920" cy="30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[F,Q,96,3]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1901952" y="4551517"/>
            <a:ext cx="320040" cy="390449"/>
          </a:xfrm>
          <a:prstGeom prst="rect">
            <a:avLst/>
          </a:prstGeom>
          <a:solidFill>
            <a:srgbClr val="E4D9EF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64792" y="4975433"/>
            <a:ext cx="594360" cy="30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[F,Q,96,8,3]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1783080" y="3904488"/>
            <a:ext cx="118872" cy="-200802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783080" y="3904488"/>
            <a:ext cx="118872" cy="836676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331720" y="2074956"/>
            <a:ext cx="1078992" cy="82552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68296" y="2208825"/>
            <a:ext cx="100584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K → Depth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2468880" y="2521184"/>
            <a:ext cx="256032" cy="245425"/>
          </a:xfrm>
          <a:prstGeom prst="rect">
            <a:avLst/>
          </a:prstGeom>
          <a:solidFill>
            <a:srgbClr val="E2E2DF"/>
          </a:solidFill>
          <a:ln w="6350">
            <a:solidFill>
              <a:srgbClr val="A7A7A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96312" y="2554651"/>
            <a:ext cx="41148" cy="178491"/>
          </a:xfrm>
          <a:prstGeom prst="rect">
            <a:avLst/>
          </a:prstGeom>
          <a:solidFill>
            <a:srgbClr val="D6D6D0"/>
          </a:solidFill>
          <a:ln w="8890">
            <a:solidFill>
              <a:srgbClr val="D6D6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60320" y="2554651"/>
            <a:ext cx="41148" cy="178491"/>
          </a:xfrm>
          <a:prstGeom prst="rect">
            <a:avLst/>
          </a:prstGeom>
          <a:solidFill>
            <a:srgbClr val="BFBFBB"/>
          </a:solidFill>
          <a:ln w="8890">
            <a:solidFill>
              <a:srgbClr val="BFBF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24328" y="2554651"/>
            <a:ext cx="41148" cy="178491"/>
          </a:xfrm>
          <a:prstGeom prst="rect">
            <a:avLst/>
          </a:prstGeom>
          <a:solidFill>
            <a:srgbClr val="A8A8A4"/>
          </a:solidFill>
          <a:ln w="8890">
            <a:solidFill>
              <a:srgbClr val="A8A8A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88336" y="2554651"/>
            <a:ext cx="41148" cy="178491"/>
          </a:xfrm>
          <a:prstGeom prst="rect">
            <a:avLst/>
          </a:prstGeom>
          <a:solidFill>
            <a:srgbClr val="8C8D8A"/>
          </a:solidFill>
          <a:ln w="8890">
            <a:solidFill>
              <a:srgbClr val="8C8D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04577" y="2557997"/>
            <a:ext cx="51206" cy="137438"/>
          </a:xfrm>
          <a:prstGeom prst="ellipse">
            <a:avLst/>
          </a:prstGeom>
          <a:solidFill>
            <a:srgbClr val="5D6060">
              <a:alpha val="80000"/>
            </a:srgbClr>
          </a:solidFill>
          <a:ln w="12700">
            <a:solidFill>
              <a:srgbClr val="5D606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26298" y="2387316"/>
            <a:ext cx="46817" cy="64257"/>
          </a:xfrm>
          <a:prstGeom prst="ellipse">
            <a:avLst/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02890" y="2451572"/>
            <a:ext cx="93635" cy="185631"/>
          </a:xfrm>
          <a:prstGeom prst="roundRect">
            <a:avLst>
              <a:gd name="adj" fmla="val 39062"/>
            </a:avLst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08742" y="2487270"/>
            <a:ext cx="-52669" cy="99955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90672" y="2487270"/>
            <a:ext cx="52669" cy="99955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029224" y="2637203"/>
            <a:ext cx="-32187" cy="124944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70189" y="2637203"/>
            <a:ext cx="32187" cy="124944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0" y="2643896"/>
            <a:ext cx="219456" cy="-22311"/>
          </a:xfrm>
          <a:prstGeom prst="line">
            <a:avLst/>
          </a:prstGeom>
          <a:noFill/>
          <a:ln w="6350">
            <a:solidFill>
              <a:srgbClr val="8B9AA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31720" y="3090123"/>
            <a:ext cx="1078992" cy="691652"/>
          </a:xfrm>
          <a:prstGeom prst="roundRect">
            <a:avLst>
              <a:gd name="adj" fmla="val 6610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441448" y="3190524"/>
            <a:ext cx="457200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Map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487168" y="343594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60904" y="3391327"/>
            <a:ext cx="201168" cy="15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2880360" y="343594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63240" y="3391327"/>
            <a:ext cx="274320" cy="15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2487168" y="359212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60904" y="3547506"/>
            <a:ext cx="274320" cy="15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2331720" y="4004889"/>
            <a:ext cx="1078992" cy="803209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404872" y="4105290"/>
            <a:ext cx="932688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Sampling</a:t>
            </a:r>
            <a:endParaRPr lang="en-US" sz="710" dirty="0"/>
          </a:p>
        </p:txBody>
      </p:sp>
      <p:sp>
        <p:nvSpPr>
          <p:cNvPr id="87" name="Shape 85"/>
          <p:cNvSpPr/>
          <p:nvPr/>
        </p:nvSpPr>
        <p:spPr>
          <a:xfrm>
            <a:off x="2450592" y="4395338"/>
            <a:ext cx="365760" cy="167335"/>
          </a:xfrm>
          <a:prstGeom prst="roundRect">
            <a:avLst>
              <a:gd name="adj" fmla="val 16393"/>
            </a:avLst>
          </a:prstGeom>
          <a:solidFill>
            <a:srgbClr val="F2EDF7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50592" y="4406494"/>
            <a:ext cx="36576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</a:t>
            </a:r>
            <a:endParaRPr lang="en-US" sz="570" dirty="0"/>
          </a:p>
        </p:txBody>
      </p:sp>
      <p:sp>
        <p:nvSpPr>
          <p:cNvPr id="89" name="Shape 87"/>
          <p:cNvSpPr/>
          <p:nvPr/>
        </p:nvSpPr>
        <p:spPr>
          <a:xfrm>
            <a:off x="2907792" y="4395338"/>
            <a:ext cx="365760" cy="167335"/>
          </a:xfrm>
          <a:prstGeom prst="roundRect">
            <a:avLst>
              <a:gd name="adj" fmla="val 16393"/>
            </a:avLst>
          </a:prstGeom>
          <a:solidFill>
            <a:srgbClr val="EAF0FA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907792" y="4406494"/>
            <a:ext cx="36576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7×7</a:t>
            </a:r>
            <a:endParaRPr lang="en-US" sz="570" dirty="0"/>
          </a:p>
        </p:txBody>
      </p:sp>
      <p:sp>
        <p:nvSpPr>
          <p:cNvPr id="91" name="Shape 89"/>
          <p:cNvSpPr/>
          <p:nvPr/>
        </p:nvSpPr>
        <p:spPr>
          <a:xfrm>
            <a:off x="2450592" y="4607296"/>
            <a:ext cx="365760" cy="167335"/>
          </a:xfrm>
          <a:prstGeom prst="roundRect">
            <a:avLst>
              <a:gd name="adj" fmla="val 16393"/>
            </a:avLst>
          </a:prstGeom>
          <a:solidFill>
            <a:srgbClr val="EEF6EE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50592" y="4618452"/>
            <a:ext cx="36576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570" dirty="0"/>
          </a:p>
        </p:txBody>
      </p:sp>
      <p:sp>
        <p:nvSpPr>
          <p:cNvPr id="93" name="Shape 91"/>
          <p:cNvSpPr/>
          <p:nvPr/>
        </p:nvSpPr>
        <p:spPr>
          <a:xfrm>
            <a:off x="2907792" y="4607296"/>
            <a:ext cx="365760" cy="167335"/>
          </a:xfrm>
          <a:prstGeom prst="roundRect">
            <a:avLst>
              <a:gd name="adj" fmla="val 16393"/>
            </a:avLst>
          </a:prstGeom>
          <a:solidFill>
            <a:srgbClr val="FCF8E7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907792" y="4618452"/>
            <a:ext cx="36576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annulus</a:t>
            </a:r>
            <a:endParaRPr lang="en-US" sz="570" dirty="0"/>
          </a:p>
        </p:txBody>
      </p:sp>
      <p:sp>
        <p:nvSpPr>
          <p:cNvPr id="95" name="Shape 93"/>
          <p:cNvSpPr/>
          <p:nvPr/>
        </p:nvSpPr>
        <p:spPr>
          <a:xfrm>
            <a:off x="2880360" y="4808098"/>
            <a:ext cx="0" cy="267736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96" name="Text 94"/>
          <p:cNvSpPr/>
          <p:nvPr/>
        </p:nvSpPr>
        <p:spPr>
          <a:xfrm>
            <a:off x="2505456" y="5031212"/>
            <a:ext cx="877824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Pooling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788920" y="5276637"/>
            <a:ext cx="246888" cy="301203"/>
          </a:xfrm>
          <a:prstGeom prst="rect">
            <a:avLst/>
          </a:prstGeom>
          <a:solidFill>
            <a:srgbClr val="D0E2E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542032" y="5600151"/>
            <a:ext cx="68580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[FQ,96,8,16]</a:t>
            </a:r>
            <a:endParaRPr lang="en-US" sz="630" dirty="0"/>
          </a:p>
        </p:txBody>
      </p:sp>
      <p:sp>
        <p:nvSpPr>
          <p:cNvPr id="99" name="Shape 97"/>
          <p:cNvSpPr/>
          <p:nvPr/>
        </p:nvSpPr>
        <p:spPr>
          <a:xfrm>
            <a:off x="3648456" y="2119579"/>
            <a:ext cx="612648" cy="256581"/>
          </a:xfrm>
          <a:prstGeom prst="roundRect">
            <a:avLst>
              <a:gd name="adj" fmla="val 12473"/>
            </a:avLst>
          </a:prstGeom>
          <a:solidFill>
            <a:srgbClr val="EEF6EE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0" y="2175358"/>
            <a:ext cx="5943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</a:t>
            </a:r>
            <a:endParaRPr lang="en-US" sz="660" dirty="0"/>
          </a:p>
        </p:txBody>
      </p:sp>
      <p:sp>
        <p:nvSpPr>
          <p:cNvPr id="101" name="Shape 99"/>
          <p:cNvSpPr/>
          <p:nvPr/>
        </p:nvSpPr>
        <p:spPr>
          <a:xfrm>
            <a:off x="3648456" y="2510028"/>
            <a:ext cx="612648" cy="256581"/>
          </a:xfrm>
          <a:prstGeom prst="roundRect">
            <a:avLst>
              <a:gd name="adj" fmla="val 12473"/>
            </a:avLst>
          </a:prstGeom>
          <a:solidFill>
            <a:srgbClr val="ECFAFC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0" y="2565806"/>
            <a:ext cx="5943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proj. uv</a:t>
            </a:r>
            <a:endParaRPr lang="en-US" sz="660" dirty="0"/>
          </a:p>
        </p:txBody>
      </p:sp>
      <p:sp>
        <p:nvSpPr>
          <p:cNvPr id="103" name="Shape 101"/>
          <p:cNvSpPr/>
          <p:nvPr/>
        </p:nvSpPr>
        <p:spPr>
          <a:xfrm>
            <a:off x="3648456" y="2900477"/>
            <a:ext cx="612648" cy="256581"/>
          </a:xfrm>
          <a:prstGeom prst="roundRect">
            <a:avLst>
              <a:gd name="adj" fmla="val 12473"/>
            </a:avLst>
          </a:prstGeom>
          <a:solidFill>
            <a:srgbClr val="F2EDF7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0" y="2956255"/>
            <a:ext cx="5943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660" dirty="0"/>
          </a:p>
        </p:txBody>
      </p:sp>
      <p:sp>
        <p:nvSpPr>
          <p:cNvPr id="105" name="Shape 103"/>
          <p:cNvSpPr/>
          <p:nvPr/>
        </p:nvSpPr>
        <p:spPr>
          <a:xfrm>
            <a:off x="3648456" y="3290926"/>
            <a:ext cx="612648" cy="256581"/>
          </a:xfrm>
          <a:prstGeom prst="roundRect">
            <a:avLst>
              <a:gd name="adj" fmla="val 12473"/>
            </a:avLst>
          </a:prstGeom>
          <a:solidFill>
            <a:srgbClr val="FCF8E7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57600" y="3346704"/>
            <a:ext cx="5943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ratios</a:t>
            </a:r>
            <a:endParaRPr lang="en-US" sz="660" dirty="0"/>
          </a:p>
        </p:txBody>
      </p:sp>
      <p:sp>
        <p:nvSpPr>
          <p:cNvPr id="107" name="Shape 105"/>
          <p:cNvSpPr/>
          <p:nvPr/>
        </p:nvSpPr>
        <p:spPr>
          <a:xfrm>
            <a:off x="3648456" y="3681374"/>
            <a:ext cx="612648" cy="256581"/>
          </a:xfrm>
          <a:prstGeom prst="roundRect">
            <a:avLst>
              <a:gd name="adj" fmla="val 12473"/>
            </a:avLst>
          </a:prstGeom>
          <a:solidFill>
            <a:srgbClr val="FBEEEE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0" y="3737153"/>
            <a:ext cx="5943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emb.</a:t>
            </a:r>
            <a:endParaRPr lang="en-US" sz="660" dirty="0"/>
          </a:p>
        </p:txBody>
      </p:sp>
      <p:sp>
        <p:nvSpPr>
          <p:cNvPr id="109" name="Shape 107"/>
          <p:cNvSpPr/>
          <p:nvPr/>
        </p:nvSpPr>
        <p:spPr>
          <a:xfrm>
            <a:off x="4370832" y="2956255"/>
            <a:ext cx="219456" cy="267736"/>
          </a:xfrm>
          <a:prstGeom prst="ellipse">
            <a:avLst/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89120" y="3000878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20" dirty="0"/>
          </a:p>
        </p:txBody>
      </p:sp>
      <p:sp>
        <p:nvSpPr>
          <p:cNvPr id="111" name="Text 109"/>
          <p:cNvSpPr/>
          <p:nvPr/>
        </p:nvSpPr>
        <p:spPr>
          <a:xfrm>
            <a:off x="4233672" y="3279770"/>
            <a:ext cx="45720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xᵣ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[FQ,96,178]</a:t>
            </a:r>
            <a:endParaRPr lang="en-US" sz="620" dirty="0"/>
          </a:p>
        </p:txBody>
      </p:sp>
      <p:sp>
        <p:nvSpPr>
          <p:cNvPr id="112" name="Shape 110"/>
          <p:cNvSpPr/>
          <p:nvPr/>
        </p:nvSpPr>
        <p:spPr>
          <a:xfrm>
            <a:off x="3758184" y="4127602"/>
            <a:ext cx="676656" cy="524317"/>
          </a:xfrm>
          <a:prstGeom prst="roundRect">
            <a:avLst>
              <a:gd name="adj" fmla="val 8720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767328" y="4194536"/>
            <a:ext cx="658368" cy="356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 → 256 →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4151376" y="3603285"/>
            <a:ext cx="0" cy="524317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3941064" y="4964278"/>
            <a:ext cx="246888" cy="301203"/>
          </a:xfrm>
          <a:prstGeom prst="rect">
            <a:avLst/>
          </a:prstGeom>
          <a:solidFill>
            <a:srgbClr val="BFD8E3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767328" y="5287792"/>
            <a:ext cx="603504" cy="30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hᵣ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[FQ,96,256]</a:t>
            </a:r>
            <a:endParaRPr lang="en-US" sz="640" dirty="0"/>
          </a:p>
        </p:txBody>
      </p:sp>
      <p:sp>
        <p:nvSpPr>
          <p:cNvPr id="117" name="Shape 115"/>
          <p:cNvSpPr/>
          <p:nvPr/>
        </p:nvSpPr>
        <p:spPr>
          <a:xfrm>
            <a:off x="3657600" y="5555529"/>
            <a:ext cx="749808" cy="334670"/>
          </a:xfrm>
          <a:prstGeom prst="roundRect">
            <a:avLst>
              <a:gd name="adj" fmla="val 13661"/>
            </a:avLst>
          </a:prstGeom>
          <a:solidFill>
            <a:srgbClr val="FCF8E7"/>
          </a:solidFill>
          <a:ln w="7620">
            <a:solidFill>
              <a:srgbClr val="E7DAA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694176" y="5644774"/>
            <a:ext cx="676656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gate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4919472" y="2454250"/>
            <a:ext cx="713232" cy="468539"/>
          </a:xfrm>
          <a:prstGeom prst="roundRect">
            <a:avLst>
              <a:gd name="adj" fmla="val 9758"/>
            </a:avLst>
          </a:prstGeom>
          <a:solidFill>
            <a:srgbClr val="FBEEEE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37760" y="2532339"/>
            <a:ext cx="676656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head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Δτᵣ [96,3]</a:t>
            </a:r>
            <a:endParaRPr lang="en-US" sz="670" dirty="0"/>
          </a:p>
        </p:txBody>
      </p:sp>
      <p:sp>
        <p:nvSpPr>
          <p:cNvPr id="121" name="Shape 119"/>
          <p:cNvSpPr/>
          <p:nvPr/>
        </p:nvSpPr>
        <p:spPr>
          <a:xfrm>
            <a:off x="4919472" y="3145902"/>
            <a:ext cx="713232" cy="468539"/>
          </a:xfrm>
          <a:prstGeom prst="roundRect">
            <a:avLst>
              <a:gd name="adj" fmla="val 9758"/>
            </a:avLst>
          </a:prstGeom>
          <a:solidFill>
            <a:srgbClr val="EEF6EE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937760" y="3223992"/>
            <a:ext cx="676656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head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gᵣ [96,1]</a:t>
            </a:r>
            <a:endParaRPr lang="en-US" sz="670" dirty="0"/>
          </a:p>
        </p:txBody>
      </p:sp>
      <p:sp>
        <p:nvSpPr>
          <p:cNvPr id="123" name="Shape 121"/>
          <p:cNvSpPr/>
          <p:nvPr/>
        </p:nvSpPr>
        <p:spPr>
          <a:xfrm>
            <a:off x="4919472" y="3837554"/>
            <a:ext cx="713232" cy="468539"/>
          </a:xfrm>
          <a:prstGeom prst="roundRect">
            <a:avLst>
              <a:gd name="adj" fmla="val 9758"/>
            </a:avLst>
          </a:prstGeom>
          <a:solidFill>
            <a:srgbClr val="F2EDF7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937760" y="3915644"/>
            <a:ext cx="676656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logvar head</a:t>
            </a:r>
            <a:endParaRPr lang="en-US" sz="670" dirty="0"/>
          </a:p>
          <a:p>
            <a:pPr algn="ctr" indent="0" marL="0">
              <a:buNone/>
            </a:pPr>
            <a:r>
              <a:rPr lang="en-US" sz="67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σᵣ [96,1]</a:t>
            </a:r>
            <a:endParaRPr lang="en-US" sz="670" dirty="0"/>
          </a:p>
        </p:txBody>
      </p:sp>
      <p:sp>
        <p:nvSpPr>
          <p:cNvPr id="125" name="Shape 123"/>
          <p:cNvSpPr/>
          <p:nvPr/>
        </p:nvSpPr>
        <p:spPr>
          <a:xfrm>
            <a:off x="4187952" y="5075834"/>
            <a:ext cx="731520" cy="-1450238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26" name="Text 124"/>
          <p:cNvSpPr/>
          <p:nvPr/>
        </p:nvSpPr>
        <p:spPr>
          <a:xfrm>
            <a:off x="4828032" y="4685386"/>
            <a:ext cx="896112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wᵣ = validᵣ · gᵣ ·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exp(−σᵣ)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5715000" y="4863876"/>
            <a:ext cx="292608" cy="35698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742432" y="4930811"/>
            <a:ext cx="237744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532120" y="3792931"/>
            <a:ext cx="320040" cy="1070945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5715000" y="5377038"/>
            <a:ext cx="310896" cy="223114"/>
          </a:xfrm>
          <a:prstGeom prst="rect">
            <a:avLst/>
          </a:prstGeom>
          <a:solidFill>
            <a:srgbClr val="BDD7E7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522976" y="5622463"/>
            <a:ext cx="685800" cy="1784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Δτ [FQ,3]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6547104" y="2052645"/>
            <a:ext cx="475488" cy="18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1,2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537960" y="2420783"/>
            <a:ext cx="566928" cy="127174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574536" y="2766609"/>
            <a:ext cx="493776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τᵏ⁺¹ = τᵏ +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g_person Δτ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6830568" y="3692530"/>
            <a:ext cx="0" cy="613562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6693408" y="4350715"/>
            <a:ext cx="274320" cy="334670"/>
          </a:xfrm>
          <a:prstGeom prst="rect">
            <a:avLst/>
          </a:prstGeom>
          <a:solidFill>
            <a:srgbClr val="A9D2E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519672" y="4730008"/>
            <a:ext cx="603504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τ*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[B,S,Q,3]</a:t>
            </a:r>
            <a:endParaRPr lang="en-US" sz="660" dirty="0"/>
          </a:p>
        </p:txBody>
      </p:sp>
      <p:sp>
        <p:nvSpPr>
          <p:cNvPr id="138" name="Shape 136"/>
          <p:cNvSpPr/>
          <p:nvPr/>
        </p:nvSpPr>
        <p:spPr>
          <a:xfrm>
            <a:off x="6537960" y="2420783"/>
            <a:ext cx="-457200" cy="0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080760" y="2420783"/>
            <a:ext cx="0" cy="-568940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80760" y="1851843"/>
            <a:ext cx="-4636008" cy="0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444752" y="1851843"/>
            <a:ext cx="0" cy="557784"/>
          </a:xfrm>
          <a:prstGeom prst="line">
            <a:avLst/>
          </a:prstGeom>
          <a:noFill/>
          <a:ln w="8890">
            <a:solidFill>
              <a:srgbClr val="8B9AA5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353312" y="5421660"/>
            <a:ext cx="5120640" cy="301203"/>
          </a:xfrm>
          <a:prstGeom prst="roundRect">
            <a:avLst>
              <a:gd name="adj" fmla="val 12143"/>
            </a:avLst>
          </a:prstGeom>
          <a:solidFill>
            <a:srgbClr val="DCE8F7"/>
          </a:solidFill>
          <a:ln w="6350">
            <a:solidFill>
              <a:srgbClr val="99ADD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353312" y="5488595"/>
            <a:ext cx="512064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θ, β unchanged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7818120" y="2108424"/>
            <a:ext cx="566928" cy="468539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827264" y="2197669"/>
            <a:ext cx="54864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[B,9,3]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7891272" y="2554651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74152" y="2554651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57032" y="2554651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439912" y="2554651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818120" y="3067812"/>
            <a:ext cx="566928" cy="468539"/>
          </a:xfrm>
          <a:prstGeom prst="roundRect">
            <a:avLst>
              <a:gd name="adj" fmla="val 9758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827264" y="3157057"/>
            <a:ext cx="54864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[B,9]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7891272" y="3525195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74152" y="3525195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257032" y="3525195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39912" y="3525195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394192" y="2431938"/>
            <a:ext cx="347472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8769096" y="2309226"/>
            <a:ext cx="1161288" cy="713964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823960" y="2476561"/>
            <a:ext cx="1051560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Mask +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Pack</a:t>
            </a:r>
            <a:endParaRPr lang="en-US" sz="830" dirty="0"/>
          </a:p>
        </p:txBody>
      </p:sp>
      <p:sp>
        <p:nvSpPr>
          <p:cNvPr id="159" name="Shape 157"/>
          <p:cNvSpPr/>
          <p:nvPr/>
        </p:nvSpPr>
        <p:spPr>
          <a:xfrm>
            <a:off x="8887968" y="3123590"/>
            <a:ext cx="118872" cy="145024"/>
          </a:xfrm>
          <a:prstGeom prst="ellipse">
            <a:avLst/>
          </a:prstGeom>
          <a:solidFill>
            <a:srgbClr val="EAF0FA"/>
          </a:solidFill>
          <a:ln w="5715">
            <a:solidFill>
              <a:srgbClr val="8B9AA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855964" y="3302081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t−2</a:t>
            </a:r>
            <a:endParaRPr lang="en-US" sz="540" dirty="0"/>
          </a:p>
        </p:txBody>
      </p:sp>
      <p:sp>
        <p:nvSpPr>
          <p:cNvPr id="161" name="Shape 159"/>
          <p:cNvSpPr/>
          <p:nvPr/>
        </p:nvSpPr>
        <p:spPr>
          <a:xfrm>
            <a:off x="9070848" y="3123590"/>
            <a:ext cx="118872" cy="145024"/>
          </a:xfrm>
          <a:prstGeom prst="ellipse">
            <a:avLst/>
          </a:prstGeom>
          <a:solidFill>
            <a:srgbClr val="EAF0FA"/>
          </a:solidFill>
          <a:ln w="5715">
            <a:solidFill>
              <a:srgbClr val="8B9AA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038844" y="3302081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</a:t>
            </a:r>
            <a:endParaRPr lang="en-US" sz="540" dirty="0"/>
          </a:p>
        </p:txBody>
      </p:sp>
      <p:sp>
        <p:nvSpPr>
          <p:cNvPr id="163" name="Shape 161"/>
          <p:cNvSpPr/>
          <p:nvPr/>
        </p:nvSpPr>
        <p:spPr>
          <a:xfrm>
            <a:off x="9253728" y="3123590"/>
            <a:ext cx="118872" cy="145024"/>
          </a:xfrm>
          <a:prstGeom prst="ellipse">
            <a:avLst/>
          </a:prstGeom>
          <a:solidFill>
            <a:srgbClr val="D9ACA6"/>
          </a:solidFill>
          <a:ln w="5715">
            <a:solidFill>
              <a:srgbClr val="8B9AA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221724" y="3302081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540" dirty="0"/>
          </a:p>
        </p:txBody>
      </p:sp>
      <p:sp>
        <p:nvSpPr>
          <p:cNvPr id="165" name="Shape 163"/>
          <p:cNvSpPr/>
          <p:nvPr/>
        </p:nvSpPr>
        <p:spPr>
          <a:xfrm>
            <a:off x="9436608" y="3123590"/>
            <a:ext cx="118872" cy="145024"/>
          </a:xfrm>
          <a:prstGeom prst="ellipse">
            <a:avLst/>
          </a:prstGeom>
          <a:solidFill>
            <a:srgbClr val="EAF0FA"/>
          </a:solidFill>
          <a:ln w="5715">
            <a:solidFill>
              <a:srgbClr val="8B9AA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404604" y="3302081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540" dirty="0"/>
          </a:p>
        </p:txBody>
      </p:sp>
      <p:sp>
        <p:nvSpPr>
          <p:cNvPr id="167" name="Shape 165"/>
          <p:cNvSpPr/>
          <p:nvPr/>
        </p:nvSpPr>
        <p:spPr>
          <a:xfrm>
            <a:off x="9619488" y="3123590"/>
            <a:ext cx="118872" cy="145024"/>
          </a:xfrm>
          <a:prstGeom prst="ellipse">
            <a:avLst/>
          </a:prstGeom>
          <a:solidFill>
            <a:srgbClr val="EAF0FA"/>
          </a:solidFill>
          <a:ln w="5715">
            <a:solidFill>
              <a:srgbClr val="8B9AA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587484" y="3302081"/>
            <a:ext cx="182880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t+2</a:t>
            </a:r>
            <a:endParaRPr lang="en-US" sz="540" dirty="0"/>
          </a:p>
        </p:txBody>
      </p:sp>
      <p:sp>
        <p:nvSpPr>
          <p:cNvPr id="169" name="Text 167"/>
          <p:cNvSpPr/>
          <p:nvPr/>
        </p:nvSpPr>
        <p:spPr>
          <a:xfrm>
            <a:off x="9235440" y="3101279"/>
            <a:ext cx="137160" cy="18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67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9930384" y="2655052"/>
            <a:ext cx="219456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71" name="Text 169"/>
          <p:cNvSpPr/>
          <p:nvPr/>
        </p:nvSpPr>
        <p:spPr>
          <a:xfrm>
            <a:off x="10003536" y="2811231"/>
            <a:ext cx="685800" cy="24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neighbors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[B,12]</a:t>
            </a:r>
            <a:endParaRPr lang="en-US" sz="660" dirty="0"/>
          </a:p>
        </p:txBody>
      </p:sp>
      <p:sp>
        <p:nvSpPr>
          <p:cNvPr id="172" name="Shape 170"/>
          <p:cNvSpPr/>
          <p:nvPr/>
        </p:nvSpPr>
        <p:spPr>
          <a:xfrm>
            <a:off x="10158984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341864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524744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707624" y="3123590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287000" y="1985711"/>
            <a:ext cx="1078992" cy="713964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351008" y="2119579"/>
            <a:ext cx="96012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MLP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128 → 128 → 3</a:t>
            </a:r>
            <a:endParaRPr lang="en-US" sz="760" dirty="0"/>
          </a:p>
        </p:txBody>
      </p:sp>
      <p:sp>
        <p:nvSpPr>
          <p:cNvPr id="178" name="Text 176"/>
          <p:cNvSpPr/>
          <p:nvPr/>
        </p:nvSpPr>
        <p:spPr>
          <a:xfrm>
            <a:off x="10424160" y="2532339"/>
            <a:ext cx="82296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 × 0.25 m</a:t>
            </a:r>
            <a:endParaRPr lang="en-US" sz="620" dirty="0"/>
          </a:p>
        </p:txBody>
      </p:sp>
      <p:sp>
        <p:nvSpPr>
          <p:cNvPr id="179" name="Shape 177"/>
          <p:cNvSpPr/>
          <p:nvPr/>
        </p:nvSpPr>
        <p:spPr>
          <a:xfrm>
            <a:off x="10680192" y="3056656"/>
            <a:ext cx="128016" cy="-356982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80" name="Text 178"/>
          <p:cNvSpPr/>
          <p:nvPr/>
        </p:nvSpPr>
        <p:spPr>
          <a:xfrm>
            <a:off x="11448288" y="2130735"/>
            <a:ext cx="329184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Mₜ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[B,3]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11466576" y="248771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649456" y="248771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32336" y="248771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827264" y="4283781"/>
            <a:ext cx="1618488" cy="780898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8890">
            <a:solidFill>
              <a:srgbClr val="8B9AA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973568" y="4417649"/>
            <a:ext cx="804672" cy="156180"/>
          </a:xfrm>
          <a:prstGeom prst="roundRect">
            <a:avLst>
              <a:gd name="adj" fmla="val 17564"/>
            </a:avLst>
          </a:prstGeom>
          <a:solidFill>
            <a:srgbClr val="ECFAFC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991856" y="4439961"/>
            <a:ext cx="768096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Oₜ − Mₜ</a:t>
            </a:r>
            <a:endParaRPr lang="en-US" sz="590" dirty="0"/>
          </a:p>
        </p:txBody>
      </p:sp>
      <p:sp>
        <p:nvSpPr>
          <p:cNvPr id="187" name="Shape 185"/>
          <p:cNvSpPr/>
          <p:nvPr/>
        </p:nvSpPr>
        <p:spPr>
          <a:xfrm>
            <a:off x="7973568" y="4618452"/>
            <a:ext cx="804672" cy="156180"/>
          </a:xfrm>
          <a:prstGeom prst="roundRect">
            <a:avLst>
              <a:gd name="adj" fmla="val 17564"/>
            </a:avLst>
          </a:prstGeom>
          <a:solidFill>
            <a:srgbClr val="EEF6EE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991856" y="4640763"/>
            <a:ext cx="768096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|Oₜ − Mₜ|</a:t>
            </a:r>
            <a:endParaRPr lang="en-US" sz="590" dirty="0"/>
          </a:p>
        </p:txBody>
      </p:sp>
      <p:sp>
        <p:nvSpPr>
          <p:cNvPr id="189" name="Shape 187"/>
          <p:cNvSpPr/>
          <p:nvPr/>
        </p:nvSpPr>
        <p:spPr>
          <a:xfrm>
            <a:off x="7973568" y="4819254"/>
            <a:ext cx="804672" cy="156180"/>
          </a:xfrm>
          <a:prstGeom prst="roundRect">
            <a:avLst>
              <a:gd name="adj" fmla="val 17564"/>
            </a:avLst>
          </a:prstGeom>
          <a:solidFill>
            <a:srgbClr val="FCF8E7"/>
          </a:solidFill>
          <a:ln w="5080">
            <a:solidFill>
              <a:srgbClr val="8B9AA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991856" y="4841565"/>
            <a:ext cx="768096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velocity</a:t>
            </a:r>
            <a:endParaRPr lang="en-US" sz="590" dirty="0"/>
          </a:p>
        </p:txBody>
      </p:sp>
      <p:sp>
        <p:nvSpPr>
          <p:cNvPr id="191" name="Shape 189"/>
          <p:cNvSpPr/>
          <p:nvPr/>
        </p:nvSpPr>
        <p:spPr>
          <a:xfrm>
            <a:off x="9189720" y="4551517"/>
            <a:ext cx="192024" cy="234269"/>
          </a:xfrm>
          <a:prstGeom prst="ellipse">
            <a:avLst/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208008" y="4596140"/>
            <a:ext cx="155448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50" dirty="0"/>
          </a:p>
        </p:txBody>
      </p:sp>
      <p:sp>
        <p:nvSpPr>
          <p:cNvPr id="193" name="Text 191"/>
          <p:cNvSpPr/>
          <p:nvPr/>
        </p:nvSpPr>
        <p:spPr>
          <a:xfrm>
            <a:off x="9390888" y="4406494"/>
            <a:ext cx="50292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feature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[B,9]</a:t>
            </a:r>
            <a:endParaRPr lang="en-US" sz="640" dirty="0"/>
          </a:p>
        </p:txBody>
      </p:sp>
      <p:sp>
        <p:nvSpPr>
          <p:cNvPr id="194" name="Shape 192"/>
          <p:cNvSpPr/>
          <p:nvPr/>
        </p:nvSpPr>
        <p:spPr>
          <a:xfrm>
            <a:off x="9464040" y="478578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646920" y="478578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829800" y="478578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012680" y="4785787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436608" y="4663074"/>
            <a:ext cx="557784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>
            <a:off x="10021824" y="4194536"/>
            <a:ext cx="960120" cy="680496"/>
          </a:xfrm>
          <a:prstGeom prst="roundRect">
            <a:avLst>
              <a:gd name="adj" fmla="val 8062"/>
            </a:avLst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10085832" y="4339560"/>
            <a:ext cx="832104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MLP</a:t>
            </a:r>
            <a:endParaRPr lang="en-US" sz="710" dirty="0"/>
          </a:p>
          <a:p>
            <a:pPr algn="ctr" indent="0" marL="0">
              <a:buNone/>
            </a:pPr>
            <a:r>
              <a:rPr lang="en-US" sz="71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→ 64 → 64 → 1</a:t>
            </a:r>
            <a:endParaRPr lang="en-US" sz="710" dirty="0"/>
          </a:p>
        </p:txBody>
      </p:sp>
      <p:sp>
        <p:nvSpPr>
          <p:cNvPr id="201" name="Text 199"/>
          <p:cNvSpPr/>
          <p:nvPr/>
        </p:nvSpPr>
        <p:spPr>
          <a:xfrm>
            <a:off x="10149840" y="4707697"/>
            <a:ext cx="704088" cy="133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× 0.5</a:t>
            </a:r>
            <a:endParaRPr lang="en-US" sz="620" dirty="0"/>
          </a:p>
        </p:txBody>
      </p:sp>
      <p:sp>
        <p:nvSpPr>
          <p:cNvPr id="202" name="Shape 200"/>
          <p:cNvSpPr/>
          <p:nvPr/>
        </p:nvSpPr>
        <p:spPr>
          <a:xfrm>
            <a:off x="10981944" y="4551517"/>
            <a:ext cx="283464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203" name="Text 201"/>
          <p:cNvSpPr/>
          <p:nvPr/>
        </p:nvSpPr>
        <p:spPr>
          <a:xfrm>
            <a:off x="11311128" y="4283781"/>
            <a:ext cx="320040" cy="30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αₜ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[B,1]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11393424" y="4640763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789920" y="3235147"/>
            <a:ext cx="274320" cy="33467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6313A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0817352" y="3279770"/>
            <a:ext cx="219456" cy="15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</a:t>
            </a:r>
            <a:endParaRPr lang="en-US" sz="1000" dirty="0"/>
          </a:p>
        </p:txBody>
      </p:sp>
      <p:sp>
        <p:nvSpPr>
          <p:cNvPr id="207" name="Shape 205"/>
          <p:cNvSpPr/>
          <p:nvPr/>
        </p:nvSpPr>
        <p:spPr>
          <a:xfrm>
            <a:off x="10954512" y="2788920"/>
            <a:ext cx="0" cy="446227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1484864" y="4685386"/>
            <a:ext cx="0" cy="-1282903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484864" y="3402482"/>
            <a:ext cx="-420624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1064240" y="3402482"/>
            <a:ext cx="146304" cy="0"/>
          </a:xfrm>
          <a:prstGeom prst="line">
            <a:avLst/>
          </a:prstGeom>
          <a:noFill/>
          <a:ln w="1016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11109960" y="3424794"/>
            <a:ext cx="804672" cy="446227"/>
          </a:xfrm>
          <a:prstGeom prst="roundRect">
            <a:avLst>
              <a:gd name="adj" fmla="val 10246"/>
            </a:avLst>
          </a:prstGeom>
          <a:solidFill>
            <a:srgbClr val="FFFFFF"/>
          </a:solidFill>
          <a:ln w="8890">
            <a:solidFill>
              <a:srgbClr val="26313A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1146536" y="3558662"/>
            <a:ext cx="731520" cy="15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 = Oₜ + αₜ(Mₜ − Oₜ)</a:t>
            </a:r>
            <a:endParaRPr lang="en-US" sz="650" dirty="0"/>
          </a:p>
        </p:txBody>
      </p:sp>
      <p:sp>
        <p:nvSpPr>
          <p:cNvPr id="213" name="Shape 211"/>
          <p:cNvSpPr/>
          <p:nvPr/>
        </p:nvSpPr>
        <p:spPr>
          <a:xfrm>
            <a:off x="11521440" y="3882177"/>
            <a:ext cx="0" cy="301203"/>
          </a:xfrm>
          <a:prstGeom prst="line">
            <a:avLst/>
          </a:prstGeom>
          <a:noFill/>
          <a:ln w="8890">
            <a:solidFill>
              <a:srgbClr val="26313A"/>
            </a:solidFill>
            <a:prstDash val="solid"/>
            <a:tailEnd type="triangle"/>
          </a:ln>
        </p:spPr>
      </p:sp>
      <p:sp>
        <p:nvSpPr>
          <p:cNvPr id="214" name="Text 212"/>
          <p:cNvSpPr/>
          <p:nvPr/>
        </p:nvSpPr>
        <p:spPr>
          <a:xfrm>
            <a:off x="11512296" y="4216847"/>
            <a:ext cx="365760" cy="29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X*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[B,9,3]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11466576" y="457382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649456" y="457382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1832336" y="457382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2015216" y="4573829"/>
            <a:ext cx="146304" cy="178491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6350">
            <a:solidFill>
              <a:srgbClr val="8B9AA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827264" y="5265481"/>
            <a:ext cx="1664208" cy="312359"/>
          </a:xfrm>
          <a:prstGeom prst="roundRect">
            <a:avLst>
              <a:gd name="adj" fmla="val 14637"/>
            </a:avLst>
          </a:prstGeom>
          <a:solidFill>
            <a:srgbClr val="FFFFFF"/>
          </a:solidFill>
          <a:ln w="7620">
            <a:solidFill>
              <a:srgbClr val="4EA6B3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7900416" y="5354726"/>
            <a:ext cx="1517904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invalid context → no-op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9720072" y="5265481"/>
            <a:ext cx="2057400" cy="312359"/>
          </a:xfrm>
          <a:prstGeom prst="roundRect">
            <a:avLst>
              <a:gd name="adj" fmla="val 14637"/>
            </a:avLst>
          </a:prstGeom>
          <a:solidFill>
            <a:srgbClr val="FFFFFF"/>
          </a:solidFill>
          <a:ln w="7620">
            <a:solidFill>
              <a:srgbClr val="4EA6B3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784080" y="5354726"/>
            <a:ext cx="1920240" cy="14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tracks processed independently</a:t>
            </a:r>
            <a:endParaRPr lang="en-US" sz="720" dirty="0"/>
          </a:p>
        </p:txBody>
      </p:sp>
      <p:sp>
        <p:nvSpPr>
          <p:cNvPr id="223" name="Text 221"/>
          <p:cNvSpPr/>
          <p:nvPr/>
        </p:nvSpPr>
        <p:spPr>
          <a:xfrm>
            <a:off x="146304" y="6024067"/>
            <a:ext cx="3383280" cy="312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Spatial–Temporal Refinement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Spatial–Temporal Refinement</dc:title>
  <dc:subject>Editable ICLR Spatial-Temporal Refinement inset</dc:subject>
  <dc:creator>Codex</dc:creator>
  <cp:lastModifiedBy>Codex</cp:lastModifiedBy>
  <cp:revision>1</cp:revision>
  <dcterms:created xsi:type="dcterms:W3CDTF">2026-09-11T11:09:18Z</dcterms:created>
  <dcterms:modified xsi:type="dcterms:W3CDTF">2026-09-11T11:09:18Z</dcterms:modified>
</cp:coreProperties>
</file>